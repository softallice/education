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13716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310896" cy="13716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43200"/>
            <a:ext cx="310896" cy="13716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114800"/>
            <a:ext cx="310896" cy="13716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486400"/>
            <a:ext cx="310896" cy="13716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149840" y="640080"/>
            <a:ext cx="1554480" cy="155448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1554480"/>
            <a:ext cx="914400" cy="91440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ardrop 9"/>
          <p:cNvSpPr/>
          <p:nvPr/>
        </p:nvSpPr>
        <p:spPr>
          <a:xfrm>
            <a:off x="9784080" y="1828800"/>
            <a:ext cx="822960" cy="822960"/>
          </a:xfrm>
          <a:prstGeom prst="teardrop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298448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1344168"/>
            <a:ext cx="2743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CLOUD PROGRAMMING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1975104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D98E6A"/>
                </a:solidFill>
                <a:latin typeface="Malgun Gothic"/>
              </a:rPr>
              <a:t>Week 10  ·  블록 3 AI Agent 둘째 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87168"/>
            <a:ext cx="10241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000" b="1">
                <a:solidFill>
                  <a:srgbClr val="3A302A"/>
                </a:solidFill>
                <a:latin typeface="Malgun Gothic"/>
              </a:rPr>
              <a:t>도구를 쥐여주다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218688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D98E6A"/>
                </a:solidFill>
                <a:latin typeface="Malgun Gothic"/>
              </a:rPr>
              <a:t>— 실전 도구·데이터 연동과 MCP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13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B5D52"/>
                </a:solidFill>
                <a:latin typeface="Malgun Gothic"/>
              </a:rPr>
              <a:t>실전 도구(REST·DB·파일) → 가드레일 → MCP 서버 → MCP 클라이언트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" y="4407408"/>
            <a:ext cx="9692640" cy="1051560"/>
          </a:xfrm>
          <a:prstGeom prst="roundRect">
            <a:avLst>
              <a:gd name="adj" fmla="val 782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0120" y="4407408"/>
            <a:ext cx="128016" cy="105156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35424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오늘의 한 줄  </a:t>
            </a:r>
            <a:r>
              <a:rPr sz="1300" b="0">
                <a:solidFill>
                  <a:srgbClr val="3A302A"/>
                </a:solidFill>
                <a:latin typeface="Malgun Gothic"/>
              </a:rPr>
              <a:t>docpilot의 도구가 실제 세계(외부 API·DB·파일)에 연결되고, MCP 서버로 표준화된다.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6B5D52"/>
                </a:solidFill>
                <a:latin typeface="Malgun Gothic"/>
              </a:rPr>
              <a:t>week09의 장난감 도구를 실전 연동으로 확장 + 신뢰성 가드레일 + MCP로 도구를 노출한다.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614416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5D52"/>
                </a:solidFill>
                <a:latin typeface="Malgun Gothic"/>
              </a:rPr>
              <a:t>docpilot 진화:  </a:t>
            </a:r>
            <a:r>
              <a:rPr sz="1200" b="0">
                <a:solidFill>
                  <a:srgbClr val="3A302A"/>
                </a:solidFill>
                <a:latin typeface="Malgun Gothic"/>
              </a:rPr>
              <a:t>응답 서비스 → 스스로 외부 작업을 수행하는 Agentic 서비스 (도구를 표준으로 노출)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6053328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★ 필수 경로: </a:t>
            </a:r>
            <a:r>
              <a:rPr sz="1150" b="0">
                <a:solidFill>
                  <a:srgbClr val="6B5D52"/>
                </a:solidFill>
                <a:latin typeface="Malgun Gothic"/>
              </a:rPr>
              <a:t>1~5부(실전 도구·MCP 서버·Python 클라이언트).  Claude Desktop 연동(8단계)은 선택/도전.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LEARNING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학습 목표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02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78408" y="2194560"/>
            <a:ext cx="530352" cy="53035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335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실제 리소스에 연결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도구를 REST API·DB·파일 등 실제 외부 리소스에 연결한다.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810512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1810512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56248" y="2194560"/>
            <a:ext cx="530352" cy="530352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94560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1192" y="1901952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신뢰성 가드레일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타임아웃·재시도·입력검증·에러 처리를 도구에 두른다.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580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8408" y="3630168"/>
            <a:ext cx="530352" cy="53035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보안 위험 방어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path traversal·SQL 인젝션 등 도구의 보안 위험을 막는다.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3246120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63640" y="3246120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56248" y="3630168"/>
            <a:ext cx="530352" cy="530352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630168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337560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MCP가 왜 표준인가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Model Context Protocol의 개념과 필요성을 설명한다.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8580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78408" y="5065776"/>
            <a:ext cx="530352" cy="530352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7335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MCP 서버 만들기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Python으로 MCP 서버를 만들어 docpilot 도구를 노출한다.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63640" y="4681728"/>
            <a:ext cx="5212080" cy="1298448"/>
          </a:xfrm>
          <a:prstGeom prst="roundRect">
            <a:avLst>
              <a:gd name="adj" fmla="val 6338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263640" y="4681728"/>
            <a:ext cx="128016" cy="1298448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556248" y="5065776"/>
            <a:ext cx="530352" cy="530352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8" y="5065776"/>
            <a:ext cx="530352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algun Gothic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51192" y="4773168"/>
            <a:ext cx="4059936" cy="11155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3A302A"/>
                </a:solidFill>
                <a:latin typeface="Malgun Gothic"/>
              </a:rPr>
              <a:t>MCP 클라이언트 + Agentic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6B5D52"/>
                </a:solidFill>
                <a:latin typeface="Malgun Gothic"/>
              </a:rPr>
              <a:t>클라이언트로 도구를 나열·호출한다. Agentic 서비스를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CONCEPTS ·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개념 (요약)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03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7276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① 실전 연동은 "실패한다"는 전제에서 시작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83664"/>
            <a:ext cx="5532120" cy="1481328"/>
          </a:xfrm>
          <a:prstGeom prst="roundRect">
            <a:avLst>
              <a:gd name="adj" fmla="val 555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1883664"/>
            <a:ext cx="128016" cy="1481328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1993392"/>
            <a:ext cx="512064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week09 도구는 순수 함수라 항상 성공. 실제 연동은 다르다: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REST API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타임아웃·5xx·rate limit(429).  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DB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커넥션 끊김·인젝션.</a:t>
            </a:r>
          </a:p>
          <a:p>
            <a:pPr algn="l">
              <a:lnSpc>
                <a:spcPct val="102000"/>
              </a:lnSpc>
              <a:spcBef>
                <a:spcPts val="2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파일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경로 조작(../etc/passwd, path traversal).</a:t>
            </a:r>
          </a:p>
          <a:p>
            <a:pPr algn="l">
              <a:lnSpc>
                <a:spcPct val="102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D98E6A"/>
                </a:solidFill>
                <a:latin typeface="Malgun Gothic"/>
              </a:rPr>
              <a:t>Agent에선 인자를 LLM이 생성 → 절대 신뢰 말고 시스템 경계에서 검증.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② 가드레일 4종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840480"/>
            <a:ext cx="5532120" cy="2395728"/>
          </a:xfrm>
          <a:prstGeom prst="roundRect">
            <a:avLst>
              <a:gd name="adj" fmla="val 3435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" y="3840480"/>
            <a:ext cx="128016" cy="239572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950208"/>
            <a:ext cx="512064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타임아웃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느린 외부 호출이 전체를 멈추지 않게 (httpx timeout, statement_timeout).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재시도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일시적 오류(네트워크·429·5xx) 회복 — tenacity 지수 백오프.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입력검증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LLM이 만든 인자 방어 — allowlist·파라미터 바인딩·경로 정규화.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에러 처리  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실패를 예외로 죽이지 않고 {"error": ...}로 모델에 구조화해 전달.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핵심: 도구는 프로세스를 죽이지 않고 실패를 "관찰 가능한 결과"로 돌려준다.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572768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③ MCP — 왜 표준이 필요한가 (USB-C)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883664"/>
            <a:ext cx="5120640" cy="2194560"/>
          </a:xfrm>
          <a:prstGeom prst="roundRect">
            <a:avLst>
              <a:gd name="adj" fmla="val 3333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011680"/>
            <a:ext cx="4663440" cy="19568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week09처럼 도구를 모델별 포맷으로 하드코딩하면: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6B5D52"/>
                </a:solidFill>
                <a:latin typeface="Malgun Gothic"/>
              </a:rPr>
              <a:t>N개 모델 × M개 도구 = N×M 통합 지옥. 다른 팀·서비스 공유도 어렵다.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D98E6A"/>
                </a:solidFill>
                <a:latin typeface="Malgun Gothic"/>
              </a:rPr>
              <a:t>MCP(Model Context Protocol)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= AI 앱과 도구/데이터를 잇는 표준. 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USB-C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에 비유.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1">
                <a:solidFill>
                  <a:srgbClr val="3A302A"/>
                </a:solidFill>
                <a:latin typeface="Malgun Gothic"/>
              </a:rPr>
              <a:t>한 번 MCP 서버로 만들면 지원하는 모든 클라이언트(Claude Desktop·IDE·커스텀 agent)가 같은 방식으로 도구를 발견·호출.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42816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D98E6A"/>
                </a:solidFill>
                <a:latin typeface="Malgun Gothic"/>
              </a:rPr>
              <a:t>MCP 서버가 노출하는 3요소 + 전송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553712"/>
            <a:ext cx="1627632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355080" y="4553712"/>
            <a:ext cx="1627632" cy="91440"/>
          </a:xfrm>
          <a:prstGeom prst="roundRect">
            <a:avLst>
              <a:gd name="adj" fmla="val 30000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681728"/>
            <a:ext cx="14447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Tools</a:t>
            </a:r>
          </a:p>
          <a:p>
            <a:pPr algn="ctr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6B5D52"/>
                </a:solidFill>
                <a:latin typeface="Malgun Gothic"/>
              </a:rPr>
              <a:t>실행 가능한 함수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7576" y="4553712"/>
            <a:ext cx="1627632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37576" y="4553712"/>
            <a:ext cx="1627632" cy="91440"/>
          </a:xfrm>
          <a:prstGeom prst="roundRect">
            <a:avLst>
              <a:gd name="adj" fmla="val 30000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29016" y="4681728"/>
            <a:ext cx="14447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Resources</a:t>
            </a:r>
          </a:p>
          <a:p>
            <a:pPr algn="ctr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6B5D52"/>
                </a:solidFill>
                <a:latin typeface="Malgun Gothic"/>
              </a:rPr>
              <a:t>읽을 수 있는 데이터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20072" y="4553712"/>
            <a:ext cx="1627632" cy="786384"/>
          </a:xfrm>
          <a:prstGeom prst="roundRect">
            <a:avLst>
              <a:gd name="adj" fmla="val 930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20072" y="4553712"/>
            <a:ext cx="1627632" cy="91440"/>
          </a:xfrm>
          <a:prstGeom prst="roundRect">
            <a:avLst>
              <a:gd name="adj" fmla="val 30000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2" y="4681728"/>
            <a:ext cx="1444752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Prompts</a:t>
            </a:r>
          </a:p>
          <a:p>
            <a:pPr algn="ctr">
              <a:lnSpc>
                <a:spcPct val="98000"/>
              </a:lnSpc>
              <a:spcBef>
                <a:spcPts val="200"/>
              </a:spcBef>
              <a:spcAft>
                <a:spcPts val="0"/>
              </a:spcAft>
            </a:pPr>
            <a:r>
              <a:rPr sz="840" b="0">
                <a:solidFill>
                  <a:srgbClr val="6B5D52"/>
                </a:solidFill>
                <a:latin typeface="Malgun Gothic"/>
              </a:rPr>
              <a:t>재사용 템플릿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5468112"/>
            <a:ext cx="5120640" cy="768096"/>
          </a:xfrm>
          <a:prstGeom prst="roundRect">
            <a:avLst>
              <a:gd name="adj" fmla="val 9523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83680" y="5559552"/>
            <a:ext cx="47091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980" b="1">
                <a:solidFill>
                  <a:srgbClr val="3A302A"/>
                </a:solidFill>
                <a:latin typeface="Malgun Gothic"/>
              </a:rPr>
              <a:t>이번 주 초점 = Tools. 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전송(transport)은 로컬 </a:t>
            </a:r>
            <a:r>
              <a:rPr sz="940" b="1">
                <a:solidFill>
                  <a:srgbClr val="3A302A"/>
                </a:solidFill>
                <a:latin typeface="Consolas"/>
              </a:rPr>
              <a:t>stdio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, 원격은 HTTP를 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사전 준비 — 부품과 실습 흐름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04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45920"/>
            <a:ext cx="5669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준비물 체크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57400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680" y="2295144"/>
            <a:ext cx="365760" cy="365760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2951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9032" y="2148840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week09 산출물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agent/tools.py · raw_agent.py · /agent 엔드포인트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990088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3227832"/>
            <a:ext cx="365760" cy="365760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227832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99032" y="3081528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PostgreSQL (week03 docker-compose)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이번 주는 별도 kb_documents 테이블을 쓴다 (2단계 시드)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922776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68680" y="4160520"/>
            <a:ext cx="365760" cy="365760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6052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99032" y="4014215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패키지 설치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Consolas"/>
              </a:rPr>
              <a:t>httpx&gt;=0.27 · tenacity&gt;=8.3 · psycopg[binary]&gt;=3.2 · mcp&gt;=1.2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855464"/>
            <a:ext cx="5669280" cy="841248"/>
          </a:xfrm>
          <a:prstGeom prst="roundRect">
            <a:avLst>
              <a:gd name="adj" fmla="val 9782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8680" y="5093207"/>
            <a:ext cx="365760" cy="365760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093207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algun Gothic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99032" y="4946903"/>
            <a:ext cx="48006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환경변수로만 주입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Consolas"/>
              </a:rPr>
              <a:t>DOCPILOT_DB_DSN · DOCPILOT_DATA_DIR — 코드 하드코딩 금지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645920"/>
            <a:ext cx="47548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D98E6A"/>
                </a:solidFill>
                <a:latin typeface="Malgun Gothic"/>
              </a:rPr>
              <a:t>이번 주 흐름 (5부)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011680"/>
            <a:ext cx="4754880" cy="731520"/>
          </a:xfrm>
          <a:prstGeom prst="roundRect">
            <a:avLst>
              <a:gd name="adj" fmla="val 1124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2011680"/>
            <a:ext cx="128016" cy="731520"/>
          </a:xfrm>
          <a:prstGeom prst="roundRect">
            <a:avLst>
              <a:gd name="adj" fmla="val 35714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95160" y="2084832"/>
            <a:ext cx="4343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1부. REST API 도구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agent/real_tools.py — 환율(타임아웃+재시도)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2816352"/>
            <a:ext cx="4754880" cy="731520"/>
          </a:xfrm>
          <a:prstGeom prst="roundRect">
            <a:avLst>
              <a:gd name="adj" fmla="val 1124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720840" y="2816352"/>
            <a:ext cx="128016" cy="731520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2889504"/>
            <a:ext cx="4343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2부. DB 조회 도구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kb_documents — 파라미터 바인딩(인젝션 방어)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3621024"/>
            <a:ext cx="4754880" cy="731520"/>
          </a:xfrm>
          <a:prstGeom prst="roundRect">
            <a:avLst>
              <a:gd name="adj" fmla="val 1124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720840" y="3621024"/>
            <a:ext cx="128016" cy="731520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95160" y="3694176"/>
            <a:ext cx="4343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3부. 파일 읽기 도구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sandbox — path traversal 방어 + 레지스트리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4425696"/>
            <a:ext cx="4754880" cy="731520"/>
          </a:xfrm>
          <a:prstGeom prst="roundRect">
            <a:avLst>
              <a:gd name="adj" fmla="val 1124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20840" y="4425696"/>
            <a:ext cx="128016" cy="731520"/>
          </a:xfrm>
          <a:prstGeom prst="roundRect">
            <a:avLst>
              <a:gd name="adj" fmla="val 35714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95160" y="4498848"/>
            <a:ext cx="4343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4부. MCP 서버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mcp_server/server.py — FastMCP @mcp.tool() (stdio)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20840" y="5230368"/>
            <a:ext cx="4754880" cy="731520"/>
          </a:xfrm>
          <a:prstGeom prst="roundRect">
            <a:avLst>
              <a:gd name="adj" fmla="val 1124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6720840" y="5230368"/>
            <a:ext cx="128016" cy="73152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5303520"/>
            <a:ext cx="434340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3A302A"/>
                </a:solidFill>
                <a:latin typeface="Malgun Gothic"/>
              </a:rPr>
              <a:t>5부. MCP 클라이언트</a:t>
            </a:r>
          </a:p>
          <a:p>
            <a:pPr algn="l">
              <a:lnSpc>
                <a:spcPct val="102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0">
                <a:solidFill>
                  <a:srgbClr val="6B5D52"/>
                </a:solidFill>
                <a:latin typeface="Malgun Gothic"/>
              </a:rPr>
              <a:t>mcp_client_demo.py — list_tools / call_tool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6053328"/>
            <a:ext cx="4754880" cy="512064"/>
          </a:xfrm>
          <a:prstGeom prst="roundRect">
            <a:avLst>
              <a:gd name="adj" fmla="val 16071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6089904"/>
            <a:ext cx="43434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연결 고리 =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같은 실전 도구를 agent에도 MCP로도 노출하는 것이 핵심.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1 · REST API TOOL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1부 · 외부 REST API 도구 (타임아웃 + 재시도)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05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agent/real_tools.py — 환율 조회 (frankfurter.app, 키 불필요)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# agent/real_tools.py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import httpx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from tenacity import (retry,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    retry_if_exception_type,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    stop_after_attempt, wait_exponential)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HTTP_TIMEOUT_SECONDS = 5.0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MAX_RETRIES = 3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4A78C"/>
                </a:solidFill>
                <a:latin typeface="Consolas"/>
              </a:rPr>
              <a:t>ALLOWED_CURRENCIES = {"USD","EUR","KRW","JPY",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4A78C"/>
                </a:solidFill>
                <a:latin typeface="Consolas"/>
              </a:rPr>
              <a:t>    "GBP","CNY"}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@retry(retry=retry_if_exception_type(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    httpx.HTTPError),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  stop=stop_after_attempt(MAX_RETRIES),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  wait=wait_exponential(multiplier=0.5,max=4),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  reraise=True)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def _fetch_rate(base, target) -&gt; float: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4A78C"/>
                </a:solidFill>
                <a:latin typeface="Consolas"/>
              </a:rPr>
              <a:t>  url = "https://api.frankfurter.app/latest"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  with httpx.Client(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      timeout=HTTP_TIMEOUT_SECONDS) as client: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    resp = client.get(url, params={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        "from": base, "to": target})</a:t>
            </a:r>
          </a:p>
          <a:p>
            <a:pPr algn="l">
              <a:lnSpc>
                <a:spcPct val="88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    resp.raise_for_status()  # 4xx/5xx→재시도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입력검증(allowlist) + 구조화된 에러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651760"/>
          </a:xfrm>
          <a:prstGeom prst="roundRect">
            <a:avLst>
              <a:gd name="adj" fmla="val 344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def get_exchange_rate(base, target) -&gt; dict: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base, target = base.upper(), target.upper()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  # 허용된 통화만 (LLM 인자 방어)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if base not in ALLOWED_CURRENCIES or \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 target not in ALLOWED_CURRENCIES: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4A78C"/>
                </a:solidFill>
                <a:latin typeface="Consolas"/>
              </a:rPr>
              <a:t>    return {"error": "지원하지 않는 통화"}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try: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rate = _fetch_rate(base, target)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return {"base": base, "target": target,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        "rate": rate}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except Exception as exc: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60">
                <a:solidFill>
                  <a:srgbClr val="F4A78C"/>
                </a:solidFill>
                <a:latin typeface="Consolas"/>
              </a:rPr>
              <a:t>    return {"error": f"환율 조회 실패: {exc}"}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553712"/>
            <a:ext cx="4617720" cy="1426464"/>
          </a:xfrm>
          <a:prstGeom prst="roundRect">
            <a:avLst>
              <a:gd name="adj" fmla="val 576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553712"/>
            <a:ext cx="128016" cy="1426464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672584"/>
            <a:ext cx="41605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왜 에러를 dict로?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0">
                <a:solidFill>
                  <a:srgbClr val="3A302A"/>
                </a:solidFill>
                <a:latin typeface="Malgun Gothic"/>
              </a:rPr>
              <a:t>예외를 그대로 던지면 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agent 루프가 죽는다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1">
                <a:solidFill>
                  <a:srgbClr val="3A302A"/>
                </a:solidFill>
                <a:latin typeface="Consolas"/>
              </a:rPr>
              <a:t>{"error": ...}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로 돌려주면 모델이 상황을 설명하거나 다른 방법을 시도할 수 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2 · DB TOOL · kb_documents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2부 · DB 조회 도구 (파라미터 바인딩)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06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search_documents_db — 문자열 이어붙이기 금지, %s 바인딩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agent/real_tools.py (이어서)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import psycopg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DB_DSN = os.getenv("DOCPILOT_DB_DSN", ...)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DB_TIMEOUT_MS = 3000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MAX_DB_ROWS = 20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def search_documents_db(keyword, limit=5)-&gt;dict: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keyword = (keyword or "").strip()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if not keyword: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return {"error": "keyword가 비어 있습니다."}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limit = max(1, min(int(limit), MAX_DB_ROWS))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try:  # statement_timeout: 느린 쿼리 차단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with psycopg.connect(DB_DSN, connect_timeout=3,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options=f"-c statement_timeout=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      {DB_TIMEOUT_MS}") as conn: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with conn.cursor() as cur: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  cur.execute("""SELECT id,title,content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    FROM kb_documents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    WHERE title ILIKE %(kw)s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       OR content ILIKE %(kw)s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    ORDER BY id LIMIT %(lim)s""",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{"kw": f"%{keyword}%", "lim": limit})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2단계 · DB 시드 (별도 테이블 kb_documents)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2487168"/>
          </a:xfrm>
          <a:prstGeom prst="roundRect">
            <a:avLst>
              <a:gd name="adj" fmla="val 367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19385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-- seed.sql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CREATE TABLE IF NOT EXISTS kb_documents (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id SERIAL PRIMARY KEY,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title TEXT NOT NULL,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content TEXT NOT NULL,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created_at TIMESTAMPTZ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  NOT NULL DEFAULT now());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INSERT INTO kb_documents (title,content)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4A78C"/>
                </a:solidFill>
                <a:latin typeface="Consolas"/>
              </a:rPr>
              <a:t> VALUES ('환불 정책','7일 이내 전액 환불'),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4A78C"/>
                </a:solidFill>
                <a:latin typeface="Consolas"/>
              </a:rPr>
              <a:t>        ('요금제 안내','월 29,000원'), ...;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370832"/>
            <a:ext cx="4617720" cy="1609344"/>
          </a:xfrm>
          <a:prstGeom prst="roundRect">
            <a:avLst>
              <a:gd name="adj" fmla="val 511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370832"/>
            <a:ext cx="128016" cy="1609344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480560"/>
            <a:ext cx="42062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인젝션 방어의 핵심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19" b="0">
                <a:solidFill>
                  <a:srgbClr val="3A302A"/>
                </a:solidFill>
                <a:latin typeface="Malgun Gothic"/>
              </a:rPr>
              <a:t>keyword가 </a:t>
            </a:r>
            <a:r>
              <a:rPr sz="900" b="1">
                <a:solidFill>
                  <a:srgbClr val="3A302A"/>
                </a:solidFill>
                <a:latin typeface="Consolas"/>
              </a:rPr>
              <a:t>'; DROP TABLE ...; --</a:t>
            </a:r>
            <a:r>
              <a:rPr sz="919" b="0">
                <a:solidFill>
                  <a:srgbClr val="6B5D52"/>
                </a:solidFill>
                <a:latin typeface="Malgun Gothic"/>
              </a:rPr>
              <a:t> 여도 파라미터 바인딩이면 값으로만 취급 → 안전.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LLM이 만든 문자열을 SQL에 직접 넣지 않는다. f-string 금지!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FILE TOOL · 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3부 · 파일 읽기 도구 (path traversal 방어)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07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481328"/>
            <a:ext cx="58521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read_file — DOCPILOT_DATA_DIR 밖은 절대 못 읽게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737360"/>
            <a:ext cx="5989320" cy="4315968"/>
          </a:xfrm>
          <a:prstGeom prst="roundRect">
            <a:avLst>
              <a:gd name="adj" fmla="val 2118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194560"/>
            <a:ext cx="5532120" cy="3767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agent/real_tools.py (이어서)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from pathlib import Path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DATA_DIR = Path(os.getenv(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"DOCPILOT_DATA_DIR", "./data")).resolve()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MAX_FILE_BYTES = 100_000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def read_file(relative_path: str) -&gt; dict: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try: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  # 정규화 후 sandbox 루트 안인지 검증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target = (DATA_DIR / relative_path).resolve()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if not target.is_relative_to(DATA_DIR):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return {"error":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  "허용된 데이터 디렉터리 밖의 경로입니다."}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if not target.is_file():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return {"error": "파일이 없습니다"}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if target.stat().st_size &gt; MAX_FILE_BYTES: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  return {"error": "파일이 너무 큽니다"}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return {"path": relative_path,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"content": target.read_text("utf-8")}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except Exception as exc: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4A78C"/>
                </a:solidFill>
                <a:latin typeface="Consolas"/>
              </a:rPr>
              <a:t>    return {"error": f"파일 읽기 실패: {exc}"}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481328"/>
            <a:ext cx="4617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D98E6A"/>
                </a:solidFill>
                <a:latin typeface="Malgun Gothic"/>
              </a:rPr>
              <a:t>실전 도구 레지스트리 (week09 형식과 동일)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737360"/>
            <a:ext cx="4617720" cy="1975104"/>
          </a:xfrm>
          <a:prstGeom prst="roundRect">
            <a:avLst>
              <a:gd name="adj" fmla="val 4629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01952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01952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194560"/>
            <a:ext cx="416052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REAL_TOOL_REGISTRY = {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"get_exchange_rate": get_exchange_rate,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"search_documents_db": search_documents_db,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  "read_file": read_file,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}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# REAL_TOOL_SCHEMAS = [...] 도 함께 정의</a:t>
            </a:r>
          </a:p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# (name·description·parameters JSON Schema)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858768"/>
            <a:ext cx="4617720" cy="2121408"/>
          </a:xfrm>
          <a:prstGeom prst="roundRect">
            <a:avLst>
              <a:gd name="adj" fmla="val 387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3858768"/>
            <a:ext cx="128016" cy="2121408"/>
          </a:xfrm>
          <a:prstGeom prst="roundRect">
            <a:avLst>
              <a:gd name="adj" fmla="val 35714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968496"/>
            <a:ext cx="4160520" cy="19019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확인 — 정상 읽기 + traversal 차단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00" b="0">
                <a:solidFill>
                  <a:srgbClr val="3A302A"/>
                </a:solidFill>
                <a:latin typeface="Consolas"/>
              </a:rPr>
              <a:t>read_file('manual.txt')</a:t>
            </a:r>
            <a:r>
              <a:rPr sz="919" b="1">
                <a:solidFill>
                  <a:srgbClr val="3A302A"/>
                </a:solidFill>
                <a:latin typeface="Malgun Gothic"/>
              </a:rPr>
              <a:t> → 파일 내용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3A302A"/>
                </a:solidFill>
                <a:latin typeface="Consolas"/>
              </a:rPr>
              <a:t>read_file('../../../etc/passwd')</a:t>
            </a:r>
          </a:p>
          <a:p>
            <a:pPr algn="l">
              <a:lnSpc>
                <a:spcPct val="103000"/>
              </a:lnSpc>
              <a:spcBef>
                <a:spcPts val="100"/>
              </a:spcBef>
              <a:spcAft>
                <a:spcPts val="0"/>
              </a:spcAft>
            </a:pPr>
            <a:r>
              <a:rPr sz="900" b="1">
                <a:solidFill>
                  <a:srgbClr val="D98E6A"/>
                </a:solidFill>
                <a:latin typeface="Consolas"/>
              </a:rPr>
              <a:t>→ {"error": "허용된 데이터 디렉터리 밖의 경로입니다."}</a:t>
            </a:r>
          </a:p>
          <a:p>
            <a:pPr algn="l">
              <a:lnSpc>
                <a:spcPct val="103000"/>
              </a:lnSpc>
              <a:spcBef>
                <a:spcPts val="5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파일·경로를 다루는 모든 도구엔 이런 sandbox 검증이 필수.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3 · REGISTER · GUARDRAILS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5단계 · agent 등록과 가드레일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08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agent/raw_agent.py — 두 도구 세트 병합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5943600" cy="1737360"/>
          </a:xfrm>
          <a:prstGeom prst="roundRect">
            <a:avLst>
              <a:gd name="adj" fmla="val 5263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67712"/>
            <a:ext cx="5486400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9FD8CB"/>
                </a:solidFill>
                <a:latin typeface="Consolas"/>
              </a:rPr>
              <a:t># agent/raw_agent.py (수정)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agent.tools import \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  TOOL_REGISTRY, TOOL_SCHEMAS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from agent.real_tools import \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  REAL_TOOL_REGISTRY, REAL_TOOL_SCHEMAS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TOOL_REGISTRY={**TOOL_REGISTRY,**REAL_TOOL_REGISTRY}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TOOL_SCHEMAS=[*TOOL_SCHEMAS,*REAL_TOOL_SCHEMAS]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12463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/agent 호출 — 여러 실전 도구를 스스로 엮음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05072"/>
            <a:ext cx="5943600" cy="1975104"/>
          </a:xfrm>
          <a:prstGeom prst="roundRect">
            <a:avLst>
              <a:gd name="adj" fmla="val 4629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86968" y="4169663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3000" y="4169663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9032" y="4169663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" y="4462272"/>
            <a:ext cx="5486400" cy="14264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$ curl -s -X POST localhost:8000/agent -d \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  '{"query": "kb_documents에서 요금제를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     찾아 그 금액을 USD로 환산하면?"}'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trace(순서대로):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 search_documents_db → get_exchange_rate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 → calculator, answer에 환산 금액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9">
                <a:solidFill>
                  <a:srgbClr val="F4A78C"/>
                </a:solidFill>
                <a:latin typeface="Consolas"/>
              </a:rPr>
              <a:t># = 여러 실전 도구를 엮음 → Agentic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1517904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D98E6A"/>
                </a:solidFill>
                <a:latin typeface="Malgun Gothic"/>
              </a:rPr>
              <a:t>실행 확인 — 방어 성공/실패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20840" y="1865376"/>
            <a:ext cx="4754880" cy="969264"/>
          </a:xfrm>
          <a:prstGeom prst="roundRect">
            <a:avLst>
              <a:gd name="adj" fmla="val 84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20840" y="1865376"/>
            <a:ext cx="128016" cy="969264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949440" y="1975104"/>
            <a:ext cx="658368" cy="310896"/>
          </a:xfrm>
          <a:prstGeom prst="roundRect">
            <a:avLst>
              <a:gd name="adj" fmla="val 29411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1984248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성공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9248" y="1965960"/>
            <a:ext cx="3703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Consolas"/>
              </a:rPr>
              <a:t>get_exchange_rate('USD','KRW')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860" b="1">
                <a:solidFill>
                  <a:srgbClr val="D98E6A"/>
                </a:solidFill>
                <a:latin typeface="Malgun Gothic"/>
              </a:rPr>
              <a:t>→ </a:t>
            </a:r>
            <a:r>
              <a:rPr sz="840" b="0">
                <a:solidFill>
                  <a:srgbClr val="6B5D52"/>
                </a:solidFill>
                <a:latin typeface="Consolas"/>
              </a:rPr>
              <a:t>{"base":"USD","target":"KRW","rate":1350.4}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2907791"/>
            <a:ext cx="4754880" cy="969264"/>
          </a:xfrm>
          <a:prstGeom prst="roundRect">
            <a:avLst>
              <a:gd name="adj" fmla="val 84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720840" y="2907791"/>
            <a:ext cx="128016" cy="969264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949440" y="3017520"/>
            <a:ext cx="658368" cy="310896"/>
          </a:xfrm>
          <a:prstGeom prst="roundRect">
            <a:avLst>
              <a:gd name="adj" fmla="val 29411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49440" y="3026663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차단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008375"/>
            <a:ext cx="3703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Consolas"/>
              </a:rPr>
              <a:t>get_exchange_rate('USD','BTC')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860" b="1">
                <a:solidFill>
                  <a:srgbClr val="D98E6A"/>
                </a:solidFill>
                <a:latin typeface="Malgun Gothic"/>
              </a:rPr>
              <a:t>→ </a:t>
            </a:r>
            <a:r>
              <a:rPr sz="840" b="0">
                <a:solidFill>
                  <a:srgbClr val="6B5D52"/>
                </a:solidFill>
                <a:latin typeface="Consolas"/>
              </a:rPr>
              <a:t>{"error": "지원하지 않는 통화입니다"}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3950207"/>
            <a:ext cx="4754880" cy="969264"/>
          </a:xfrm>
          <a:prstGeom prst="roundRect">
            <a:avLst>
              <a:gd name="adj" fmla="val 84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720840" y="3950207"/>
            <a:ext cx="128016" cy="969264"/>
          </a:xfrm>
          <a:prstGeom prst="roundRect">
            <a:avLst>
              <a:gd name="adj" fmla="val 35714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49440" y="4059935"/>
            <a:ext cx="658368" cy="310896"/>
          </a:xfrm>
          <a:prstGeom prst="roundRect">
            <a:avLst>
              <a:gd name="adj" fmla="val 29411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069079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차단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4050791"/>
            <a:ext cx="3703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Consolas"/>
              </a:rPr>
              <a:t>read_file('../../../etc/passwd')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860" b="1">
                <a:solidFill>
                  <a:srgbClr val="D98E6A"/>
                </a:solidFill>
                <a:latin typeface="Malgun Gothic"/>
              </a:rPr>
              <a:t>→ </a:t>
            </a:r>
            <a:r>
              <a:rPr sz="840" b="0">
                <a:solidFill>
                  <a:srgbClr val="6B5D52"/>
                </a:solidFill>
                <a:latin typeface="Consolas"/>
              </a:rPr>
              <a:t>{"error": "허용된 디렉터리 밖의 경로"}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720840" y="4992623"/>
            <a:ext cx="4754880" cy="969264"/>
          </a:xfrm>
          <a:prstGeom prst="roundRect">
            <a:avLst>
              <a:gd name="adj" fmla="val 849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0840" y="4992623"/>
            <a:ext cx="128016" cy="969264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949440" y="5102351"/>
            <a:ext cx="658368" cy="310896"/>
          </a:xfrm>
          <a:prstGeom prst="roundRect">
            <a:avLst>
              <a:gd name="adj" fmla="val 29411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5111495"/>
            <a:ext cx="658368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algun Gothic"/>
              </a:rPr>
              <a:t>방어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99248" y="5093207"/>
            <a:ext cx="3703320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0">
                <a:solidFill>
                  <a:srgbClr val="3A302A"/>
                </a:solidFill>
                <a:latin typeface="Consolas"/>
              </a:rPr>
              <a:t>search_documents_db("'; DROP ...")</a:t>
            </a:r>
          </a:p>
          <a:p>
            <a:pPr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</a:pPr>
            <a:r>
              <a:rPr sz="860" b="1">
                <a:solidFill>
                  <a:srgbClr val="D98E6A"/>
                </a:solidFill>
                <a:latin typeface="Malgun Gothic"/>
              </a:rPr>
              <a:t>→ </a:t>
            </a:r>
            <a:r>
              <a:rPr sz="840" b="0">
                <a:solidFill>
                  <a:srgbClr val="6B5D52"/>
                </a:solidFill>
                <a:latin typeface="Consolas"/>
              </a:rPr>
              <a:t>바인딩이 값으로 취급 → 안전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4 · MCP SERVER · FastMCP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4부 · MCP 서버 만들기 (6단계)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09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mcp_server/server.py — FastMCP 데코레이터로 도구 노출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5989320" cy="4169663"/>
          </a:xfrm>
          <a:prstGeom prst="roundRect">
            <a:avLst>
              <a:gd name="adj" fmla="val 219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67712"/>
            <a:ext cx="5532120" cy="362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# mcp_server/server.py  (stdio transport)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from mcp.server.fastmcp import FastMCP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from agent.real_tools import (get_exchange_rate,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    read_file, search_documents_db)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mcp = FastMCP("docpilot-tools")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@mcp.tool()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def exchange_rate(base: str, target: str) -&gt; dict: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4A78C"/>
                </a:solidFill>
                <a:latin typeface="Consolas"/>
              </a:rPr>
              <a:t>    """두 통화 간 최신 환율을 조회한다."""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    return get_exchange_rate(base, target)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@mcp.tool()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def documents_search(keyword: str,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                     limit: int = 5) -&gt; dict: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4A78C"/>
                </a:solidFill>
                <a:latin typeface="Consolas"/>
              </a:rPr>
              <a:t>    """kb_documents를 키워드로 검색한다."""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    return search_documents_db(keyword, limit)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9FD8CB"/>
                </a:solidFill>
                <a:latin typeface="Consolas"/>
              </a:rPr>
              <a:t># data_file(relative_path) 도 동일하게 노출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6D186"/>
                </a:solidFill>
                <a:latin typeface="Consolas"/>
              </a:rPr>
              <a:t>if __name__ == "__main__":</a:t>
            </a:r>
          </a:p>
          <a:p>
            <a:pPr algn="l">
              <a:lnSpc>
                <a:spcPct val="87000"/>
              </a:lnSpc>
              <a:spcAft>
                <a:spcPts val="0"/>
              </a:spcAft>
            </a:pPr>
            <a:r>
              <a:rPr sz="850">
                <a:solidFill>
                  <a:srgbClr val="F3EAE0"/>
                </a:solidFill>
                <a:latin typeface="Consolas"/>
              </a:rPr>
              <a:t>    mcp.run(transport="stdio")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17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확인 — MCP Inspector (Node 필요)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810512"/>
            <a:ext cx="4617720" cy="1371600"/>
          </a:xfrm>
          <a:prstGeom prst="roundRect">
            <a:avLst>
              <a:gd name="adj" fmla="val 666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267712"/>
            <a:ext cx="4160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$ npx @modelcontextprotocol/inspector \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F6D186"/>
                </a:solidFill>
                <a:latin typeface="Consolas"/>
              </a:rPr>
              <a:t>    python -m mcp_server.server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Tools 탭: exchange_rate / documents_search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69">
                <a:solidFill>
                  <a:srgbClr val="9FD8CB"/>
                </a:solidFill>
                <a:latin typeface="Consolas"/>
              </a:rPr>
              <a:t>#   / data_file 3개를 폼으로 직접 호출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3328416"/>
            <a:ext cx="4617720" cy="2651760"/>
          </a:xfrm>
          <a:prstGeom prst="roundRect">
            <a:avLst>
              <a:gd name="adj" fmla="val 3103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3328416"/>
            <a:ext cx="128016" cy="265176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3447288"/>
            <a:ext cx="4206240" cy="24140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@mcp.tool() 하나로 자동 생성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이름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 = 함수명, </a:t>
            </a:r>
            <a:r>
              <a:rPr sz="960" b="1">
                <a:solidFill>
                  <a:srgbClr val="3A302A"/>
                </a:solidFill>
                <a:latin typeface="Malgun Gothic"/>
              </a:rPr>
              <a:t>설명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 = docstring,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파라미터 스키마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 = 타입 힌트에서 자동 생성.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week09에서 손으로 쓰던 JSON Schema를 SDK가 대신 만들어 준다.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전송은 stdio — 로컬 클라이언트가 서버를 자식 프로세스로 띄운다.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PART 5 · MCP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5부 · MCP 클라이언트로 호출 확인 (7단계)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10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mcp_client_demo.py — 서버를 자식 프로세스로 띄워 왕복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10512"/>
            <a:ext cx="5989320" cy="4169663"/>
          </a:xfrm>
          <a:prstGeom prst="roundRect">
            <a:avLst>
              <a:gd name="adj" fmla="val 2192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869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430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99032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267712"/>
            <a:ext cx="5532120" cy="362102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# mcp_client_demo.py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import asyncio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from mcp import (ClientSession,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    StdioServerParameters)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from mcp.client.stdio import stdio_client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SERVER = StdioServerParameters(command="python",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args=["-m", "mcp_server.server"])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async def main() -&gt; None: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async with stdio_client(SERVER) as (read,write):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async with ClientSession(read,write) as session: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await session.initialize()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    # (1) 도구 발견(discovery)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tools = await session.list_tools()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9FD8CB"/>
                </a:solidFill>
                <a:latin typeface="Consolas"/>
              </a:rPr>
              <a:t>      # (2) 도구 호출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r = await session.call_tool(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    "documents_search", {"keyword":"요금제"})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>      print(r.content[0].text)</a:t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3EAE0"/>
                </a:solidFill>
                <a:latin typeface="Consolas"/>
              </a:rPr>
              <a:t/>
            </a:r>
          </a:p>
          <a:p>
            <a:pPr algn="l">
              <a:lnSpc>
                <a:spcPct val="86000"/>
              </a:lnSpc>
              <a:spcAft>
                <a:spcPts val="0"/>
              </a:spcAft>
            </a:pPr>
            <a:r>
              <a:rPr sz="840">
                <a:solidFill>
                  <a:srgbClr val="F6D186"/>
                </a:solidFill>
                <a:latin typeface="Consolas"/>
              </a:rPr>
              <a:t>asyncio.run(main())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17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실행 — list_tools / call_tool 출력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810512"/>
            <a:ext cx="4617720" cy="2395728"/>
          </a:xfrm>
          <a:prstGeom prst="roundRect">
            <a:avLst>
              <a:gd name="adj" fmla="val 3816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71231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267712"/>
            <a:ext cx="4160520" cy="1847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6D186"/>
                </a:solidFill>
                <a:latin typeface="Consolas"/>
              </a:rPr>
              <a:t>$ python mcp_client_demo.py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4A78C"/>
                </a:solidFill>
                <a:latin typeface="Consolas"/>
              </a:rPr>
              <a:t>=== 사용 가능한 도구 ===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- exchange_rate: 두 통화 간 최신 환율...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- documents_search: kb_documents 검색...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3EAE0"/>
                </a:solidFill>
                <a:latin typeface="Consolas"/>
              </a:rPr>
              <a:t>- data_file: 데이터 디렉터리 파일 읽기...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F4A78C"/>
                </a:solidFill>
                <a:latin typeface="Consolas"/>
              </a:rPr>
              <a:t>=== documents_search('요금제') ===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{"count":1,"rows":[{"id":2,</a:t>
            </a:r>
          </a:p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60">
                <a:solidFill>
                  <a:srgbClr val="9FD8CB"/>
                </a:solidFill>
                <a:latin typeface="Consolas"/>
              </a:rPr>
              <a:t>  "title":"요금제 안내", ...}]}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4352544"/>
            <a:ext cx="4617720" cy="1627632"/>
          </a:xfrm>
          <a:prstGeom prst="roundRect">
            <a:avLst>
              <a:gd name="adj" fmla="val 5056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58000" y="4352544"/>
            <a:ext cx="128016" cy="1627632"/>
          </a:xfrm>
          <a:prstGeom prst="roundRect">
            <a:avLst>
              <a:gd name="adj" fmla="val 35714"/>
            </a:avLst>
          </a:prstGeom>
          <a:solidFill>
            <a:srgbClr val="A7B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462272"/>
            <a:ext cx="4206240" cy="14081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D98E6A"/>
                </a:solidFill>
                <a:latin typeface="Malgun Gothic"/>
              </a:rPr>
              <a:t>이것이 표준화의 힘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클라이언트는 도구의 내부 구현을 전혀 몰라도 </a:t>
            </a:r>
            <a:r>
              <a:rPr sz="900" b="1">
                <a:solidFill>
                  <a:srgbClr val="3A302A"/>
                </a:solidFill>
                <a:latin typeface="Consolas"/>
              </a:rPr>
              <a:t>list_tools()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로 발견하고 </a:t>
            </a:r>
            <a:r>
              <a:rPr sz="900" b="1">
                <a:solidFill>
                  <a:srgbClr val="3A302A"/>
                </a:solidFill>
                <a:latin typeface="Consolas"/>
              </a:rPr>
              <a:t>call_tool()</a:t>
            </a:r>
            <a:r>
              <a:rPr sz="940" b="0">
                <a:solidFill>
                  <a:srgbClr val="6B5D52"/>
                </a:solidFill>
                <a:latin typeface="Malgun Gothic"/>
              </a:rPr>
              <a:t>로 호출했다.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같은 서버를 Claude Desktop에도 붙일 수 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STEP 8 · OPTIONAL · CLAUDE DESKTOP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8단계 · Claude Desktop 연결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11 /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32520" y="457200"/>
            <a:ext cx="2743200" cy="475488"/>
          </a:xfrm>
          <a:prstGeom prst="roundRect">
            <a:avLst>
              <a:gd name="adj" fmla="val 48076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502920"/>
            <a:ext cx="27432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선택 / 도전 — 건너뛰어도 무방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17904"/>
            <a:ext cx="5852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claude_desktop_config.json 에 서버 등록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810512"/>
            <a:ext cx="5989320" cy="3657600"/>
          </a:xfrm>
          <a:prstGeom prst="roundRect">
            <a:avLst>
              <a:gd name="adj" fmla="val 2500"/>
            </a:avLst>
          </a:prstGeom>
          <a:solidFill>
            <a:srgbClr val="2E2824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86968" y="1975104"/>
            <a:ext cx="118872" cy="118872"/>
          </a:xfrm>
          <a:prstGeom prst="ellipse">
            <a:avLst/>
          </a:prstGeom>
          <a:solidFill>
            <a:srgbClr val="F4A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43000" y="1975104"/>
            <a:ext cx="118872" cy="118872"/>
          </a:xfrm>
          <a:prstGeom prst="ellipse">
            <a:avLst/>
          </a:prstGeom>
          <a:solidFill>
            <a:srgbClr val="F6D1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9032" y="1975104"/>
            <a:ext cx="118872" cy="118872"/>
          </a:xfrm>
          <a:prstGeom prst="ellipse">
            <a:avLst/>
          </a:prstGeom>
          <a:solidFill>
            <a:srgbClr val="9FD8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" y="2267712"/>
            <a:ext cx="55321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{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"mcpServers": {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"docpilot-tools": {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"command": "python",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"args": ["-m", "mcp_server.server"],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"cwd": "/절대경로/docpilot",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    "env": {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"DOCPILOT_DB_DSN":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  "postgresql://.../docpilot",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        "DOCPILOT_DATA_DIR":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      "/절대경로/docpilot/data"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    }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4A78C"/>
                </a:solidFill>
                <a:latin typeface="Consolas"/>
              </a:rPr>
              <a:t>    }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6D186"/>
                </a:solidFill>
                <a:latin typeface="Consolas"/>
              </a:rPr>
              <a:t>  }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880">
                <a:solidFill>
                  <a:srgbClr val="F3EAE0"/>
                </a:solidFill>
                <a:latin typeface="Consolas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5596128"/>
            <a:ext cx="5989320" cy="457200"/>
          </a:xfrm>
          <a:prstGeom prst="roundRect">
            <a:avLst>
              <a:gd name="adj" fmla="val 16000"/>
            </a:avLst>
          </a:prstGeom>
          <a:solidFill>
            <a:srgbClr val="A7BFA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632704"/>
            <a:ext cx="5532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확인: </a:t>
            </a:r>
            <a:r>
              <a:rPr sz="919" b="0">
                <a:solidFill>
                  <a:srgbClr val="3A302A"/>
                </a:solidFill>
                <a:latin typeface="Malgun Gothic"/>
              </a:rPr>
              <a:t>재시작 후 도구(🔨) 아이콘에 docpilot-tools → "환불 정책 찾아줘"로 호출.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1517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필수 경로는 7단계에서 끝난다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1810512"/>
            <a:ext cx="4617720" cy="1828800"/>
          </a:xfrm>
          <a:prstGeom prst="roundRect">
            <a:avLst>
              <a:gd name="adj" fmla="val 4500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858000" y="1810512"/>
            <a:ext cx="128016" cy="1828800"/>
          </a:xfrm>
          <a:prstGeom prst="roundRect">
            <a:avLst>
              <a:gd name="adj" fmla="val 35714"/>
            </a:avLst>
          </a:prstGeom>
          <a:solidFill>
            <a:srgbClr val="C9A2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0" y="1920240"/>
            <a:ext cx="4206240" cy="1609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왜 선택인가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Claude Desktop 연동은 외부 앱 설정이 필요한 심화다.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단일 세션 부담을 줄이려면 건너뛰어도 무방하다.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40" b="1">
                <a:solidFill>
                  <a:srgbClr val="3A302A"/>
                </a:solidFill>
                <a:latin typeface="Malgun Gothic"/>
              </a:rPr>
              <a:t>같은 MCP 서버가 우리 Python 클라이언트에도, Claude Desktop에도 그대로 붙는다 = 표준의 이득.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803904"/>
            <a:ext cx="46177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8E6A"/>
                </a:solidFill>
                <a:latin typeface="Malgun Gothic"/>
              </a:rPr>
              <a:t>이 단계가 곧 Agentic 서비스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4096512"/>
            <a:ext cx="4617720" cy="1920240"/>
          </a:xfrm>
          <a:prstGeom prst="roundRect">
            <a:avLst>
              <a:gd name="adj" fmla="val 3809"/>
            </a:avLst>
          </a:prstGeom>
          <a:solidFill>
            <a:srgbClr val="FBF2E6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4206240"/>
            <a:ext cx="4160520" cy="17007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응답만 하던 docpilot이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여러 실전 도구(API·DB·파일)를 스스로 골라 엮고,</a:t>
            </a:r>
          </a:p>
          <a:p>
            <a:pPr algn="l">
              <a:lnSpc>
                <a:spcPct val="103000"/>
              </a:lnSpc>
              <a:spcBef>
                <a:spcPts val="300"/>
              </a:spcBef>
              <a:spcAft>
                <a:spcPts val="0"/>
              </a:spcAft>
            </a:pPr>
            <a:r>
              <a:rPr sz="940" b="0">
                <a:solidFill>
                  <a:srgbClr val="6B5D52"/>
                </a:solidFill>
                <a:latin typeface="Malgun Gothic"/>
              </a:rPr>
              <a:t>그 도구를 MCP로 표준화해 어떤 클라이언트든 호출할 수 있게 됐다.</a:t>
            </a:r>
          </a:p>
          <a:p>
            <a:pPr algn="l">
              <a:lnSpc>
                <a:spcPct val="103000"/>
              </a:lnSpc>
              <a:spcBef>
                <a:spcPts val="400"/>
              </a:spcBef>
              <a:spcAft>
                <a:spcPts val="0"/>
              </a:spcAft>
            </a:pPr>
            <a:r>
              <a:rPr sz="960" b="1">
                <a:solidFill>
                  <a:srgbClr val="D98E6A"/>
                </a:solidFill>
                <a:latin typeface="Malgun Gothic"/>
              </a:rPr>
              <a:t>→ 스스로 외부 작업을 수행하는 Agentic 서비스.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6928" y="502920"/>
            <a:ext cx="146304" cy="146304"/>
          </a:xfrm>
          <a:prstGeom prst="ellipse">
            <a:avLst/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02336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5D52"/>
                </a:solidFill>
                <a:latin typeface="Malgun Gothic"/>
              </a:rPr>
              <a:t>TROUBLESHOOTING · ASSIGNMENT ·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1323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3A302A"/>
                </a:solidFill>
                <a:latin typeface="Malgun Gothic"/>
              </a:rPr>
              <a:t>트러블슈팅 · 과제 · 다음 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1481328"/>
            <a:ext cx="1554480" cy="64008"/>
          </a:xfrm>
          <a:prstGeom prst="roundRect">
            <a:avLst>
              <a:gd name="adj" fmla="val 42857"/>
            </a:avLst>
          </a:prstGeom>
          <a:solidFill>
            <a:srgbClr val="E0B1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5943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5D52"/>
                </a:solidFill>
                <a:latin typeface="Malgun Gothic"/>
              </a:rPr>
              <a:t>클라우드 프로그래밍 · Week 10 · docpilot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19088"/>
            <a:ext cx="1280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6B5D52"/>
                </a:solidFill>
                <a:latin typeface="Malgun Gothic"/>
              </a:rPr>
              <a:t>12 /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트러블슈팅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956816"/>
            <a:ext cx="5532120" cy="347472"/>
          </a:xfrm>
          <a:prstGeom prst="roundRect">
            <a:avLst>
              <a:gd name="adj" fmla="val 13157"/>
            </a:avLst>
          </a:prstGeom>
          <a:solidFill>
            <a:srgbClr val="D98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975104"/>
            <a:ext cx="22860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증상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975104"/>
            <a:ext cx="31546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A302A"/>
                </a:solidFill>
                <a:latin typeface="Malgun Gothic"/>
              </a:rPr>
              <a:t>해결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331720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331720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httpx.ConnectTimeout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331720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TIMEOUT 조정 · 재시도 로그 · HTTPS_PROXY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39212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환율 도구가 재시도만 하다 실패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839212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{"error":...}가 정상 · fallback 값 확장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346704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346704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psycopg.OperationalError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346704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week03 compose로 DB 기동 · DSN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854196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read_file이 정상 파일도 거부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3854196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DOCPILOT_DATA_DIR 절대경로 · .resolve()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361688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61688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MCP 클라이언트가 무응답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4361688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python -m mcp_server.server 단독 기동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4869179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Inspector npx 실패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4869179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Node 18+ 설치 · 또는 Python 클라이언트로 대체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76671"/>
            <a:ext cx="5532120" cy="484632"/>
          </a:xfrm>
          <a:prstGeom prst="roundRect">
            <a:avLst>
              <a:gd name="adj" fmla="val 7547"/>
            </a:avLst>
          </a:prstGeom>
          <a:solidFill>
            <a:srgbClr val="FB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76671"/>
            <a:ext cx="21488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ModuleNotFoundError: mcp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376671"/>
            <a:ext cx="31089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94000"/>
              </a:lnSpc>
              <a:spcAft>
                <a:spcPts val="0"/>
              </a:spcAft>
            </a:pPr>
            <a:r>
              <a:rPr sz="819" b="0">
                <a:solidFill>
                  <a:srgbClr val="3A302A"/>
                </a:solidFill>
                <a:latin typeface="Malgun Gothic"/>
              </a:rPr>
              <a:t>pip install "mcp&gt;=1.2" · venv activate 확인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609344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D98E6A"/>
                </a:solidFill>
                <a:latin typeface="Malgun Gothic"/>
              </a:rPr>
              <a:t>이번 주 과제 (docpilot 커밋/PR)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92240" y="1956816"/>
            <a:ext cx="4983480" cy="2121408"/>
          </a:xfrm>
          <a:prstGeom prst="roundRect">
            <a:avLst>
              <a:gd name="adj" fmla="val 3879"/>
            </a:avLst>
          </a:prstGeom>
          <a:solidFill>
            <a:srgbClr val="FFFDF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2075688"/>
            <a:ext cx="4572000" cy="1883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1. 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실전 도구 1개 추가(공개 REST API 또는 write_file) — 가드레일 포함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2. </a:t>
            </a:r>
            <a:r>
              <a:rPr sz="940" b="1">
                <a:solidFill>
                  <a:srgbClr val="3A302A"/>
                </a:solidFill>
                <a:latin typeface="Malgun Gothic"/>
              </a:rPr>
              <a:t>그 도구를 @mcp.tool()로 노출 + mcp_client_demo.py로 호출 로그 제출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3.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가드레일 검증 3종 캡처: 타임아웃/재시도 · {"error"} 반환 · traversal/인젝션 차단</a:t>
            </a:r>
          </a:p>
          <a:p>
            <a:pPr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1">
                <a:solidFill>
                  <a:srgbClr val="3A302A"/>
                </a:solidFill>
                <a:latin typeface="Malgun Gothic"/>
              </a:rPr>
              <a:t>4. </a:t>
            </a:r>
            <a:r>
              <a:rPr sz="940" b="0">
                <a:solidFill>
                  <a:srgbClr val="3A302A"/>
                </a:solidFill>
                <a:latin typeface="Malgun Gothic"/>
              </a:rPr>
              <a:t>README에 N×M 통합 비용과 MCP가 그것을 어떻게 줄이는지 3줄 이상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92240" y="4169663"/>
            <a:ext cx="4983480" cy="512064"/>
          </a:xfrm>
          <a:prstGeom prst="roundRect">
            <a:avLst>
              <a:gd name="adj" fmla="val 14285"/>
            </a:avLst>
          </a:prstGeom>
          <a:solidFill>
            <a:srgbClr val="D98E6A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5120" y="4206240"/>
            <a:ext cx="466344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3A302A"/>
                </a:solidFill>
                <a:latin typeface="Malgun Gothic"/>
              </a:rPr>
              <a:t>채점: </a:t>
            </a:r>
            <a:r>
              <a:rPr sz="880" b="0">
                <a:solidFill>
                  <a:srgbClr val="3A302A"/>
                </a:solidFill>
                <a:latin typeface="Malgun Gothic"/>
              </a:rPr>
              <a:t>예외로 안 죽고 {"error"} 반환 · LLM 인자 검증 · MCP 서버-클라이언트 왕복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791456"/>
            <a:ext cx="5486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B5D52"/>
                </a:solidFill>
                <a:latin typeface="Malgun Gothic"/>
              </a:rPr>
              <a:t>핵심 체크리스트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510235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환율: 타임아웃·재시도·allowlist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510235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DB: 파라미터 바인딩(인젝션 방어)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537667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read_file: ../ 경로 거부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840" y="537667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모든 도구 {"error"} 반환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5099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MCP 서버 도구 3개 노출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5650992"/>
            <a:ext cx="25146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7BFA0"/>
                </a:solidFill>
                <a:latin typeface="Malgun Gothic"/>
              </a:rPr>
              <a:t>☑ </a:t>
            </a:r>
            <a:r>
              <a:rPr sz="840" b="0">
                <a:solidFill>
                  <a:srgbClr val="3A302A"/>
                </a:solidFill>
                <a:latin typeface="Malgun Gothic"/>
              </a:rPr>
              <a:t>클라이언트 list/call 왕복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" y="6089904"/>
            <a:ext cx="5532120" cy="475488"/>
          </a:xfrm>
          <a:prstGeom prst="roundRect">
            <a:avLst>
              <a:gd name="adj" fmla="val 15384"/>
            </a:avLst>
          </a:prstGeom>
          <a:solidFill>
            <a:srgbClr val="9FD8CB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68680" y="6126480"/>
            <a:ext cx="5212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3A302A"/>
                </a:solidFill>
                <a:latin typeface="Malgun Gothic"/>
              </a:rPr>
              <a:t>다음 주 → Week 11  Multi-Agent 시스템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6089904"/>
            <a:ext cx="4983480" cy="475488"/>
          </a:xfrm>
          <a:prstGeom prst="roundRect">
            <a:avLst>
              <a:gd name="adj" fmla="val 15384"/>
            </a:avLst>
          </a:prstGeom>
          <a:solidFill>
            <a:srgbClr val="C9A2C0"/>
          </a:solidFill>
          <a:ln>
            <a:noFill/>
          </a:ln>
          <a:effectLst>
            <a:outerShdw blurRad="50292" dist="27432" dir="5400000" rotWithShape="0">
              <a:srgbClr val="3A302A">
                <a:alpha val="7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6126480"/>
            <a:ext cx="46634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0">
                <a:solidFill>
                  <a:srgbClr val="3A302A"/>
                </a:solidFill>
                <a:latin typeface="Malgun Gothic"/>
              </a:rPr>
              <a:t>researcher + writer 협업 · 오케스트레이터/</a:t>
            </a:r>
            <a:r>
              <a:rPr sz="1000" b="1">
                <a:solidFill>
                  <a:srgbClr val="3A302A"/>
                </a:solidFill>
                <a:latin typeface="Malgun Gothic"/>
              </a:rPr>
              <a:t>워커 패턴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