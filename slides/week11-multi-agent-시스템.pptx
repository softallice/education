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3716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310896" cy="13716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10896" cy="13716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310896" cy="13716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310896" cy="13716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640080"/>
            <a:ext cx="1554480" cy="155448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1554480"/>
            <a:ext cx="914400" cy="91440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>
            <a:off x="9784080" y="1828800"/>
            <a:ext cx="822960" cy="822960"/>
          </a:xfrm>
          <a:prstGeom prst="teardrop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298448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34416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CLOUD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75104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98E6A"/>
                </a:solidFill>
                <a:latin typeface="Malgun Gothic"/>
              </a:rPr>
              <a:t>Week 11  ·  블록 3 AI Agent 피날레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3A302A"/>
                </a:solidFill>
                <a:latin typeface="Malgun Gothic"/>
              </a:rPr>
              <a:t>역할을 나눈다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98E6A"/>
                </a:solidFill>
                <a:latin typeface="Malgun Gothic"/>
              </a:rPr>
              <a:t>— Multi-Agent 시스템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5D52"/>
                </a:solidFill>
                <a:latin typeface="Malgun Gothic"/>
              </a:rPr>
              <a:t>researcher(정보 수집) + writer(보고서 작성)가 오케스트레이터로 협업하는 /report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407408"/>
            <a:ext cx="9692640" cy="1051560"/>
          </a:xfrm>
          <a:prstGeom prst="roundRect">
            <a:avLst>
              <a:gd name="adj" fmla="val 782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407408"/>
            <a:ext cx="128016" cy="105156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535424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오늘의 한 줄  </a:t>
            </a:r>
            <a:r>
              <a:rPr sz="1300" b="0">
                <a:solidFill>
                  <a:srgbClr val="3A302A"/>
                </a:solidFill>
                <a:latin typeface="Malgun Gothic"/>
              </a:rPr>
              <a:t>하나의 에이전트가 다 하던 일을 역할별로 쪼개고, 오케스트레이터가 협업시켜 보고서를 만든다.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각 에이전트의 프롬프트·도구·모델을 따로 최적화하고, 실패를 국소화한다.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61441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docpilot 진화:  </a:t>
            </a:r>
            <a:r>
              <a:rPr sz="1200" b="0">
                <a:solidFill>
                  <a:srgbClr val="3A302A"/>
                </a:solidFill>
                <a:latin typeface="Malgun Gothic"/>
              </a:rPr>
              <a:t>단일 Agent(week09) → Agentic(week10) → Multi-Agent(week11) 협업 워크플로우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6053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★ 필수 경로: </a:t>
            </a:r>
            <a:r>
              <a:rPr sz="1150" b="0">
                <a:solidFill>
                  <a:srgbClr val="6B5D52"/>
                </a:solidFill>
                <a:latin typeface="Malgun Gothic"/>
              </a:rPr>
              <a:t>1~2부(raw 오케스트레이션 /report).  3부 LangGraph판은 선택/도전.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학습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02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" y="2194560"/>
            <a:ext cx="530352" cy="53035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협업 패턴 설명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역할 분담·오케스트레이터/워커·메시지 전달을 설명할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2194560"/>
            <a:ext cx="530352" cy="530352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상태·메모리 공유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에이전트 간 상태 공유 구조를 설계하고 로그로 관찰한다.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630168"/>
            <a:ext cx="530352" cy="53035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researcher + writer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RAG+도구를 쓰는 researcher와 글을 쓰는 writer를 오케스트레이션한다.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56248" y="3630168"/>
            <a:ext cx="530352" cy="530352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LangGraph 재구성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같은 워크플로우를 StateGraph로 재구성한다. (선택/도전)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" y="5065776"/>
            <a:ext cx="530352" cy="530352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335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실패 복구 · HITL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재시도/폴백과 휴먼 인 더 루프(승인 게이트)를 넣는다.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56248" y="5065776"/>
            <a:ext cx="530352" cy="530352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블록 3 피날레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단일 Agent → Agentic → Multi-Agent를 하나로 조립한다.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CONCEPTS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개념 (요약)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03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① 왜 Multi-Agent인가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83664"/>
            <a:ext cx="5532120" cy="1481328"/>
          </a:xfrm>
          <a:prstGeom prst="roundRect">
            <a:avLst>
              <a:gd name="adj" fmla="val 555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883664"/>
            <a:ext cx="128016" cy="1481328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993392"/>
            <a:ext cx="5120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단일 에이전트에 "검색+도구+긴 보고서"를 몰아넣으면: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0">
                <a:solidFill>
                  <a:srgbClr val="6B5D52"/>
                </a:solidFill>
                <a:latin typeface="Malgun Gothic"/>
              </a:rPr>
              <a:t>(1) 프롬프트가 비대해져 지시가 서로 간섭한다.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919" b="0">
                <a:solidFill>
                  <a:srgbClr val="6B5D52"/>
                </a:solidFill>
                <a:latin typeface="Malgun Gothic"/>
              </a:rPr>
              <a:t>(2) 한 역할의 실패가 전체를 망친다.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D98E6A"/>
                </a:solidFill>
                <a:latin typeface="Malgun Gothic"/>
              </a:rPr>
              <a:t>역할을 나누면 프롬프트·도구·모델을 따로 최적화하고 실패를 국소화한다.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② 핵심 패턴 4가지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40480"/>
            <a:ext cx="5532120" cy="2395728"/>
          </a:xfrm>
          <a:prstGeom prst="roundRect">
            <a:avLst>
              <a:gd name="adj" fmla="val 343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128016" cy="2395728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50208"/>
            <a:ext cx="512064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역할 분담  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에이전트마다 하나의 책임 — researcher=수집, writer=작성.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오케스트레이터/워커  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중앙 조정자가 워커를 순서대로 호출 — run_report().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메시지 전달  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입출력을 구조화된 메시지로 — AgentMessage dataclass.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공유 상태  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전체가 읽고 쓰는 하나의 상태 — ReportState / TypedDict.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관찰(observability): 모든 단계가 state.log에 append된다.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5727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③ 오케스트레이션의 두 가지 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883664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BF2E6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011680"/>
            <a:ext cx="4663440" cy="1956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D98E6A"/>
                </a:solidFill>
                <a:latin typeface="Malgun Gothic"/>
              </a:rPr>
              <a:t>raw 오케스트레이션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 — Python 함수가 순서대로 에이전트를 호출.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919" b="0">
                <a:solidFill>
                  <a:srgbClr val="6B5D52"/>
                </a:solidFill>
                <a:latin typeface="Malgun Gothic"/>
              </a:rPr>
              <a:t>흐름이 다 보여 학습·디버깅에 최적. 분기·재시도도 if/try로 직접.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1">
                <a:solidFill>
                  <a:srgbClr val="D98E6A"/>
                </a:solidFill>
                <a:latin typeface="Malgun Gothic"/>
              </a:rPr>
              <a:t>그래프 기반(LangGraph)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 — 노드(에이전트)·엣지(전이)로 선언.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919" b="0">
                <a:solidFill>
                  <a:srgbClr val="6B5D52"/>
                </a:solidFill>
                <a:latin typeface="Malgun Gothic"/>
              </a:rPr>
              <a:t>상태·체크포인트·분기·사이클을 프레임워크가 관리 → 복잡할수록 유리.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먼저 raw로 원리를 익히고, 같은 것을 LangGraph로 다시 만들어 비교.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4281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상태 공유 · 실패 복구 · 휴먼 인 더 루프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553712"/>
            <a:ext cx="1627632" cy="822960"/>
          </a:xfrm>
          <a:prstGeom prst="roundRect">
            <a:avLst>
              <a:gd name="adj" fmla="val 888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4553712"/>
            <a:ext cx="1627632" cy="91440"/>
          </a:xfrm>
          <a:prstGeom prst="roundRect">
            <a:avLst>
              <a:gd name="adj" fmla="val 30000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681728"/>
            <a:ext cx="1444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상태·메모리</a:t>
            </a:r>
          </a:p>
          <a:p>
            <a:pPr algn="ctr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6B5D52"/>
                </a:solidFill>
                <a:latin typeface="Malgun Gothic"/>
              </a:rPr>
              <a:t>sources까지 상태에 담아 writer가 인용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7576" y="4553712"/>
            <a:ext cx="1627632" cy="822960"/>
          </a:xfrm>
          <a:prstGeom prst="roundRect">
            <a:avLst>
              <a:gd name="adj" fmla="val 888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37576" y="4553712"/>
            <a:ext cx="1627632" cy="91440"/>
          </a:xfrm>
          <a:prstGeom prst="roundRect">
            <a:avLst>
              <a:gd name="adj" fmla="val 30000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9016" y="4681728"/>
            <a:ext cx="1444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실패 복구</a:t>
            </a:r>
          </a:p>
          <a:p>
            <a:pPr algn="ctr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6B5D52"/>
                </a:solidFill>
                <a:latin typeface="Malgun Gothic"/>
              </a:rPr>
              <a:t>try/except+재시도, RAG 폴백 경로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0072" y="4553712"/>
            <a:ext cx="1627632" cy="822960"/>
          </a:xfrm>
          <a:prstGeom prst="roundRect">
            <a:avLst>
              <a:gd name="adj" fmla="val 888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20072" y="4553712"/>
            <a:ext cx="1627632" cy="91440"/>
          </a:xfrm>
          <a:prstGeom prst="roundRect">
            <a:avLst>
              <a:gd name="adj" fmla="val 30000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11512" y="4681728"/>
            <a:ext cx="1444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HITL</a:t>
            </a:r>
          </a:p>
          <a:p>
            <a:pPr algn="ctr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6B5D52"/>
                </a:solidFill>
                <a:latin typeface="Malgun Gothic"/>
              </a:rPr>
              <a:t>approve=True/False 승인 게이트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550468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D98E6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577840"/>
            <a:ext cx="47091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Malgun Gothic"/>
              </a:rPr>
              <a:t>이번 주 초점 = raw 협업.  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HITL은 CLI에서 </a:t>
            </a:r>
            <a:r>
              <a:rPr sz="940" b="1">
                <a:solidFill>
                  <a:srgbClr val="3A302A"/>
                </a:solidFill>
                <a:latin typeface="Consolas"/>
              </a:rPr>
              <a:t>input()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으로 최소 구현한다.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PREREQUISITES ·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사전 준비 — 부품과 목표 아키텍처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04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준비물 체크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295144"/>
            <a:ext cx="365760" cy="36576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951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148840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week09 단일 Agent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Malgun Gothic"/>
              </a:rPr>
              <a:t>/agent · function/tool calling · ReAct 루프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90088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227832"/>
            <a:ext cx="365760" cy="36576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278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081528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week10 실전 도구 · week08 RAG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Consolas"/>
              </a:rPr>
              <a:t>from app.vectorstore import search 로 재사용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22776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160520"/>
            <a:ext cx="365760" cy="365760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14215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Python 3.12 · OpenAI API 키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Consolas"/>
              </a:rPr>
              <a:t>OPENAI_API_KEY · Chroma/pgvector 문서 인덱싱 완료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55464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093207"/>
            <a:ext cx="365760" cy="36576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93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4946903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디렉터리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Consolas"/>
              </a:rPr>
              <a:t>docpilot/ 프로젝트 · app/agents/ 아래에 파일 추가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645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목표 아키텍처 — POST /report {"topic"}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2048256"/>
            <a:ext cx="2926080" cy="566928"/>
          </a:xfrm>
          <a:prstGeom prst="roundRect">
            <a:avLst>
              <a:gd name="adj" fmla="val 14516"/>
            </a:avLst>
          </a:prstGeom>
          <a:solidFill>
            <a:srgbClr val="D98E6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2084831"/>
            <a:ext cx="29260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Orchestrator</a:t>
            </a:r>
            <a:r>
              <a:rPr sz="850" b="0">
                <a:solidFill>
                  <a:srgbClr val="FFFFFF"/>
                </a:solidFill>
                <a:latin typeface="Malgun Gothic"/>
              </a:rPr>
              <a:t> (ReportState 소유)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915400" y="2651760"/>
            <a:ext cx="365760" cy="384048"/>
          </a:xfrm>
          <a:prstGeom prst="downArrow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0" y="3127248"/>
            <a:ext cx="3566160" cy="713232"/>
          </a:xfrm>
          <a:prstGeom prst="roundRect">
            <a:avLst>
              <a:gd name="adj" fmla="val 115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0" y="3127248"/>
            <a:ext cx="128016" cy="713232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71231" y="3200400"/>
            <a:ext cx="32461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researcher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  (RAG + tools)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>
                <a:solidFill>
                  <a:srgbClr val="6B5D52"/>
                </a:solidFill>
                <a:latin typeface="Malgun Gothic"/>
              </a:rPr>
              <a:t>근거(findings) + sources 수집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8915400" y="3877056"/>
            <a:ext cx="365760" cy="384048"/>
          </a:xfrm>
          <a:prstGeom prst="downArrow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3877056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B5D52"/>
                </a:solidFill>
                <a:latin typeface="Malgun Gothic"/>
              </a:rPr>
              <a:t>findings 전달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4334256"/>
            <a:ext cx="3566160" cy="713232"/>
          </a:xfrm>
          <a:prstGeom prst="roundRect">
            <a:avLst>
              <a:gd name="adj" fmla="val 115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0" y="4334256"/>
            <a:ext cx="128016" cy="713232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71231" y="4407408"/>
            <a:ext cx="32461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writer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  (findings → 보고서)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0">
                <a:solidFill>
                  <a:srgbClr val="6B5D52"/>
                </a:solidFill>
                <a:latin typeface="Malgun Gothic"/>
              </a:rPr>
              <a:t>마크다운 보고서 작성 (근거만 사용)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20840" y="5230368"/>
            <a:ext cx="4754880" cy="1024128"/>
          </a:xfrm>
          <a:prstGeom prst="roundRect">
            <a:avLst>
              <a:gd name="adj" fmla="val 7142"/>
            </a:avLst>
          </a:prstGeom>
          <a:solidFill>
            <a:srgbClr val="FBF2E6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0" y="5321808"/>
            <a:ext cx="434340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8E6A"/>
                </a:solidFill>
                <a:latin typeface="Malgun Gothic"/>
              </a:rPr>
              <a:t>실습 3부  </a:t>
            </a:r>
            <a:r>
              <a:rPr sz="900" b="0">
                <a:solidFill>
                  <a:srgbClr val="3A302A"/>
                </a:solidFill>
                <a:latin typeface="Malgun Gothic"/>
              </a:rPr>
              <a:t>1부 공용 부품(상태·도구) · 2부 raw /report · 3부 LangGraph(선택)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검색은 </a:t>
            </a:r>
            <a:r>
              <a:rPr sz="860" b="1">
                <a:solidFill>
                  <a:srgbClr val="3A302A"/>
                </a:solidFill>
                <a:latin typeface="Consolas"/>
              </a:rPr>
              <a:t>app.vectorstore.search</a:t>
            </a:r>
            <a:r>
              <a:rPr sz="880" b="0">
                <a:solidFill>
                  <a:srgbClr val="6B5D52"/>
                </a:solidFill>
                <a:latin typeface="Malgun Gothic"/>
              </a:rPr>
              <a:t>로 통일한다(week09~11 공통).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STEP 1 ·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1부 · 상태·메시지 자료구조 (1단계)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05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app/agents/state.py — 공유 상태 + 관찰용 메시지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4315968"/>
          </a:xfrm>
          <a:prstGeom prst="roundRect">
            <a:avLst>
              <a:gd name="adj" fmla="val 211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9FD8CB"/>
                </a:solidFill>
                <a:latin typeface="Consolas"/>
              </a:rPr>
              <a:t># app/agents/state.py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import time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from dataclasses import dataclass, field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9FD8CB"/>
                </a:solidFill>
                <a:latin typeface="Consolas"/>
              </a:rPr>
              <a:t>@dataclass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class AgentMessage: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sender: str      # orchestrator|researcher|writer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recipient: str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kind: str        # instruction|result|error|human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content: str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ts: float = field(default_factory=time.time)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9FD8CB"/>
                </a:solidFill>
                <a:latin typeface="Consolas"/>
              </a:rPr>
              <a:t>@dataclass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class Finding:      # writer가 인용할 근거 한 조각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claim: str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source: str     # 문서명/URL 등 출처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813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단일 상태 객체 ReportState + emit()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4617720" cy="3108960"/>
          </a:xfrm>
          <a:prstGeom prst="roundRect">
            <a:avLst>
              <a:gd name="adj" fmla="val 294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194560"/>
            <a:ext cx="4160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9FD8CB"/>
                </a:solidFill>
                <a:latin typeface="Consolas"/>
              </a:rPr>
              <a:t>@dataclass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class ReportState: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topic: str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findings: list[Finding] = field(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    default_factory=list)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report: str = ""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approved: bool = False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log: list[AgentMessage] = field(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    default_factory=list)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    def emit(self, msg: AgentMessage):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    self.log.append(msg)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    print(msg.pretty(), flush=True)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5010912"/>
            <a:ext cx="4617720" cy="969264"/>
          </a:xfrm>
          <a:prstGeom prst="roundRect">
            <a:avLst>
              <a:gd name="adj" fmla="val 849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5010912"/>
            <a:ext cx="128016" cy="969264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5102352"/>
            <a:ext cx="41605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관찰 가능성이 핵심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A302A"/>
                </a:solidFill>
                <a:latin typeface="Malgun Gothic"/>
              </a:rPr>
              <a:t>모든 단계가 </a:t>
            </a:r>
            <a:r>
              <a:rPr sz="880" b="1">
                <a:solidFill>
                  <a:srgbClr val="3A302A"/>
                </a:solidFill>
                <a:latin typeface="Consolas"/>
              </a:rPr>
              <a:t>state.log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에 append + 콘솔에 즉시 찍혀 협업 흐름을 실시간 관찰.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STEP 2 ·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1부 · 도구 정의 (2단계)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06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app/agents/tools.py — week08 RAG + week10 tools 재사용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4315968"/>
          </a:xfrm>
          <a:prstGeom prst="roundRect">
            <a:avLst>
              <a:gd name="adj" fmla="val 211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# app/agents/tools.py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# week08 벡터DB 검색을 이 경로로 통일(공통)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from app.vectorstore import search \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    as _vector_search   # week08 산출물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def rag_search(query: str, k: int = 4) -&gt; list[dict]: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hits = _vector_search(query, top_k=k)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    # search는 이미 list[dict]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    #   (text, source, score)를 반환한다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return [{"text": h["text"],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       "source": h.get("source","unknown")}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      for h in hits]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def keyword_lookup(term: str) -&gt; dict: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    # (week10 외부 도구 예시) 짧은 정의 반환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return {"term": term,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      "definition": glossary.get(...)}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813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function calling 스키마 + 함수 매핑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4617720" cy="2834640"/>
          </a:xfrm>
          <a:prstGeom prst="roundRect">
            <a:avLst>
              <a:gd name="adj" fmla="val 322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194560"/>
            <a:ext cx="4160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TOOL_SCHEMAS = [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{"type": "function", "function": {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 "name": "rag_search",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 "description": "문서 벡터DB 검색",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"parameters": {"type": "object",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 "properties": {"query": {...},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                "k": {...}},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 "required": ["query"]}}},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  # keyword_lookup 스키마도 동일 형식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]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TOOL_IMPL = {"rag_search": rag_search,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"keyword_lookup": keyword_lookup}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718304"/>
            <a:ext cx="4617720" cy="1261872"/>
          </a:xfrm>
          <a:prstGeom prst="roundRect">
            <a:avLst>
              <a:gd name="adj" fmla="val 652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718304"/>
            <a:ext cx="128016" cy="1261872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828032"/>
            <a:ext cx="4160520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확인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860" b="0">
                <a:solidFill>
                  <a:srgbClr val="3A302A"/>
                </a:solidFill>
                <a:latin typeface="Consolas"/>
              </a:rPr>
              <a:t>rag_search('agent', k=2)</a:t>
            </a:r>
            <a:r>
              <a:rPr sz="900" b="1">
                <a:solidFill>
                  <a:srgbClr val="3A302A"/>
                </a:solidFill>
                <a:latin typeface="Malgun Gothic"/>
              </a:rPr>
              <a:t> → 조각 2개 리스트.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week08을 먼저 완료해 문서가 인덱싱돼 있어야 실제 조각이 나온다.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STEP 3 · RESEARCHER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2부 · researcher 에이전트 (3단계)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07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app/agents/researcher.py — RAG+도구 ReAct 루프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4315968"/>
          </a:xfrm>
          <a:prstGeom prst="roundRect">
            <a:avLst>
              <a:gd name="adj" fmla="val 211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MAX_TOOL_TURNS = 5   # 무한 루프 방지 상한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def run_researcher(state: ReportState) -&gt; None: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messages = [{"role":"system",...},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{"role":"user","content":state.topic}]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for turn in range(MAX_TOOL_TURNS):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resp = client.chat.completions.create(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model=MODEL, messages=messages,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tools=TOOL_SCHEMAS, tool_choice="auto")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choice = resp.choices[0].message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    # (a) 도구 호출 없으면 findings JSON 파싱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if not choice.tool_calls: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state.findings = _parse_findings(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    choice.content or "{}")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return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  # 상한 도달 → RAG 폴백으로 마무리(실패 복구)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_rag_fallback(state)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813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(b) tool_calls를 dict로 재구성해 append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4617720" cy="2761488"/>
          </a:xfrm>
          <a:prstGeom prst="roundRect">
            <a:avLst>
              <a:gd name="adj" fmla="val 331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194560"/>
            <a:ext cx="4160520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9FD8CB"/>
                </a:solidFill>
                <a:latin typeface="Consolas"/>
              </a:rPr>
              <a:t># week09와 동일: SDK 객체 직접 append 금지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3EAE0"/>
                </a:solidFill>
                <a:latin typeface="Consolas"/>
              </a:rPr>
              <a:t>messages.append({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4A78C"/>
                </a:solidFill>
                <a:latin typeface="Consolas"/>
              </a:rPr>
              <a:t>  "role": "assistant",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4A78C"/>
                </a:solidFill>
                <a:latin typeface="Consolas"/>
              </a:rPr>
              <a:t>  "content": choice.content,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3EAE0"/>
                </a:solidFill>
                <a:latin typeface="Consolas"/>
              </a:rPr>
              <a:t>  "tool_calls": [{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4A78C"/>
                </a:solidFill>
                <a:latin typeface="Consolas"/>
              </a:rPr>
              <a:t>    "id": call.id, "type": "function",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4A78C"/>
                </a:solidFill>
                <a:latin typeface="Consolas"/>
              </a:rPr>
              <a:t>    "function": {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4A78C"/>
                </a:solidFill>
                <a:latin typeface="Consolas"/>
              </a:rPr>
              <a:t>      "name": call.function.name,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4A78C"/>
                </a:solidFill>
                <a:latin typeface="Consolas"/>
              </a:rPr>
              <a:t>      "arguments":call.function.arguments}}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3EAE0"/>
                </a:solidFill>
                <a:latin typeface="Consolas"/>
              </a:rPr>
              <a:t>    for call in choice.tool_calls]})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9FD8CB"/>
                </a:solidFill>
                <a:latin typeface="Consolas"/>
              </a:rPr>
              <a:t># 각 도구 실행 후 role=tool 메시지로 되먹임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3EAE0"/>
                </a:solidFill>
                <a:latin typeface="Consolas"/>
              </a:rPr>
              <a:t>result = TOOL_IMPL[name](**args)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645152"/>
            <a:ext cx="4617720" cy="1335024"/>
          </a:xfrm>
          <a:prstGeom prst="roundRect">
            <a:avLst>
              <a:gd name="adj" fmla="val 6164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645152"/>
            <a:ext cx="128016" cy="1335024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754880"/>
            <a:ext cx="4160520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왜 dict로 재구성?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SDK 응답 객체를 그대로 append하면 다음 요청에서 직렬화가 깨진다. </a:t>
            </a:r>
            <a:r>
              <a:rPr sz="880" b="1">
                <a:solidFill>
                  <a:srgbClr val="3A302A"/>
                </a:solidFill>
                <a:latin typeface="Malgun Gothic"/>
              </a:rPr>
              <a:t>id·name·arguments만 dict로 보존</a:t>
            </a:r>
            <a:r>
              <a:rPr sz="880" b="0">
                <a:solidFill>
                  <a:srgbClr val="6B5D52"/>
                </a:solidFill>
                <a:latin typeface="Malgun Gothic"/>
              </a:rPr>
              <a:t>한다. 도구 실패도 예외로 죽이지 않고 모델에 되먹여 스스로 복구.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STEP 4 · WRITER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2부 · writer 에이전트 (4단계)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08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app/agents/writer.py — findings만 근거로 마크다운 작성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4315968"/>
          </a:xfrm>
          <a:prstGeom prst="roundRect">
            <a:avLst>
              <a:gd name="adj" fmla="val 211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# app/agents/writer.py  (도구를 쓰지 않는다)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SYSTEM = (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"Write a Korean report in Markdown"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"using ONLY the provided findings."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"Do not invent facts beyond them."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  # 제목/요약/본문([source] 표기)/참고 출처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def run_writer(state: ReportState) -&gt; None: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evidence = "\n".join(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f"- {f.claim} [source: {f.source}]"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for f in state.findings) or "(근거 없음)"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resp = client.chat.completions.create(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model=MODEL, temperature=0.4,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messages=[{...SYSTEM...},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{"role":"user","content":evidence}])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state.report = resp.choices[0].message.content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737360"/>
            <a:ext cx="4617720" cy="1920240"/>
          </a:xfrm>
          <a:prstGeom prst="roundRect">
            <a:avLst>
              <a:gd name="adj" fmla="val 428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128016" cy="1920240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847088"/>
            <a:ext cx="4206240" cy="1700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환각 억제가 설계 목표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0">
                <a:solidFill>
                  <a:srgbClr val="6B5D52"/>
                </a:solidFill>
                <a:latin typeface="Malgun Gothic"/>
              </a:rPr>
              <a:t>writer는 검색·도구를 전혀 쓰지 않는다. </a:t>
            </a:r>
            <a:r>
              <a:rPr sz="919" b="1">
                <a:solidFill>
                  <a:srgbClr val="3A302A"/>
                </a:solidFill>
                <a:latin typeface="Malgun Gothic"/>
              </a:rPr>
              <a:t>오직 researcher가 모은 findings만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 근거로 쓴다.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0">
                <a:solidFill>
                  <a:srgbClr val="6B5D52"/>
                </a:solidFill>
                <a:latin typeface="Malgun Gothic"/>
              </a:rPr>
              <a:t>"주어진 근거 밖 사실은 쓰지 말라" + temperature 0.4로 억제.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findings가 비면 정직하게 "근거 없음"을 밝힌다.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803904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researcher vs writer 역할 대비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4114800"/>
            <a:ext cx="4617720" cy="896112"/>
          </a:xfrm>
          <a:prstGeom prst="roundRect">
            <a:avLst>
              <a:gd name="adj" fmla="val 8163"/>
            </a:avLst>
          </a:prstGeom>
          <a:solidFill>
            <a:srgbClr val="FBF2E6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0" y="4114800"/>
            <a:ext cx="128016" cy="896112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4206240"/>
            <a:ext cx="4206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Consolas"/>
              </a:rPr>
              <a:t>researcher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RAG+도구 사용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  ·  </a:t>
            </a:r>
            <a:r>
              <a:rPr sz="900" b="1">
                <a:solidFill>
                  <a:srgbClr val="D98E6A"/>
                </a:solidFill>
                <a:latin typeface="Malgun Gothic"/>
              </a:rPr>
              <a:t>findings 수집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5084064"/>
            <a:ext cx="4617720" cy="896112"/>
          </a:xfrm>
          <a:prstGeom prst="roundRect">
            <a:avLst>
              <a:gd name="adj" fmla="val 8163"/>
            </a:avLst>
          </a:prstGeom>
          <a:solidFill>
            <a:srgbClr val="FBF2E6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0" y="5084064"/>
            <a:ext cx="128016" cy="896112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5175504"/>
            <a:ext cx="4206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Consolas"/>
              </a:rPr>
              <a:t>writer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도구 없음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  ·  </a:t>
            </a:r>
            <a:r>
              <a:rPr sz="900" b="1">
                <a:solidFill>
                  <a:srgbClr val="D98E6A"/>
                </a:solidFill>
                <a:latin typeface="Malgun Gothic"/>
              </a:rPr>
              <a:t>findings→보고서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STEP 5 · 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2부 · 오케스트레이터 + 실패복구 + HITL (5단계)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09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app/agents/orchestrator.py — 각 워커를 try/except로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4315968"/>
          </a:xfrm>
          <a:prstGeom prst="roundRect">
            <a:avLst>
              <a:gd name="adj" fmla="val 211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def run_report(topic: str,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        require_human_approval=False)-&gt;ReportState: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state = ReportState(topic=topic)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  # (1) 수집 — 실패해도 폴백으로 계속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try: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run_researcher(state)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except Exception as exc: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from app.agents.researcher import _rag_fallback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_rag_fallback(state)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  # (2) 휴먼 인 더 루프 — 승인해야 작성으로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if require_human_approval: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state.approved = _ask_human(state)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if not state.approved: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  return state   # 반려 → 작성 중단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  # (3) 작성 단계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try: run_writer(state)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except Exception: state.report = "(생성 실패)"</a:t>
            </a:r>
          </a:p>
          <a:p>
            <a:pPr algn="l">
              <a:lnSpc>
                <a:spcPct val="84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return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813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실행 확인 — 협업 로그가 순서대로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4617720" cy="3054096"/>
          </a:xfrm>
          <a:prstGeom prst="roundRect">
            <a:avLst>
              <a:gd name="adj" fmla="val 2994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194560"/>
            <a:ext cx="4160520" cy="2505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F6D186"/>
                </a:solidFill>
                <a:latin typeface="Consolas"/>
              </a:rPr>
              <a:t>$ python -c "from app.agents.orchestrator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F6D186"/>
                </a:solidFill>
                <a:latin typeface="Consolas"/>
              </a:rPr>
              <a:t>    import run_report; run_report(...)"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[  user -&gt; orchestrator] (instruction)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[orchestrator -&gt; researcher] (instruction)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[researcher -&gt; tool:rag_search](instruction)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[researcher -&gt; orchestrator] (result)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9FD8CB"/>
                </a:solidFill>
                <a:latin typeface="Consolas"/>
              </a:rPr>
              <a:t>    4개 근거 수집 완료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[orchestrator -&gt; writer] (instruction)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[writer -&gt; orchestrator] (result)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9FD8CB"/>
                </a:solidFill>
                <a:latin typeface="Consolas"/>
              </a:rPr>
              <a:t>    보고서 812자 작성 완료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===== REPORT =====  # docpilot의 RAG 구조 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937760"/>
            <a:ext cx="4617720" cy="1042415"/>
          </a:xfrm>
          <a:prstGeom prst="roundRect">
            <a:avLst>
              <a:gd name="adj" fmla="val 7894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937760"/>
            <a:ext cx="128016" cy="1042415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5029200"/>
            <a:ext cx="416052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HITL — _ask_human()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CLI에서 근거를 보여주고 </a:t>
            </a:r>
            <a:r>
              <a:rPr sz="860" b="1">
                <a:solidFill>
                  <a:srgbClr val="3A302A"/>
                </a:solidFill>
                <a:latin typeface="Consolas"/>
              </a:rPr>
              <a:t>input()</a:t>
            </a:r>
            <a:r>
              <a:rPr sz="880" b="0">
                <a:solidFill>
                  <a:srgbClr val="6B5D52"/>
                </a:solidFill>
                <a:latin typeface="Malgun Gothic"/>
              </a:rPr>
              <a:t>으로 승인/반려. HTTP는 블로킹되므로 API는 False로 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STEP 6 · /report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2부 · /report 엔드포인트 연결 (6단계)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10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app/main.py — /ask · /agent 옆에 라우트 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4315968"/>
          </a:xfrm>
          <a:prstGeom prst="roundRect">
            <a:avLst>
              <a:gd name="adj" fmla="val 211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# app/main.py 에 추가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from app.agents.orchestrator import run_report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class ReportRequest(BaseModel):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topic: str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require_human_approval: bool = False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class ReportResponse(BaseModel):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topic: str; report: str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findings: list[dict]; log: list[str]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@app.post("/report", response_model=ReportResponse)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def report(req: ReportRequest = Body(...)):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state = run_report(req.topic,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require_human_approval=req.require_human_approval)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return ReportResponse(topic=state.topic,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report=state.report, findings=[...],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log=[m.pretty() for m in state.log])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813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서버 실행 + 호출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4617720" cy="2286000"/>
          </a:xfrm>
          <a:prstGeom prst="roundRect">
            <a:avLst>
              <a:gd name="adj" fmla="val 4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194560"/>
            <a:ext cx="4160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$ uvicorn app.main:app --reload --port 8000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>
                <a:solidFill>
                  <a:srgbClr val="9FD8CB"/>
                </a:solidFill>
                <a:latin typeface="Consolas"/>
              </a:rPr>
              <a:t># 다른 터미널에서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$ curl -s -X POST \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   localhost:8000/report \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   -H 'Content-Type: application/json' \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>
                <a:solidFill>
                  <a:srgbClr val="F4A78C"/>
                </a:solidFill>
                <a:latin typeface="Consolas"/>
              </a:rPr>
              <a:t>   -d '{"topic":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>
                <a:solidFill>
                  <a:srgbClr val="F4A78C"/>
                </a:solidFill>
                <a:latin typeface="Consolas"/>
              </a:rPr>
              <a:t>     "docpilot Agent 아키텍처 요약"}' \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   | python -m json.tool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169663"/>
            <a:ext cx="4617720" cy="1810512"/>
          </a:xfrm>
          <a:prstGeom prst="roundRect">
            <a:avLst>
              <a:gd name="adj" fmla="val 454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169663"/>
            <a:ext cx="128016" cy="1810512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279392"/>
            <a:ext cx="4160520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응답에 협업 로그를 포함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880" b="1">
                <a:solidFill>
                  <a:srgbClr val="3A302A"/>
                </a:solidFill>
                <a:latin typeface="Consolas"/>
              </a:rPr>
              <a:t>report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(마크다운) · </a:t>
            </a:r>
            <a:r>
              <a:rPr sz="880" b="1">
                <a:solidFill>
                  <a:srgbClr val="3A302A"/>
                </a:solidFill>
                <a:latin typeface="Consolas"/>
              </a:rPr>
              <a:t>findings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(근거 배열) · </a:t>
            </a:r>
            <a:r>
              <a:rPr sz="880" b="1">
                <a:solidFill>
                  <a:srgbClr val="3A302A"/>
                </a:solidFill>
                <a:latin typeface="Consolas"/>
              </a:rPr>
              <a:t>log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(협업 로그)이 JSON으로 반환된다.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880" b="1">
                <a:solidFill>
                  <a:srgbClr val="3A302A"/>
                </a:solidFill>
                <a:latin typeface="Malgun Gothic"/>
              </a:rPr>
              <a:t>참고: HITL은 input()으로 블로킹 → HTTP에는 부적합. API는 False로 두고 HITL은 CLI(5단계)에서 시연.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3 · LANGGRAPH · 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3부 · LangGraph 버전 (7~9단계)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11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457200"/>
            <a:ext cx="2743200" cy="475488"/>
          </a:xfrm>
          <a:prstGeom prst="roundRect">
            <a:avLst>
              <a:gd name="adj" fmla="val 48076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50292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선택 / 도전 — 건너뛰어도 무방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17904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app/agents/graph_report.py — StateGraph 선언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810512"/>
            <a:ext cx="5989320" cy="3657600"/>
          </a:xfrm>
          <a:prstGeom prst="roundRect">
            <a:avLst>
              <a:gd name="adj" fmla="val 25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6968" y="1975104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" y="1975104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9032" y="1975104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267712"/>
            <a:ext cx="55321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from langgraph.graph import END, START, StateGraph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from app.agents.researcher import run_researcher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from app.agents.writer import run_writer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class GraphState(TypedDict):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topic: str; findings: list[dict]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report: str; approved: bool; log: list[str]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def build_graph():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g = StateGraph(GraphState)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g.add_node("research", researcher_node)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g.add_node("write", writer_node)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g.add_edge(START, "research")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g.add_conditional_edges("research",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approval_gate, {"write":"write","skip":END})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g.add_edge("write", END); return g.compile()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517904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run_researcher/run_writer를 그대로 재사용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810512"/>
            <a:ext cx="4617720" cy="2286000"/>
          </a:xfrm>
          <a:prstGeom prst="roundRect">
            <a:avLst>
              <a:gd name="adj" fmla="val 4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59168" y="1975104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1975104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71231" y="1975104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2267712"/>
            <a:ext cx="4160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6D186"/>
                </a:solidFill>
                <a:latin typeface="Consolas"/>
              </a:rPr>
              <a:t>def researcher_node(gs)-&gt;GraphState: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3EAE0"/>
                </a:solidFill>
                <a:latin typeface="Consolas"/>
              </a:rPr>
              <a:t>  st = _to_report_state(gs)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3EAE0"/>
                </a:solidFill>
                <a:latin typeface="Consolas"/>
              </a:rPr>
              <a:t>  try: run_researcher(st)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3EAE0"/>
                </a:solidFill>
                <a:latin typeface="Consolas"/>
              </a:rPr>
              <a:t>  except Exception: _rag_fallback(st)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3EAE0"/>
                </a:solidFill>
                <a:latin typeface="Consolas"/>
              </a:rPr>
              <a:t>  return {**gs, "findings":[...],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3EAE0"/>
                </a:solidFill>
                <a:latin typeface="Consolas"/>
              </a:rPr>
              <a:t>    "log": gs["log"]+[m.pretty()...]}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6D186"/>
                </a:solidFill>
                <a:latin typeface="Consolas"/>
              </a:rPr>
              <a:t>def approval_gate(gs) -&gt; str: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9FD8CB"/>
                </a:solidFill>
                <a:latin typeface="Consolas"/>
              </a:rPr>
              <a:t>  # 근거 있으면 write, 없으면 skip(END)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3EAE0"/>
                </a:solidFill>
                <a:latin typeface="Consolas"/>
              </a:rPr>
              <a:t>  return "write" if gs["findings"] else "skip"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4242816"/>
            <a:ext cx="4617720" cy="1737360"/>
          </a:xfrm>
          <a:prstGeom prst="roundRect">
            <a:avLst>
              <a:gd name="adj" fmla="val 473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0" y="4242816"/>
            <a:ext cx="128016" cy="173736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4352544"/>
            <a:ext cx="4160520" cy="1517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raw ↔ graph 비교 + 9단계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노드는 항상 </a:t>
            </a:r>
            <a:r>
              <a:rPr sz="860" b="1">
                <a:solidFill>
                  <a:srgbClr val="3A302A"/>
                </a:solidFill>
                <a:latin typeface="Consolas"/>
              </a:rPr>
              <a:t>{**gs, ...}</a:t>
            </a:r>
            <a:r>
              <a:rPr sz="880" b="0">
                <a:solidFill>
                  <a:srgbClr val="6B5D52"/>
                </a:solidFill>
                <a:latin typeface="Malgun Gothic"/>
              </a:rPr>
              <a:t>로 상태를 보존해 반환한다(KeyError 방지).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860" b="1">
                <a:solidFill>
                  <a:srgbClr val="3A302A"/>
                </a:solidFill>
                <a:latin typeface="Consolas"/>
              </a:rPr>
              <a:t>/report/graph</a:t>
            </a:r>
            <a:r>
              <a:rPr sz="880" b="0">
                <a:solidFill>
                  <a:srgbClr val="6B5D52"/>
                </a:solidFill>
                <a:latin typeface="Malgun Gothic"/>
              </a:rPr>
              <a:t> 라우트를 추가해 두 구현을 나란히 제공. 근거 0개면 write를 건너뛰고 종료(조건부 엣지 동작).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TROUBLESHOOTING · FINALE ·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트러블슈팅 · 과제 · 다음 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11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트러블슈팅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56816"/>
            <a:ext cx="5532120" cy="347472"/>
          </a:xfrm>
          <a:prstGeom prst="roundRect">
            <a:avLst>
              <a:gd name="adj" fmla="val 131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2286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증상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975104"/>
            <a:ext cx="31546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해결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5532120" cy="484632"/>
          </a:xfrm>
          <a:prstGeom prst="roundRect">
            <a:avLst>
              <a:gd name="adj" fmla="val 7547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31720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ImportError / 빈 검색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331720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from app.vectorstore import search 통일 + week08 인덱싱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39212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도구 안 부르고 바로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839212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SYSTEM에 rag_search 강조 · tool_choice 강제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46704"/>
            <a:ext cx="5532120" cy="484632"/>
          </a:xfrm>
          <a:prstGeom prst="roundRect">
            <a:avLst>
              <a:gd name="adj" fmla="val 7547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46704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무한 tool-calling / 비용 폭증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346704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MAX_TOOL_TURNS 상한 · _rag_fallback 마무리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54196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_parse_findings 빈 리스트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854196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removeprefix + response_format json_object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361688"/>
            <a:ext cx="5532120" cy="484632"/>
          </a:xfrm>
          <a:prstGeom prst="roundRect">
            <a:avLst>
              <a:gd name="adj" fmla="val 7547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61688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writer가 근거 밖 지어냄(환각)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361688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ONLY findings 강조 · temperature 낮추기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869179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LangGraph KeyError on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869179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노드는 항상 {**gs, ...}로 상태 보존 반환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376671"/>
            <a:ext cx="5532120" cy="484632"/>
          </a:xfrm>
          <a:prstGeom prst="roundRect">
            <a:avLst>
              <a:gd name="adj" fmla="val 7547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76671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API가 HITL input()에서 멈춤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376671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API는 approval=False · HITL은 CLI에서만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과제 · 블록 3 미니 과제 = 피날레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1956816"/>
            <a:ext cx="4983480" cy="2286000"/>
          </a:xfrm>
          <a:prstGeom prst="roundRect">
            <a:avLst>
              <a:gd name="adj" fmla="val 359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92240" y="1956816"/>
            <a:ext cx="128016" cy="2286000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2066543"/>
            <a:ext cx="4572000" cy="20665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D98E6A"/>
                </a:solidFill>
                <a:latin typeface="Malgun Gothic"/>
              </a:rPr>
              <a:t>reviewer 에이전트로 3-에이전트 협업 확장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1. </a:t>
            </a:r>
            <a:r>
              <a:rPr sz="900" b="0">
                <a:solidFill>
                  <a:srgbClr val="3A302A"/>
                </a:solidFill>
                <a:latin typeface="Malgun Gothic"/>
              </a:rPr>
              <a:t>run_reviewer(state): 보고서 주장이 findings로 뒷받침되는지 검증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2. </a:t>
            </a:r>
            <a:r>
              <a:rPr sz="900" b="0">
                <a:solidFill>
                  <a:srgbClr val="3A302A"/>
                </a:solidFill>
                <a:latin typeface="Malgun Gothic"/>
              </a:rPr>
              <a:t>researcher→writer→reviewer 확장 + "수정 필요"면 writer 재호출(최대 2회)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3. </a:t>
            </a:r>
            <a:r>
              <a:rPr sz="900" b="0">
                <a:solidFill>
                  <a:srgbClr val="3A302A"/>
                </a:solidFill>
                <a:latin typeface="Malgun Gothic"/>
              </a:rPr>
              <a:t>/report 응답에 review 결과(통과/수정사항) 포함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4. 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(선택/도전) LangGraph에 review 노드 + 조건부 엣지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4334256"/>
            <a:ext cx="4983480" cy="530352"/>
          </a:xfrm>
          <a:prstGeom prst="roundRect">
            <a:avLst>
              <a:gd name="adj" fmla="val 13793"/>
            </a:avLst>
          </a:prstGeom>
          <a:solidFill>
            <a:srgbClr val="D98E6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370832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제출물: </a:t>
            </a:r>
            <a:r>
              <a:rPr sz="840" b="0">
                <a:solidFill>
                  <a:srgbClr val="3A302A"/>
                </a:solidFill>
                <a:latin typeface="Malgun Gothic"/>
              </a:rPr>
              <a:t>reviewer.py · 수정 orchestrator/main · week11-과제.md · 재작성 루프 로그 1건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974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B5D52"/>
                </a:solidFill>
                <a:latin typeface="Malgun Gothic"/>
              </a:rPr>
              <a:t>핵심 체크리스트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28523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19" b="0">
                <a:solidFill>
                  <a:srgbClr val="3A302A"/>
                </a:solidFill>
                <a:latin typeface="Malgun Gothic"/>
              </a:rPr>
              <a:t>ReportState/AgentMessage 상태전달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528523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19" b="0">
                <a:solidFill>
                  <a:srgbClr val="3A302A"/>
                </a:solidFill>
                <a:latin typeface="Malgun Gothic"/>
              </a:rPr>
              <a:t>researcher: RAG+도구 루프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55955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19" b="0">
                <a:solidFill>
                  <a:srgbClr val="3A302A"/>
                </a:solidFill>
                <a:latin typeface="Malgun Gothic"/>
              </a:rPr>
              <a:t>writer: findings만(환각 억제)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555955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19" b="0">
                <a:solidFill>
                  <a:srgbClr val="3A302A"/>
                </a:solidFill>
                <a:latin typeface="Malgun Gothic"/>
              </a:rPr>
              <a:t>오케스트레이터 폴백+HITL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83387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19" b="0">
                <a:solidFill>
                  <a:srgbClr val="3A302A"/>
                </a:solidFill>
                <a:latin typeface="Malgun Gothic"/>
              </a:rPr>
              <a:t>/report(raw) 동작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583387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19" b="0">
                <a:solidFill>
                  <a:srgbClr val="3A302A"/>
                </a:solidFill>
                <a:latin typeface="Malgun Gothic"/>
              </a:rPr>
              <a:t>협업 로그 관찰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6089904"/>
            <a:ext cx="5532120" cy="475488"/>
          </a:xfrm>
          <a:prstGeom prst="roundRect">
            <a:avLst>
              <a:gd name="adj" fmla="val 15384"/>
            </a:avLst>
          </a:prstGeom>
          <a:solidFill>
            <a:srgbClr val="9FD8CB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6126480"/>
            <a:ext cx="5212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다음 주 → Week 12  통합 배포 &amp; 몰입형 프로젝트 킥오프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0" y="6089904"/>
            <a:ext cx="4983480" cy="475488"/>
          </a:xfrm>
          <a:prstGeom prst="roundRect">
            <a:avLst>
              <a:gd name="adj" fmla="val 15384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612648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A302A"/>
                </a:solidFill>
                <a:latin typeface="Malgun Gothic"/>
              </a:rPr>
              <a:t>docpilot 전체를 K8s 통합 배포 · </a:t>
            </a:r>
            <a:r>
              <a:rPr sz="960" b="1">
                <a:solidFill>
                  <a:srgbClr val="3A302A"/>
                </a:solidFill>
                <a:latin typeface="Malgun Gothic"/>
              </a:rPr>
              <a:t>4주 몰입형 프로젝트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