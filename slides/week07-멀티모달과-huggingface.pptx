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1371600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310896" cy="13716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310896" cy="13716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114800"/>
            <a:ext cx="310896" cy="13716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310896" cy="13716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49840" y="640080"/>
            <a:ext cx="1554480" cy="1554480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81360" y="1554480"/>
            <a:ext cx="914400" cy="914400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>
            <a:off x="9784080" y="1828800"/>
            <a:ext cx="822960" cy="822960"/>
          </a:xfrm>
          <a:prstGeom prst="teardrop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298448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344168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CLOUD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75104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98E6A"/>
                </a:solidFill>
                <a:latin typeface="Malgun Gothic"/>
              </a:rPr>
              <a:t>Week 07  ·  블록 2 계속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10241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3A302A"/>
                </a:solidFill>
                <a:latin typeface="Malgun Gothic"/>
              </a:rPr>
              <a:t>텍스트 너머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21868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98E6A"/>
                </a:solidFill>
                <a:latin typeface="Malgun Gothic"/>
              </a:rPr>
              <a:t>— 이미지 · 음성 · 임베딩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136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5D52"/>
                </a:solidFill>
                <a:latin typeface="Malgun Gothic"/>
              </a:rPr>
              <a:t>멀티모달(캡셔닝 · ASR) · Hugging Face 생태계 · 임베딩과 코사인 유사도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407408"/>
            <a:ext cx="9692640" cy="1051560"/>
          </a:xfrm>
          <a:prstGeom prst="roundRect">
            <a:avLst>
              <a:gd name="adj" fmla="val 782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4407408"/>
            <a:ext cx="128016" cy="105156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535424"/>
            <a:ext cx="9144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오늘의 한 줄  </a:t>
            </a:r>
            <a:r>
              <a:rPr sz="1350" b="0">
                <a:solidFill>
                  <a:srgbClr val="3A302A"/>
                </a:solidFill>
                <a:latin typeface="Malgun Gothic"/>
              </a:rPr>
              <a:t>텍스트만 다루던 docpilot에 이미지/음성을 이해하는 능력과, 다음 주 RAG의 연료가 될 텍스트 임베딩을 더한다.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지난주 /chat이 "글자를 만드는" 능력이었다면, 이번 주는 다른 형태를 이해하고 문장을 숫자 벡터로 바꾼다.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61441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5D52"/>
                </a:solidFill>
                <a:latin typeface="Malgun Gothic"/>
              </a:rPr>
              <a:t>docpilot 진화:  </a:t>
            </a:r>
            <a:r>
              <a:rPr sz="1200" b="0">
                <a:solidFill>
                  <a:srgbClr val="3A302A"/>
                </a:solidFill>
                <a:latin typeface="Malgun Gothic"/>
              </a:rPr>
              <a:t>/chat(생성)  →  /embed(임베딩) · /caption · /transcribe(멀티모달)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6053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★ 이번 주 임베딩이 </a:t>
            </a:r>
            <a:r>
              <a:rPr sz="1150" b="0">
                <a:solidFill>
                  <a:srgbClr val="6B5D52"/>
                </a:solidFill>
                <a:latin typeface="Malgun Gothic"/>
              </a:rPr>
              <a:t>week08 RAG 파이프라인의 첫 부품이 된다 — 검색의 심장.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학습 목표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07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02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10512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10512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8408" y="2194560"/>
            <a:ext cx="530352" cy="53035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9456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1901952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멀티모달 개념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이미지/음성/비전과 대표 태스크(captioning, ASR)를 예로 설명한다.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10512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810512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56248" y="2194560"/>
            <a:ext cx="530352" cy="530352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19456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1901952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HF 생태계 구분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Hub · transformers · Inference API · 임베딩 모델을 구성 요소별로 설명한다.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46120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246120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3630168"/>
            <a:ext cx="530352" cy="53035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63016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3337560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자체호스팅 vs 매니지드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local transformers와 Inference API의 트레이드오프를 설명한다.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246120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3246120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56248" y="3630168"/>
            <a:ext cx="530352" cy="530352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63016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3337560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멀티모달 엔드포인트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docpilot에 이미지 캡셔닝 또는 음성→텍스트 엔드포인트를 추가한다.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81728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4681728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8408" y="5065776"/>
            <a:ext cx="530352" cy="530352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506577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3352" y="4773168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임베딩과 유사도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HF 임베딩 모델로 텍스트를 벡터로 바꾸고 유사도를 계산한다(RAG 준비).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681728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63640" y="4681728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56248" y="5065776"/>
            <a:ext cx="530352" cy="530352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506577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1192" y="4773168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RAG로 이어짐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이번 주 /embed가 week08 벡터DB·검색 파이프라인의 씨앗이 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CONCEPTS ·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개념 (요약)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07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03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① 멀티모달 — 모달리티와 대표 태스크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532120" cy="347472"/>
          </a:xfrm>
          <a:prstGeom prst="roundRect">
            <a:avLst>
              <a:gd name="adj" fmla="val 131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56816"/>
            <a:ext cx="21031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A302A"/>
                </a:solidFill>
                <a:latin typeface="Malgun Gothic"/>
              </a:rPr>
              <a:t>태스크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956816"/>
            <a:ext cx="3200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A302A"/>
                </a:solidFill>
                <a:latin typeface="Malgun Gothic"/>
              </a:rPr>
              <a:t>예 모델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31720"/>
            <a:ext cx="5532120" cy="402336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331720"/>
            <a:ext cx="2103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30" b="1">
                <a:solidFill>
                  <a:srgbClr val="3A302A"/>
                </a:solidFill>
                <a:latin typeface="Malgun Gothic"/>
              </a:rPr>
              <a:t>이미지 캡셔닝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331720"/>
            <a:ext cx="31546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40" b="0">
                <a:solidFill>
                  <a:srgbClr val="3A302A"/>
                </a:solidFill>
                <a:latin typeface="Consolas"/>
              </a:rPr>
              <a:t>Salesforce/blip-image-captioning-base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770632"/>
            <a:ext cx="2103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30" b="1">
                <a:solidFill>
                  <a:srgbClr val="3A302A"/>
                </a:solidFill>
                <a:latin typeface="Malgun Gothic"/>
              </a:rPr>
              <a:t>음성 인식(ASR)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770632"/>
            <a:ext cx="31546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40" b="0">
                <a:solidFill>
                  <a:srgbClr val="3A302A"/>
                </a:solidFill>
                <a:latin typeface="Consolas"/>
              </a:rPr>
              <a:t>openai/whisper-small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09544"/>
            <a:ext cx="5532120" cy="402336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09544"/>
            <a:ext cx="2103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30" b="1">
                <a:solidFill>
                  <a:srgbClr val="3A302A"/>
                </a:solidFill>
                <a:latin typeface="Malgun Gothic"/>
              </a:rPr>
              <a:t>비전 QA / MLLM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209544"/>
            <a:ext cx="31546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40" b="0">
                <a:solidFill>
                  <a:srgbClr val="3A302A"/>
                </a:solidFill>
                <a:latin typeface="Consolas"/>
              </a:rPr>
              <a:t>GPT-4o · Gemini(비전)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648456"/>
            <a:ext cx="2103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30" b="1">
                <a:solidFill>
                  <a:srgbClr val="3A302A"/>
                </a:solidFill>
                <a:latin typeface="Malgun Gothic"/>
              </a:rPr>
              <a:t>텍스트 임베딩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648456"/>
            <a:ext cx="31546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40" b="0">
                <a:solidFill>
                  <a:srgbClr val="3A302A"/>
                </a:solidFill>
                <a:latin typeface="Consolas"/>
              </a:rPr>
              <a:t>sentence-transformers/all-MiniLM-L6-v2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14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② Hugging Face 생태계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425696"/>
            <a:ext cx="5532120" cy="1828800"/>
          </a:xfrm>
          <a:prstGeom prst="roundRect">
            <a:avLst>
              <a:gd name="adj" fmla="val 45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4425696"/>
            <a:ext cx="128016" cy="1828800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535424"/>
            <a:ext cx="5120640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Hub  </a:t>
            </a:r>
            <a:r>
              <a:rPr sz="960" b="0">
                <a:solidFill>
                  <a:srgbClr val="6B5D52"/>
                </a:solidFill>
                <a:latin typeface="Malgun Gothic"/>
              </a:rPr>
              <a:t>모델·데이터셋·데모(Spaces)를 공유하는 "깃허브 for ML".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transformers  </a:t>
            </a:r>
            <a:r>
              <a:rPr sz="960" b="0">
                <a:solidFill>
                  <a:srgbClr val="6B5D52"/>
                </a:solidFill>
                <a:latin typeface="Malgun Gothic"/>
              </a:rPr>
              <a:t>내 서버에서 직접 실행. pipeline("task", model=...) 한 줄.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Inference API  </a:t>
            </a:r>
            <a:r>
              <a:rPr sz="960" b="0">
                <a:solidFill>
                  <a:srgbClr val="6B5D52"/>
                </a:solidFill>
                <a:latin typeface="Malgun Gothic"/>
              </a:rPr>
              <a:t>HF가 대신 호스팅하는 HTTP API. 다운로드 불필요.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임베딩 모델  </a:t>
            </a:r>
            <a:r>
              <a:rPr sz="960" b="0">
                <a:solidFill>
                  <a:srgbClr val="6B5D52"/>
                </a:solidFill>
                <a:latin typeface="Malgun Gothic"/>
              </a:rPr>
              <a:t>sentence-transformers 계열. 문장→고정 길이 벡터.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16276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③ 임베딩과 코사인 유사도 (RAG의 씨앗)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1938528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55080" y="1938528"/>
            <a:ext cx="128016" cy="141732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2048256"/>
            <a:ext cx="47091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임베딩 </a:t>
            </a:r>
            <a:r>
              <a:rPr sz="960" b="0">
                <a:solidFill>
                  <a:srgbClr val="6B5D52"/>
                </a:solidFill>
                <a:latin typeface="Malgun Gothic"/>
              </a:rPr>
              <a:t>문장을 의미를 담은 숫자 벡터(예: 384차원)로 변환. 뜻이 비슷하면 벡터도 가깝다.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코사인 유사도 </a:t>
            </a:r>
            <a:r>
              <a:rPr sz="960" b="0">
                <a:solidFill>
                  <a:srgbClr val="6B5D52"/>
                </a:solidFill>
                <a:latin typeface="Malgun Gothic"/>
              </a:rPr>
              <a:t>두 벡터의 각도로 유사도 측정. 1에 가까우면 비슷, 0이면 무관.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Malgun Gothic"/>
              </a:rPr>
              <a:t>→ week08은 질문 임베딩과 문서 조각 임베딩의 유사도로 관련 조각을 검색한다.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52958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④ 자체호스팅 vs 매니지드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3840480"/>
            <a:ext cx="5120640" cy="347472"/>
          </a:xfrm>
          <a:prstGeom prst="roundRect">
            <a:avLst>
              <a:gd name="adj" fmla="val 13157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858768"/>
            <a:ext cx="128016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A302A"/>
                </a:solidFill>
                <a:latin typeface="Malgun Gothic"/>
              </a:rPr>
              <a:t>기준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858768"/>
            <a:ext cx="17830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A302A"/>
                </a:solidFill>
                <a:latin typeface="Malgun Gothic"/>
              </a:rPr>
              <a:t>로컬 transformers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858768"/>
            <a:ext cx="17830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A302A"/>
                </a:solidFill>
                <a:latin typeface="Malgun Gothic"/>
              </a:rPr>
              <a:t>Inference API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4233672"/>
            <a:ext cx="5120640" cy="384048"/>
          </a:xfrm>
          <a:prstGeom prst="roundRect">
            <a:avLst>
              <a:gd name="adj" fmla="val 9523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233672"/>
            <a:ext cx="1280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 b="1">
                <a:solidFill>
                  <a:srgbClr val="3A302A"/>
                </a:solidFill>
                <a:latin typeface="Malgun Gothic"/>
              </a:rPr>
              <a:t>초기 지연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233672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 b="0">
                <a:solidFill>
                  <a:srgbClr val="3A302A"/>
                </a:solidFill>
                <a:latin typeface="Malgun Gothic"/>
              </a:rPr>
              <a:t>다운로드·로딩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233672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 b="0">
                <a:solidFill>
                  <a:srgbClr val="3A302A"/>
                </a:solidFill>
                <a:latin typeface="Malgun Gothic"/>
              </a:rPr>
              <a:t>없음(HTTP)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645152"/>
            <a:ext cx="1280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 b="1">
                <a:solidFill>
                  <a:srgbClr val="3A302A"/>
                </a:solidFill>
                <a:latin typeface="Malgun Gothic"/>
              </a:rPr>
              <a:t>비용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645152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 b="0">
                <a:solidFill>
                  <a:srgbClr val="3A302A"/>
                </a:solidFill>
                <a:latin typeface="Malgun Gothic"/>
              </a:rPr>
              <a:t>하드웨어·전기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4645152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 b="0">
                <a:solidFill>
                  <a:srgbClr val="3A302A"/>
                </a:solidFill>
                <a:latin typeface="Malgun Gothic"/>
              </a:rPr>
              <a:t>호출량 요금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5080" y="5056632"/>
            <a:ext cx="5120640" cy="384048"/>
          </a:xfrm>
          <a:prstGeom prst="roundRect">
            <a:avLst>
              <a:gd name="adj" fmla="val 9523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5056632"/>
            <a:ext cx="1280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 b="1">
                <a:solidFill>
                  <a:srgbClr val="3A302A"/>
                </a:solidFill>
                <a:latin typeface="Malgun Gothic"/>
              </a:rPr>
              <a:t>프라이버시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5056632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 b="0">
                <a:solidFill>
                  <a:srgbClr val="3A302A"/>
                </a:solidFill>
                <a:latin typeface="Malgun Gothic"/>
              </a:rPr>
              <a:t>밖으로 안 나감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5056632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 b="0">
                <a:solidFill>
                  <a:srgbClr val="3A302A"/>
                </a:solidFill>
                <a:latin typeface="Malgun Gothic"/>
              </a:rPr>
              <a:t>외부 전송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468112"/>
            <a:ext cx="1280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 b="1">
                <a:solidFill>
                  <a:srgbClr val="3A302A"/>
                </a:solidFill>
                <a:latin typeface="Malgun Gothic"/>
              </a:rPr>
              <a:t>오프라인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5468112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 b="0">
                <a:solidFill>
                  <a:srgbClr val="3A302A"/>
                </a:solidFill>
                <a:latin typeface="Malgun Gothic"/>
              </a:rPr>
              <a:t>가능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5468112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 b="0">
                <a:solidFill>
                  <a:srgbClr val="3A302A"/>
                </a:solidFill>
                <a:latin typeface="Malgun Gothic"/>
              </a:rPr>
              <a:t>불가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59436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8E6A"/>
                </a:solidFill>
                <a:latin typeface="Malgun Gothic"/>
              </a:rPr>
              <a:t>감각: </a:t>
            </a:r>
            <a:r>
              <a:rPr sz="940" b="0">
                <a:solidFill>
                  <a:srgbClr val="6B5D52"/>
                </a:solidFill>
                <a:latin typeface="Malgun Gothic"/>
              </a:rPr>
              <a:t>규제·대량·오프라인 → 자체호스팅, 빠른 시작·간헐 사용 → 매니지드.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PREREQUISITES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사전 준비 — 토큰과 실습 흐름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07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04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준비물 체크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295144"/>
            <a:ext cx="365760" cy="365760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951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148840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week06까지의 docpilot (/chat 동작)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app/ 패키지·config.py가 준비된 상태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90088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227832"/>
            <a:ext cx="365760" cy="365760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278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081528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Hugging Face 계정 + Access Token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Settings → Access Tokens → New(read 권한이면 충분)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22776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4160520"/>
            <a:ext cx="365760" cy="365760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605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014215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디스크 여유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로컬 transformers 모델은 수백 MB~수 GB 다운로드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55464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5093207"/>
            <a:ext cx="365760" cy="365760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93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4946903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(음성 실습 시) ffmpeg 설치 권장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Consolas"/>
              </a:rPr>
              <a:t>apt-get install ffmpeg / brew install ffmpeg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6459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이번 주 흐름 (3부)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029968"/>
            <a:ext cx="4754880" cy="914400"/>
          </a:xfrm>
          <a:prstGeom prst="roundRect">
            <a:avLst>
              <a:gd name="adj" fmla="val 9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20840" y="2029968"/>
            <a:ext cx="128016" cy="91440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139696"/>
            <a:ext cx="4343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1부. 임베딩 (로컬)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sentence-transformers → /embed — 가장 중요, 반드시 완료(RAG 준비)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3035808"/>
            <a:ext cx="4754880" cy="914400"/>
          </a:xfrm>
          <a:prstGeom prst="roundRect">
            <a:avLst>
              <a:gd name="adj" fmla="val 9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720840" y="3035808"/>
            <a:ext cx="128016" cy="914400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3145536"/>
            <a:ext cx="4343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2부. 멀티모달 (택1)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이미지 캡셔닝 /caption 또는 음성→텍스트 /transcribe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4041648"/>
            <a:ext cx="4754880" cy="914400"/>
          </a:xfrm>
          <a:prstGeom prst="roundRect">
            <a:avLst>
              <a:gd name="adj" fmla="val 9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720840" y="4041648"/>
            <a:ext cx="128016" cy="914400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4151376"/>
            <a:ext cx="4343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3부. 매니지드 대안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HF Inference API로 같은 일을 하고 트레이드오프 체감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5074920"/>
            <a:ext cx="4754880" cy="868680"/>
          </a:xfrm>
          <a:prstGeom prst="roundRect">
            <a:avLst>
              <a:gd name="adj" fmla="val 9473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5160" y="5184648"/>
            <a:ext cx="4297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2부는 둘 중 하나만 해도 목표 충족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3A302A"/>
                </a:solidFill>
                <a:latin typeface="Malgun Gothic"/>
              </a:rPr>
              <a:t>공개 모델은 토큰 없이도 받아지지만, Inference API(3부)와 rate limit 완화를 위해 HF 토큰을 둔다.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1 · STEP 1 · 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1부 · 패키지 설치 (1단계)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07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05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임베딩 모델 + 멀티모달 파이프라인 설치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852160" cy="2148840"/>
          </a:xfrm>
          <a:prstGeom prst="roundRect">
            <a:avLst>
              <a:gd name="adj" fmla="val 425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95728"/>
            <a:ext cx="53949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9FD8CB"/>
                </a:solidFill>
                <a:latin typeface="Consolas"/>
              </a:rPr>
              <a:t># 가상환경이 활성화된 상태에서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$ pip install \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    "sentence-transformers&gt;=3.0" \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    "transformers&gt;=4.44" \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    "torch&gt;=2.2" "pillow&gt;=10.0" \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    "huggingface_hub&gt;=0.24" numpy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51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확인 — ML 스택 import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44568"/>
            <a:ext cx="5852160" cy="1417320"/>
          </a:xfrm>
          <a:prstGeom prst="roundRect">
            <a:avLst>
              <a:gd name="adj" fmla="val 6451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4709159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000" y="4709159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9032" y="4709159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001768"/>
            <a:ext cx="5394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$ python -c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"import sentence_transformers,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 transformers, torch;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   print('ml stack ok', torch.__version__)"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ml stack ok 2.x.x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6276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requirements.txt 에도 추가 (재빌드 반영)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938528"/>
            <a:ext cx="4754880" cy="2331720"/>
          </a:xfrm>
          <a:prstGeom prst="roundRect">
            <a:avLst>
              <a:gd name="adj" fmla="val 3921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22007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7804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34071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6872" y="2395728"/>
            <a:ext cx="4297680" cy="1783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# requirements.txt (기존 + 아래 추가)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sentence-transformers&gt;=3.0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transformers&gt;=4.44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torch&gt;=2.2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pillow&gt;=10.0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huggingface_hub&gt;=0.24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numpy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4434840"/>
            <a:ext cx="4754880" cy="1527048"/>
          </a:xfrm>
          <a:prstGeom prst="roundRect">
            <a:avLst>
              <a:gd name="adj" fmla="val 5389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20840" y="4434840"/>
            <a:ext cx="128016" cy="1527048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4553712"/>
            <a:ext cx="434340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각 패키지의 역할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980" b="0">
                <a:solidFill>
                  <a:srgbClr val="3A302A"/>
                </a:solidFill>
                <a:latin typeface="Malgun Gothic"/>
              </a:rPr>
              <a:t>sentence-transformers=임베딩, transformers=멀티모달 파이프라인, torch=백엔드, pillow=이미지, huggingface_hub=매니지드 클라이언트.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1 · STEP 2 · 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1부 · HF 토큰을 환경변수로 (2단계)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07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06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.env  (프로젝트 루트 · git 커밋 금지)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852160" cy="2331720"/>
          </a:xfrm>
          <a:prstGeom prst="roundRect">
            <a:avLst>
              <a:gd name="adj" fmla="val 3921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95728"/>
            <a:ext cx="5394960" cy="1783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>
                <a:solidFill>
                  <a:srgbClr val="9FD8CB"/>
                </a:solidFill>
                <a:latin typeface="Consolas"/>
              </a:rPr>
              <a:t># Hugging Face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HF_TOKEN=hf_...본인_토큰...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EMBEDDING_MODEL=sentence-transformers/\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    all-MiniLM-L6-v2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CAPTION_MODEL=Salesforce/\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    blip-image-captioning-base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ASR_MODEL=openai/whisper-small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434840"/>
            <a:ext cx="5852160" cy="1508760"/>
          </a:xfrm>
          <a:prstGeom prst="roundRect">
            <a:avLst>
              <a:gd name="adj" fmla="val 5454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4434840"/>
            <a:ext cx="128016" cy="1508760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553712"/>
            <a:ext cx="548640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왜 토큰을 두는가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980" b="0">
                <a:solidFill>
                  <a:srgbClr val="3A302A"/>
                </a:solidFill>
                <a:latin typeface="Malgun Gothic"/>
              </a:rPr>
              <a:t>공개 모델은 토큰 없이도 받아지지만, Inference API(3부)와 rate limit 완화를 위해 둔다. week06처럼 .env에 넣고 .gitignore로 보호.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6276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app/config.py — Settings에 필드 추가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938528"/>
            <a:ext cx="4754880" cy="2788920"/>
          </a:xfrm>
          <a:prstGeom prst="roundRect">
            <a:avLst>
              <a:gd name="adj" fmla="val 327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22007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34071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6872" y="2395728"/>
            <a:ext cx="4297680" cy="2240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9FD8CB"/>
                </a:solidFill>
                <a:latin typeface="Consolas"/>
              </a:rPr>
              <a:t># app/config.py (Settings 클래스 안)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9FD8CB"/>
                </a:solidFill>
                <a:latin typeface="Consolas"/>
              </a:rPr>
              <a:t>    # Hugging Face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hf_token: str | None = None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embedding_model: str = (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F4A78C"/>
                </a:solidFill>
                <a:latin typeface="Consolas"/>
              </a:rPr>
              <a:t>      "sentence-transformers/\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F4A78C"/>
                </a:solidFill>
                <a:latin typeface="Consolas"/>
              </a:rPr>
              <a:t>       all-MiniLM-L6-v2")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caption_model: str = (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F4A78C"/>
                </a:solidFill>
                <a:latin typeface="Consolas"/>
              </a:rPr>
              <a:t>      "Salesforce/\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F4A78C"/>
                </a:solidFill>
                <a:latin typeface="Consolas"/>
              </a:rPr>
              <a:t>       blip-image-captioning-base")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F3EAE0"/>
                </a:solidFill>
                <a:latin typeface="Consolas"/>
              </a:rPr>
              <a:t>    asr_model: str = "openai/whisper-small"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892040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D98E6A"/>
                </a:solidFill>
                <a:latin typeface="Malgun Gothic"/>
              </a:rPr>
              <a:t>확인  </a:t>
            </a:r>
            <a:r>
              <a:rPr sz="960" b="0">
                <a:solidFill>
                  <a:srgbClr val="6B5D52"/>
                </a:solidFill>
                <a:latin typeface="Malgun Gothic"/>
              </a:rPr>
              <a:t>get_settings()가 all-MiniLM-L6-v2 | hf token set: True 를 출력하면 .env 로딩 성공.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1 · STEP 3 · EMBEDDINGS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1부 · 임베딩 모듈 app/embeddings.py (3단계)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07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07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7276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모델은 한 번만 로딩해 재사용 (lru_cache)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65376"/>
            <a:ext cx="6309360" cy="4160520"/>
          </a:xfrm>
          <a:prstGeom prst="roundRect">
            <a:avLst>
              <a:gd name="adj" fmla="val 2197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02996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02996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22576"/>
            <a:ext cx="5852160" cy="3611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from functools import lru_cache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import numpy as np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from sentence_transformers import \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    SentenceTransformer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from app.config import get_settings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@lru_cache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def get_model() -&gt; SentenceTransformer: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s = get_settings()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return SentenceTransformer(s.embedding_model)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def embed(texts: list[str]) -&gt; np.ndarray: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return get_model().encode(texts,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40">
                <a:solidFill>
                  <a:srgbClr val="9FD8CB"/>
                </a:solidFill>
                <a:latin typeface="Consolas"/>
              </a:rPr>
              <a:t>        normalize_embeddings=True,  # L2 → 내적=코사인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    convert_to_numpy=True)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def cosine_similarity(a, b) -&gt; float: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return float(np.dot(a, b))  # 정규화됨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57276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scratch_embed.py — 의미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1865376"/>
            <a:ext cx="4251960" cy="2286000"/>
          </a:xfrm>
          <a:prstGeom prst="roundRect">
            <a:avLst>
              <a:gd name="adj" fmla="val 400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24928" y="202996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80960" y="202996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36992" y="202996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2322576"/>
            <a:ext cx="3794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from app.embeddings import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    embed, cosine_similarity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sents = ["강아지가 공원에서 뛴다",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"개가 달리고 있다",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"오늘 세금 신고를 했다"]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v = embed(sents)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>
                <a:solidFill>
                  <a:srgbClr val="9FD8CB"/>
                </a:solidFill>
                <a:latin typeface="Consolas"/>
              </a:rPr>
              <a:t>print(v.shape)  # (3, 384)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>
                <a:solidFill>
                  <a:srgbClr val="9FD8CB"/>
                </a:solidFill>
                <a:latin typeface="Consolas"/>
              </a:rPr>
              <a:t>cosine_similarity(v[0], v[1])  # 높게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>
                <a:solidFill>
                  <a:srgbClr val="9FD8CB"/>
                </a:solidFill>
                <a:latin typeface="Consolas"/>
              </a:rPr>
              <a:t>cosine_similarity(v[0], v[2])  # 낮게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4315968"/>
            <a:ext cx="4251960" cy="164592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23760" y="4315968"/>
            <a:ext cx="128016" cy="1645920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4434840"/>
            <a:ext cx="384048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확인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3A302A"/>
                </a:solidFill>
                <a:latin typeface="Malgun Gothic"/>
              </a:rPr>
              <a:t>shape: (3, 384). "뜻 비슷" 유사도가 "뜻 무관"보다 확실히 크다.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→ 임베딩이 의미를 담고 있음을 확인(최초 실행은 다운로드로 지연).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1 · STEP 4 · /embed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1부 · /embed 엔드포인트 (4단계)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07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08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임베딩을 API로 노출 (week08 인덱싱이 재사용)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852160" cy="4023360"/>
          </a:xfrm>
          <a:prstGeom prst="roundRect">
            <a:avLst>
              <a:gd name="adj" fmla="val 2272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95728"/>
            <a:ext cx="53949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9FD8CB"/>
                </a:solidFill>
                <a:latin typeface="Consolas"/>
              </a:rPr>
              <a:t># app/main.py (추가)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6D186"/>
                </a:solidFill>
                <a:latin typeface="Consolas"/>
              </a:rPr>
              <a:t>from pydantic import BaseModel, Field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6D186"/>
                </a:solidFill>
                <a:latin typeface="Consolas"/>
              </a:rPr>
              <a:t>from app import embeddings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6D186"/>
                </a:solidFill>
                <a:latin typeface="Consolas"/>
              </a:rPr>
              <a:t>class EmbedRequest(BaseModel):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>    texts: list[str] = Field(...,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>        min_length=1, max_length=64)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6D186"/>
                </a:solidFill>
                <a:latin typeface="Consolas"/>
              </a:rPr>
              <a:t>class EmbedResponse(BaseModel):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>    model: str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>    dim: int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>    vectors: list[list[float]]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6D186"/>
                </a:solidFill>
                <a:latin typeface="Consolas"/>
              </a:rPr>
              <a:t>@app.post("/embed", response_model=EmbedResponse)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6D186"/>
                </a:solidFill>
                <a:latin typeface="Consolas"/>
              </a:rPr>
              <a:t>async def create_embeddings(req: EmbedRequest):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>    vecs = embeddings.embed(req.texts)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>    return EmbedResponse(model=..., 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>        dim=int(vecs.shape[1]),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>        vectors=vecs.tolist())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6276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호출 &amp;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1938528"/>
            <a:ext cx="4754880" cy="2148840"/>
          </a:xfrm>
          <a:prstGeom prst="roundRect">
            <a:avLst>
              <a:gd name="adj" fmla="val 425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22007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7804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34071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6872" y="2395728"/>
            <a:ext cx="429768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$ uvicorn app.main:app --reload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$ curl -s -X POST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    localhost:8000/embed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  -H "Content-Type: application/json"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  -d '{"texts": ["docpilot은 문서 도우미다",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         "kubernetes 배포"]}'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4251960"/>
            <a:ext cx="4754880" cy="1709928"/>
          </a:xfrm>
          <a:prstGeom prst="roundRect">
            <a:avLst>
              <a:gd name="adj" fmla="val 481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20840" y="4251960"/>
            <a:ext cx="128016" cy="1709928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4370832"/>
            <a:ext cx="4343400" cy="1481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확인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3A302A"/>
                </a:solidFill>
                <a:latin typeface="Malgun Gothic"/>
              </a:rPr>
              <a:t>dim: 384와 벡터 앞 5개 숫자가 출력된다.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→ 이 엔드포인트가 week08 RAG 파이프라인의 첫 부품(문서 인덱싱)이 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2 · 5-A · IMAGE CAPTION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2부-A · 이미지 캡셔닝 /caption (5단계)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07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09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72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app/vision.py — BLIP 파이프라인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65376"/>
            <a:ext cx="5852160" cy="2880360"/>
          </a:xfrm>
          <a:prstGeom prst="roundRect">
            <a:avLst>
              <a:gd name="adj" fmla="val 3174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02996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02996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22576"/>
            <a:ext cx="539496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6D186"/>
                </a:solidFill>
                <a:latin typeface="Consolas"/>
              </a:rPr>
              <a:t>import io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6D186"/>
                </a:solidFill>
                <a:latin typeface="Consolas"/>
              </a:rPr>
              <a:t>from functools import lru_cache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6D186"/>
                </a:solidFill>
                <a:latin typeface="Consolas"/>
              </a:rPr>
              <a:t>from PIL import Image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6D186"/>
                </a:solidFill>
                <a:latin typeface="Consolas"/>
              </a:rPr>
              <a:t>from transformers import pipeline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6D186"/>
                </a:solidFill>
                <a:latin typeface="Consolas"/>
              </a:rPr>
              <a:t>from app.config import get_settings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6D186"/>
                </a:solidFill>
                <a:latin typeface="Consolas"/>
              </a:rPr>
              <a:t>@lru_cache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6D186"/>
                </a:solidFill>
                <a:latin typeface="Consolas"/>
              </a:rPr>
              <a:t>def get_captioner():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>    s = get_settings()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>    return pipeline("image-to-text",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>        model=s.caption_model)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6D186"/>
                </a:solidFill>
                <a:latin typeface="Consolas"/>
              </a:rPr>
              <a:t>def caption_image(image_bytes: bytes) -&gt; str: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>    img = Image.open(io.BytesIO(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>        image_bytes)).convert("RGB")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>    r = get_captioner()(img)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30">
                <a:solidFill>
                  <a:srgbClr val="F3EAE0"/>
                </a:solidFill>
                <a:latin typeface="Consolas"/>
              </a:rPr>
              <a:t>    return r[0]["generated_text"].strip()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892040"/>
            <a:ext cx="5852160" cy="1051560"/>
          </a:xfrm>
          <a:prstGeom prst="roundRect">
            <a:avLst>
              <a:gd name="adj" fmla="val 7826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001768"/>
            <a:ext cx="5486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302A"/>
                </a:solidFill>
                <a:latin typeface="Malgun Gothic"/>
              </a:rPr>
              <a:t>응용 (과제)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980" b="0">
                <a:solidFill>
                  <a:srgbClr val="3A302A"/>
                </a:solidFill>
                <a:latin typeface="Malgun Gothic"/>
              </a:rPr>
              <a:t>캡션을 week06 /chat에 넘겨 "이 이미지를 한국어로 설명해줘"처럼 결합하면 멀티모달 대화가 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157276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app/main.py — 업로드 라우트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1865376"/>
            <a:ext cx="4754880" cy="2880360"/>
          </a:xfrm>
          <a:prstGeom prst="roundRect">
            <a:avLst>
              <a:gd name="adj" fmla="val 3174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22007" y="202996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78040" y="202996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34071" y="202996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76872" y="2322576"/>
            <a:ext cx="429768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from fastapi import UploadFile, File, \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    HTTPException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from app import vision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ALLOWED = {'image/jpeg','image/png',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       'image/webp'}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9FD8CB"/>
                </a:solidFill>
                <a:latin typeface="Consolas"/>
              </a:rPr>
              <a:t>MAX_UPLOAD_BYTES = 8 * 1024 * 1024  # 8MB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@app.post("/caption")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async def caption(file: UploadFile=File(...)):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if file.content_type not in ALLOWED: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    raise HTTPException(415, ...)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data = await file.read()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if len(data) &gt; MAX_UPLOAD_BYTES: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    raise HTTPException(413, ...)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text = vision.caption_image(data)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return {"filename": file.filename,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        "caption": text}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892040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D98E6A"/>
                </a:solidFill>
                <a:latin typeface="Malgun Gothic"/>
              </a:rPr>
              <a:t>확인  </a:t>
            </a:r>
            <a:r>
              <a:rPr sz="940" b="0">
                <a:solidFill>
                  <a:srgbClr val="6B5D52"/>
                </a:solidFill>
                <a:latin typeface="Consolas"/>
              </a:rPr>
              <a:t>curl -F "file=@sample.jpg;type=image/jpeg" → </a:t>
            </a:r>
            <a:r>
              <a:rPr sz="940" b="0">
                <a:solidFill>
                  <a:srgbClr val="6B5D52"/>
                </a:solidFill>
                <a:latin typeface="Malgun Gothic"/>
              </a:rPr>
              <a:t>영어 캡션(예: "a dog running through a grassy field") 출력.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2 · 5-B · SPEECH →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2부-B · 음성→텍스트 /transcribe (5단계)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07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10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72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app/audio.py — Whisper 파이프라인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65376"/>
            <a:ext cx="6035040" cy="3200400"/>
          </a:xfrm>
          <a:prstGeom prst="roundRect">
            <a:avLst>
              <a:gd name="adj" fmla="val 2857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02996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02996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22576"/>
            <a:ext cx="55778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import tempfile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from functools import lru_cache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from transformers import pipeline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from app.config import get_settings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@lru_cache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def get_transcriber():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s = get_settings()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return pipeline(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  "automatic-speech-recognition",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  model=s.asr_model)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def transcribe(audio_bytes, suffix=".wav"):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with tempfile.NamedTemporaryFile(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  suffix=suffix, delete=True) as tmp: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tmp.write(audio_bytes); tmp.flush()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9FD8CB"/>
                </a:solidFill>
                <a:latin typeface="Consolas"/>
              </a:rPr>
              <a:t>    # Whisper 기본은 30초 창 → 청킹 필수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r = get_transcriber()(tmp.name,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4A78C"/>
                </a:solidFill>
                <a:latin typeface="Consolas"/>
              </a:rPr>
              <a:t>        chunk_length_s=30,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4A78C"/>
                </a:solidFill>
                <a:latin typeface="Consolas"/>
              </a:rPr>
              <a:t>        return_timestamps=True)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return r["text"].strip()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5727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app/main.py — 업로드 라우트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865376"/>
            <a:ext cx="4572000" cy="2606040"/>
          </a:xfrm>
          <a:prstGeom prst="roundRect">
            <a:avLst>
              <a:gd name="adj" fmla="val 350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04888" y="202996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60919" y="202996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16952" y="202996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9752" y="2322576"/>
            <a:ext cx="411480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import os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from app import audio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ALLOWED_AUDIO = {'audio/wav','audio/flac',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'audio/mpeg','audio/m4a','audio/webm', ...}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@app.post("/transcribe")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async def transcribe_audio(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    file: UploadFile = File(...)):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9FD8CB"/>
                </a:solidFill>
                <a:latin typeface="Consolas"/>
              </a:rPr>
              <a:t>  # 415/413 검증 (caption과 동일)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data = await file.read()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suffix = os.path.splitext(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file.filename)[1] or '.wav'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text = audio.transcribe(data, suffix)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return {"text": text}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4480560"/>
            <a:ext cx="4572000" cy="1463040"/>
          </a:xfrm>
          <a:prstGeom prst="roundRect">
            <a:avLst>
              <a:gd name="adj" fmla="val 5624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3720" y="4480560"/>
            <a:ext cx="128016" cy="1463040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4590288"/>
            <a:ext cx="4160520" cy="1243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샘플 &amp; 확인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0">
                <a:solidFill>
                  <a:srgbClr val="3A302A"/>
                </a:solidFill>
                <a:latin typeface="Malgun Gothic"/>
              </a:rPr>
              <a:t>샘플은 실제 flac이므로 확장자·MIME을 flac로 맞춘다: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3A302A"/>
                </a:solidFill>
                <a:latin typeface="Consolas"/>
              </a:rPr>
              <a:t>-F "file=@sample.flac;type=audio/flac"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>
                <a:solidFill>
                  <a:srgbClr val="6B5D52"/>
                </a:solidFill>
                <a:latin typeface="Malgun Gothic"/>
              </a:rPr>
              <a:t>→ "text"에 받아쓴 문장이 담긴다(ffmpeg 필요).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3 · MANAGED · INFERENCE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3부 · 매니지드 — HF Inference API (6단계)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07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11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72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app/hf_managed.py — AsyncInferenceClient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65376"/>
            <a:ext cx="5943600" cy="3703320"/>
          </a:xfrm>
          <a:prstGeom prst="roundRect">
            <a:avLst>
              <a:gd name="adj" fmla="val 2469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02996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02996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22576"/>
            <a:ext cx="5486400" cy="3154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from huggingface_hub import \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    AsyncInferenceClient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from app.config import get_settings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9FD8CB"/>
                </a:solidFill>
                <a:latin typeface="Consolas"/>
              </a:rPr>
              <a:t># 직접 URL 대신 InferenceClient가 최신 라우팅 처리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def _client() -&gt; AsyncInferenceClient: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s = get_settings()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if not s.hf_token: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4A78C"/>
                </a:solidFill>
                <a:latin typeface="Consolas"/>
              </a:rPr>
              <a:t>        raise RuntimeError("HF_TOKEN required")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return AsyncInferenceClient(token=s.hf_token)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async def embed_via_api(texts) -&gt; list[list[float]]: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s = get_settings(); client = _client()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out = []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for text in texts: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    vec = await client.feature_extraction(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        text, model=s.embedding_model)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    out.append(vec.tolist())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return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57276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/embed-managed (선택) &amp; 호출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1865376"/>
            <a:ext cx="4663440" cy="2331720"/>
          </a:xfrm>
          <a:prstGeom prst="roundRect">
            <a:avLst>
              <a:gd name="adj" fmla="val 3921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13448" y="202996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69480" y="202996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25512" y="202996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8312" y="2322576"/>
            <a:ext cx="4206240" cy="1783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@app.post("/embed-managed",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    response_model=EmbedResponse)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async def create_embeddings_managed(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    req: EmbedRequest):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vectors = await hf_managed.\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  embed_via_api(req.texts)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dim = len(vectors[0]) if vectors else 0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return EmbedResponse(..., dim=dim, ...)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9FD8CB"/>
                </a:solidFill>
                <a:latin typeface="Consolas"/>
              </a:rPr>
              <a:t># $ curl -s -X POST .../embed-managed 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4343400"/>
            <a:ext cx="4663440" cy="1600200"/>
          </a:xfrm>
          <a:prstGeom prst="roundRect">
            <a:avLst>
              <a:gd name="adj" fmla="val 514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80" y="4343400"/>
            <a:ext cx="128016" cy="1600200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4453128"/>
            <a:ext cx="42519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확인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0">
                <a:solidFill>
                  <a:srgbClr val="3A302A"/>
                </a:solidFill>
                <a:latin typeface="Malgun Gothic"/>
              </a:rPr>
              <a:t>dim: 384 — 로컬 /embed와 차원이 같다. 같은 모델이면 로컬/매니지드가 호환(week08에서 인덱싱·질의를 같은 모델로 맞추는 이유).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>
                <a:solidFill>
                  <a:srgbClr val="6B5D52"/>
                </a:solidFill>
                <a:latin typeface="Malgun Gothic"/>
              </a:rPr>
              <a:t>첫 호출은 콜드스타트로 503 currently loading 가능 → 잠시 후 재시도.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TROUBLESHOOTING · ASSIGNMENT ·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트러블슈팅 · 과제 · 다음 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07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트러블슈팅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56816"/>
            <a:ext cx="5532120" cy="347472"/>
          </a:xfrm>
          <a:prstGeom prst="roundRect">
            <a:avLst>
              <a:gd name="adj" fmla="val 131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75104"/>
            <a:ext cx="2286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증상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975104"/>
            <a:ext cx="31546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해결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31720"/>
            <a:ext cx="5532120" cy="365760"/>
          </a:xfrm>
          <a:prstGeom prst="roundRect">
            <a:avLst>
              <a:gd name="adj" fmla="val 10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331720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최초 호출이 매우 느림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33172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정상(모델 로딩). 이후 캐시로 빨라짐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720339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torch 설치 실패/무거움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720339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CPU 휠: --index-url .../whl/cpu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08959"/>
            <a:ext cx="5532120" cy="365760"/>
          </a:xfrm>
          <a:prstGeom prst="roundRect">
            <a:avLst>
              <a:gd name="adj" fmla="val 10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108959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cannot identify 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108959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진짜 jpg/png인지·content_type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497579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ASR ffmpeg not found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497579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apt-get / brew install ffmpeg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886199"/>
            <a:ext cx="5532120" cy="365760"/>
          </a:xfrm>
          <a:prstGeom prst="roundRect">
            <a:avLst>
              <a:gd name="adj" fmla="val 10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886199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30초 넘는 오디오 잘림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886199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chunk_length_s=30, return_timestamps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274819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Inference API 503 loading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274819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콜드스타트 — 수 초~수십 초 후 재시도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663439"/>
            <a:ext cx="5532120" cy="365760"/>
          </a:xfrm>
          <a:prstGeom prst="roundRect">
            <a:avLst>
              <a:gd name="adj" fmla="val 10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663439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Inference API 401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663439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.env HF_TOKEN·read 권한 확인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052059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OutOfMemory/강제종료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052059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더 작은 모델(whisper-base, MiniLM)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440679"/>
            <a:ext cx="5532120" cy="365760"/>
          </a:xfrm>
          <a:prstGeom prst="roundRect">
            <a:avLst>
              <a:gd name="adj" fmla="val 10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440679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유사도가 이상함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5440679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normalize_embeddings·같은 모델 확인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829299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매번 모델 재로딩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5829299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@lru_cache로 1회 로딩 확인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160934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이번 주 과제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1956816"/>
            <a:ext cx="4983480" cy="2286000"/>
          </a:xfrm>
          <a:prstGeom prst="roundRect">
            <a:avLst>
              <a:gd name="adj" fmla="val 3599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2075688"/>
            <a:ext cx="4572000" cy="2048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1. </a:t>
            </a:r>
            <a:r>
              <a:rPr sz="960" b="0">
                <a:solidFill>
                  <a:srgbClr val="3A302A"/>
                </a:solidFill>
                <a:latin typeface="Malgun Gothic"/>
              </a:rPr>
              <a:t>필수 — /embed 동작, 비슷한 문장 유사도 &gt; 무관한 문장(수치 캡처)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2. </a:t>
            </a:r>
            <a:r>
              <a:rPr sz="960" b="1">
                <a:solidFill>
                  <a:srgbClr val="3A302A"/>
                </a:solidFill>
                <a:latin typeface="Malgun Gothic"/>
              </a:rPr>
              <a:t>필수 — /caption 또는 /transcribe 중 하나 구현·실제 입력 결과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3. </a:t>
            </a:r>
            <a:r>
              <a:rPr sz="960" b="0">
                <a:solidFill>
                  <a:srgbClr val="3A302A"/>
                </a:solidFill>
                <a:latin typeface="Malgun Gothic"/>
              </a:rPr>
              <a:t>도전 — 멀티모달+LLM: 캡션/전사를 /chat에 넣는 /describe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4. </a:t>
            </a:r>
            <a:r>
              <a:rPr sz="960" b="0">
                <a:solidFill>
                  <a:srgbClr val="3A302A"/>
                </a:solidFill>
                <a:latin typeface="Malgun Gothic"/>
              </a:rPr>
              <a:t>도전 — /embed vs /embed-managed 시간·차원·값 비교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5. </a:t>
            </a:r>
            <a:r>
              <a:rPr sz="960" b="0">
                <a:solidFill>
                  <a:srgbClr val="3A302A"/>
                </a:solidFill>
                <a:latin typeface="Malgun Gothic"/>
              </a:rPr>
              <a:t>분석 — 자체호스팅 vs 매니지드를 docpilot 관점으로 재작성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38912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B5D52"/>
                </a:solidFill>
                <a:latin typeface="Malgun Gothic"/>
              </a:rPr>
              <a:t>핵심 체크리스트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4709160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ML 스택 설치·requirements 반영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4709160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.env HF_TOKEN·모델명 추가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001768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config.py Settings 필드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5001768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embeddings.py(1회 로딩)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294376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/embed 동작·유사도 관찰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5294376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/caption 또는 /transcribe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5586984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(선택) /embed-managed 체감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5586984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자체호스팅 vs 매니지드 설명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6053328"/>
            <a:ext cx="5532120" cy="475488"/>
          </a:xfrm>
          <a:prstGeom prst="roundRect">
            <a:avLst>
              <a:gd name="adj" fmla="val 15384"/>
            </a:avLst>
          </a:prstGeom>
          <a:solidFill>
            <a:srgbClr val="9FD8CB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6089904"/>
            <a:ext cx="5212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다음 주 → Week 08  RAG(검색증강생성)</a:t>
            </a:r>
            <a:r>
              <a:rPr sz="900" b="0">
                <a:solidFill>
                  <a:srgbClr val="3A302A"/>
                </a:solidFill>
                <a:latin typeface="Malgun Gothic"/>
              </a:rPr>
              <a:t>  (임베딩 → 벡터DB·검색)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92240" y="6053328"/>
            <a:ext cx="4983480" cy="475488"/>
          </a:xfrm>
          <a:prstGeom prst="roundRect">
            <a:avLst>
              <a:gd name="adj" fmla="val 15384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0" y="6089904"/>
            <a:ext cx="4663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Consolas"/>
              </a:rPr>
              <a:t>/embed(임베딩)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 + /chat(생성) → week08 </a:t>
            </a:r>
            <a:r>
              <a:rPr sz="1050" b="1">
                <a:solidFill>
                  <a:srgbClr val="3A302A"/>
                </a:solidFill>
                <a:latin typeface="Consolas"/>
              </a:rPr>
              <a:t>/ask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(검색증강)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