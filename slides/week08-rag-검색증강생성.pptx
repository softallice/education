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1371600"/>
          </a:xfrm>
          <a:prstGeom prst="rect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310896" cy="1371600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743200"/>
            <a:ext cx="310896" cy="1371600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114800"/>
            <a:ext cx="310896" cy="1371600"/>
          </a:xfrm>
          <a:prstGeom prst="rect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486400"/>
            <a:ext cx="310896" cy="1371600"/>
          </a:xfrm>
          <a:prstGeom prst="rect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149840" y="640080"/>
            <a:ext cx="1554480" cy="1554480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81360" y="1554480"/>
            <a:ext cx="914400" cy="914400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rdrop 9"/>
          <p:cNvSpPr/>
          <p:nvPr/>
        </p:nvSpPr>
        <p:spPr>
          <a:xfrm>
            <a:off x="9784080" y="1828800"/>
            <a:ext cx="822960" cy="822960"/>
          </a:xfrm>
          <a:prstGeom prst="teardrop">
            <a:avLst/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5840" y="1298448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344168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CLOUD PROGRAMMING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975104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D98E6A"/>
                </a:solidFill>
                <a:latin typeface="Malgun Gothic"/>
              </a:rPr>
              <a:t>Week 08  ·  블록 2 미니 과제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487168"/>
            <a:ext cx="10241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3A302A"/>
                </a:solidFill>
                <a:latin typeface="Malgun Gothic"/>
              </a:rPr>
              <a:t>검색으로 근거를 찾는다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21868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D98E6A"/>
                </a:solidFill>
                <a:latin typeface="Malgun Gothic"/>
              </a:rPr>
              <a:t>— RAG 검색증강생성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91363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5D52"/>
                </a:solidFill>
                <a:latin typeface="Malgun Gothic"/>
              </a:rPr>
              <a:t>문서 임베딩 → 벡터DB → 검색 → LLM 컨텍스트 주입 → 근거 있는 /ask 답변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4407408"/>
            <a:ext cx="9692640" cy="1051560"/>
          </a:xfrm>
          <a:prstGeom prst="roundRect">
            <a:avLst>
              <a:gd name="adj" fmla="val 7826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0120" y="4407408"/>
            <a:ext cx="128016" cy="1051560"/>
          </a:xfrm>
          <a:prstGeom prst="roundRect">
            <a:avLst>
              <a:gd name="adj" fmla="val 35714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4535424"/>
            <a:ext cx="91440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D98E6A"/>
                </a:solidFill>
                <a:latin typeface="Malgun Gothic"/>
              </a:rPr>
              <a:t>오늘의 한 줄  </a:t>
            </a:r>
            <a:r>
              <a:rPr sz="1350" b="0">
                <a:solidFill>
                  <a:srgbClr val="3A302A"/>
                </a:solidFill>
                <a:latin typeface="Malgun Gothic"/>
              </a:rPr>
              <a:t>문서를 임베딩해 벡터DB에 넣고, 질문과 관련된 조각만 찾아 LLM에 넣어 근거 있는 답을 만든다.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0">
                <a:solidFill>
                  <a:srgbClr val="6B5D52"/>
                </a:solidFill>
                <a:latin typeface="Malgun Gothic"/>
              </a:rPr>
              <a:t>week06(생성) + week07(임베딩)에서 만든 부품을 하나의 파이프라인으로 조립해 docpilot의 핵심을 완성한다.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614416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B5D52"/>
                </a:solidFill>
                <a:latin typeface="Malgun Gothic"/>
              </a:rPr>
              <a:t>docpilot 진화:  </a:t>
            </a:r>
            <a:r>
              <a:rPr sz="1200" b="0">
                <a:solidFill>
                  <a:srgbClr val="3A302A"/>
                </a:solidFill>
                <a:latin typeface="Malgun Gothic"/>
              </a:rPr>
              <a:t>업로드 → 청킹 → 임베딩(week07) → 벡터DB(Chroma/pgvector) → 검색 → 컨텍스트 주입 → /ask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6053328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Malgun Gothic"/>
              </a:rPr>
              <a:t>★ Block 2 평가 기준: </a:t>
            </a:r>
            <a:r>
              <a:rPr sz="1150" b="0">
                <a:solidFill>
                  <a:srgbClr val="6B5D52"/>
                </a:solidFill>
                <a:latin typeface="Malgun Gothic"/>
              </a:rPr>
              <a:t>파이프라인 4단계가 실제로 도는가 · 출처가 보이는가 · 없는 걸 지어내지 않는가.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학습 목표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08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02 /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810512"/>
            <a:ext cx="5212080" cy="1298448"/>
          </a:xfrm>
          <a:prstGeom prst="roundRect">
            <a:avLst>
              <a:gd name="adj" fmla="val 6338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810512"/>
            <a:ext cx="128016" cy="1298448"/>
          </a:xfrm>
          <a:prstGeom prst="roundRect">
            <a:avLst>
              <a:gd name="adj" fmla="val 35714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78408" y="2194560"/>
            <a:ext cx="530352" cy="53035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219456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3352" y="1901952"/>
            <a:ext cx="4059936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302A"/>
                </a:solidFill>
                <a:latin typeface="Malgun Gothic"/>
              </a:rPr>
              <a:t>핵심 용어 설명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6B5D52"/>
                </a:solidFill>
                <a:latin typeface="Malgun Gothic"/>
              </a:rPr>
              <a:t>임베딩·유사도, 벡터DB, 청킹·검색의 역할을 설명할 수 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810512"/>
            <a:ext cx="5212080" cy="1298448"/>
          </a:xfrm>
          <a:prstGeom prst="roundRect">
            <a:avLst>
              <a:gd name="adj" fmla="val 6338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810512"/>
            <a:ext cx="128016" cy="1298448"/>
          </a:xfrm>
          <a:prstGeom prst="roundRect">
            <a:avLst>
              <a:gd name="adj" fmla="val 35714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56248" y="2194560"/>
            <a:ext cx="530352" cy="530352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219456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1192" y="1901952"/>
            <a:ext cx="4059936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302A"/>
                </a:solidFill>
                <a:latin typeface="Malgun Gothic"/>
              </a:rPr>
              <a:t>RAG 4단계 이해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6B5D52"/>
                </a:solidFill>
                <a:latin typeface="Malgun Gothic"/>
              </a:rPr>
              <a:t>인덱싱 → 검색 → 컨텍스트 주입 → 생성의 흐름을 이해한다.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246120"/>
            <a:ext cx="5212080" cy="1298448"/>
          </a:xfrm>
          <a:prstGeom prst="roundRect">
            <a:avLst>
              <a:gd name="adj" fmla="val 6338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3246120"/>
            <a:ext cx="128016" cy="1298448"/>
          </a:xfrm>
          <a:prstGeom prst="roundRect">
            <a:avLst>
              <a:gd name="adj" fmla="val 35714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8408" y="3630168"/>
            <a:ext cx="530352" cy="53035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" y="363016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3352" y="3337560"/>
            <a:ext cx="4059936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302A"/>
                </a:solidFill>
                <a:latin typeface="Malgun Gothic"/>
              </a:rPr>
              <a:t>인덱싱 스크립트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6B5D52"/>
                </a:solidFill>
                <a:latin typeface="Malgun Gothic"/>
              </a:rPr>
              <a:t>문서를 청킹·임베딩해 Chroma에 저장하는 스크립트를 만든다.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246120"/>
            <a:ext cx="5212080" cy="1298448"/>
          </a:xfrm>
          <a:prstGeom prst="roundRect">
            <a:avLst>
              <a:gd name="adj" fmla="val 6338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63640" y="3246120"/>
            <a:ext cx="128016" cy="1298448"/>
          </a:xfrm>
          <a:prstGeom prst="roundRect">
            <a:avLst>
              <a:gd name="adj" fmla="val 35714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56248" y="3630168"/>
            <a:ext cx="530352" cy="530352"/>
          </a:xfrm>
          <a:prstGeom prst="ellipse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63016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51192" y="3337560"/>
            <a:ext cx="4059936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302A"/>
                </a:solidFill>
                <a:latin typeface="Malgun Gothic"/>
              </a:rPr>
              <a:t>/ask 구현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6B5D52"/>
                </a:solidFill>
                <a:latin typeface="Malgun Gothic"/>
              </a:rPr>
              <a:t>질의 시 유사 청크를 검색해 LLM에 주입하는 /ask를 구현한다.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681728"/>
            <a:ext cx="5212080" cy="1298448"/>
          </a:xfrm>
          <a:prstGeom prst="roundRect">
            <a:avLst>
              <a:gd name="adj" fmla="val 6338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5800" y="4681728"/>
            <a:ext cx="128016" cy="1298448"/>
          </a:xfrm>
          <a:prstGeom prst="roundRect">
            <a:avLst>
              <a:gd name="adj" fmla="val 35714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78408" y="5065776"/>
            <a:ext cx="530352" cy="530352"/>
          </a:xfrm>
          <a:prstGeom prst="ellipse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" y="506577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73352" y="4773168"/>
            <a:ext cx="4059936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302A"/>
                </a:solidFill>
                <a:latin typeface="Malgun Gothic"/>
              </a:rPr>
              <a:t>왜 RAG인가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6B5D52"/>
                </a:solidFill>
                <a:latin typeface="Malgun Gothic"/>
              </a:rPr>
              <a:t>할루시네이션·최신성·비용·출처를 근거로 설명한다.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4681728"/>
            <a:ext cx="5212080" cy="1298448"/>
          </a:xfrm>
          <a:prstGeom prst="roundRect">
            <a:avLst>
              <a:gd name="adj" fmla="val 6338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63640" y="4681728"/>
            <a:ext cx="128016" cy="1298448"/>
          </a:xfrm>
          <a:prstGeom prst="roundRect">
            <a:avLst>
              <a:gd name="adj" fmla="val 35714"/>
            </a:avLst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556248" y="5065776"/>
            <a:ext cx="530352" cy="530352"/>
          </a:xfrm>
          <a:prstGeom prst="ellipse">
            <a:avLst/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56248" y="506577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51192" y="4773168"/>
            <a:ext cx="4059936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302A"/>
                </a:solidFill>
                <a:latin typeface="Malgun Gothic"/>
              </a:rPr>
              <a:t>(대안) pgvector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6B5D52"/>
                </a:solidFill>
                <a:latin typeface="Malgun Gothic"/>
              </a:rPr>
              <a:t>pgvector로도 같은 검색을 할 수 있음을 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CONCEPTS ·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개념 (요약)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08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03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276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D98E6A"/>
                </a:solidFill>
                <a:latin typeface="Malgun Gothic"/>
              </a:rPr>
              <a:t>① 왜 RAG인가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38528"/>
            <a:ext cx="5532120" cy="1572768"/>
          </a:xfrm>
          <a:prstGeom prst="roundRect">
            <a:avLst>
              <a:gd name="adj" fmla="val 5232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1938528"/>
            <a:ext cx="128016" cy="1572768"/>
          </a:xfrm>
          <a:prstGeom prst="roundRect">
            <a:avLst>
              <a:gd name="adj" fmla="val 35714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048256"/>
            <a:ext cx="51206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0">
                <a:solidFill>
                  <a:srgbClr val="6B5D52"/>
                </a:solidFill>
                <a:latin typeface="Malgun Gothic"/>
              </a:rPr>
              <a:t>LLM은 학습 시점 지식만 안다. 우리 문서를 그냥 물으면 </a:t>
            </a:r>
            <a:r>
              <a:rPr sz="960" b="1">
                <a:solidFill>
                  <a:srgbClr val="3A302A"/>
                </a:solidFill>
                <a:latin typeface="Malgun Gothic"/>
              </a:rPr>
              <a:t>지어낸다(할루시네이션).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960" b="0">
                <a:solidFill>
                  <a:srgbClr val="6B5D52"/>
                </a:solidFill>
                <a:latin typeface="Malgun Gothic"/>
              </a:rPr>
              <a:t>문서를 통째로 넣으면 </a:t>
            </a:r>
            <a:r>
              <a:rPr sz="960" b="1">
                <a:solidFill>
                  <a:srgbClr val="3A302A"/>
                </a:solidFill>
                <a:latin typeface="Malgun Gothic"/>
              </a:rPr>
              <a:t>컨텍스트 한도 초과 + 비용 폭발.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980" b="1">
                <a:solidFill>
                  <a:srgbClr val="D98E6A"/>
                </a:solidFill>
                <a:latin typeface="Malgun Gothic"/>
              </a:rPr>
              <a:t>RAG = 관련 조각만 찾아(Retrieval) 넣고(Augment) 답을 만든다(Generation).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960" b="0">
                <a:solidFill>
                  <a:srgbClr val="6B5D52"/>
                </a:solidFill>
                <a:latin typeface="Malgun Gothic"/>
              </a:rPr>
              <a:t>이점: 정확도↑ · 최신 반영 · 비용↓ · 출처 표시 가능.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75887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D98E6A"/>
                </a:solidFill>
                <a:latin typeface="Malgun Gothic"/>
              </a:rPr>
              <a:t>③ 청킹 · ④ 벡터DB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986784"/>
            <a:ext cx="5532120" cy="2267712"/>
          </a:xfrm>
          <a:prstGeom prst="roundRect">
            <a:avLst>
              <a:gd name="adj" fmla="val 3629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" y="3986784"/>
            <a:ext cx="128016" cy="2267712"/>
          </a:xfrm>
          <a:prstGeom prst="roundRect">
            <a:avLst>
              <a:gd name="adj" fmla="val 35714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096512"/>
            <a:ext cx="5120640" cy="20482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A302A"/>
                </a:solidFill>
                <a:latin typeface="Malgun Gothic"/>
              </a:rPr>
              <a:t>청킹(chunking)  </a:t>
            </a:r>
            <a:r>
              <a:rPr sz="940" b="0">
                <a:solidFill>
                  <a:srgbClr val="6B5D52"/>
                </a:solidFill>
                <a:latin typeface="Malgun Gothic"/>
              </a:rPr>
              <a:t>문서를 검색 단위로 자른다. 크면 잡음이, 작으면 맥락이 끊긴다.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940" b="1">
                <a:solidFill>
                  <a:srgbClr val="D98E6A"/>
                </a:solidFill>
                <a:latin typeface="Malgun Gothic"/>
              </a:rPr>
              <a:t>실무 기본값: 300~800자, 겹침(overlap) 10~20%.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</a:pPr>
            <a:r>
              <a:rPr sz="1000" b="1">
                <a:solidFill>
                  <a:srgbClr val="3A302A"/>
                </a:solidFill>
                <a:latin typeface="Malgun Gothic"/>
              </a:rPr>
              <a:t>Chroma  </a:t>
            </a:r>
            <a:r>
              <a:rPr sz="940" b="0">
                <a:solidFill>
                  <a:srgbClr val="6B5D52"/>
                </a:solidFill>
                <a:latin typeface="Malgun Gothic"/>
              </a:rPr>
              <a:t>파이썬 임베디드·파일 로컬 저장·세팅 간단 → 이번 주 기본.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1">
                <a:solidFill>
                  <a:srgbClr val="3A302A"/>
                </a:solidFill>
                <a:latin typeface="Malgun Gothic"/>
              </a:rPr>
              <a:t>pgvector  </a:t>
            </a:r>
            <a:r>
              <a:rPr sz="940" b="0">
                <a:solidFill>
                  <a:srgbClr val="6B5D52"/>
                </a:solidFill>
                <a:latin typeface="Malgun Gothic"/>
              </a:rPr>
              <a:t>PostgreSQL 확장·기존 DB(week03) 재사용·SQL 조회 → 대안.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940" b="1">
                <a:solidFill>
                  <a:srgbClr val="3A302A"/>
                </a:solidFill>
                <a:latin typeface="Malgun Gothic"/>
              </a:rPr>
              <a:t>→ 벡터DB는 "가장 가까운 k개"를 빠르게 찾아주는 DB.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62763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D98E6A"/>
                </a:solidFill>
                <a:latin typeface="Malgun Gothic"/>
              </a:rPr>
              <a:t>② 파이프라인 4단계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1938528"/>
            <a:ext cx="5120640" cy="1517904"/>
          </a:xfrm>
          <a:prstGeom prst="roundRect">
            <a:avLst>
              <a:gd name="adj" fmla="val 4819"/>
            </a:avLst>
          </a:prstGeom>
          <a:solidFill>
            <a:srgbClr val="FBF2E6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2048256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98E6A"/>
                </a:solidFill>
                <a:latin typeface="Malgun Gothic"/>
              </a:rPr>
              <a:t>인덱싱 — 사전 1회</a:t>
            </a:r>
          </a:p>
        </p:txBody>
      </p:sp>
      <p:sp>
        <p:nvSpPr>
          <p:cNvPr id="22" name="Chevron 21"/>
          <p:cNvSpPr/>
          <p:nvPr/>
        </p:nvSpPr>
        <p:spPr>
          <a:xfrm>
            <a:off x="6583680" y="2395728"/>
            <a:ext cx="932688" cy="457200"/>
          </a:xfrm>
          <a:prstGeom prst="chevron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2395728"/>
            <a:ext cx="9326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60" b="1">
                <a:solidFill>
                  <a:srgbClr val="3A302A"/>
                </a:solidFill>
                <a:latin typeface="Malgun Gothic"/>
              </a:rPr>
              <a:t>문서</a:t>
            </a:r>
          </a:p>
        </p:txBody>
      </p:sp>
      <p:sp>
        <p:nvSpPr>
          <p:cNvPr id="24" name="Chevron 23"/>
          <p:cNvSpPr/>
          <p:nvPr/>
        </p:nvSpPr>
        <p:spPr>
          <a:xfrm>
            <a:off x="7562088" y="2395728"/>
            <a:ext cx="932688" cy="457200"/>
          </a:xfrm>
          <a:prstGeom prst="chevron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62088" y="2395728"/>
            <a:ext cx="9326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60" b="1">
                <a:solidFill>
                  <a:srgbClr val="3A302A"/>
                </a:solidFill>
                <a:latin typeface="Malgun Gothic"/>
              </a:rPr>
              <a:t>청킹</a:t>
            </a:r>
          </a:p>
        </p:txBody>
      </p:sp>
      <p:sp>
        <p:nvSpPr>
          <p:cNvPr id="26" name="Chevron 25"/>
          <p:cNvSpPr/>
          <p:nvPr/>
        </p:nvSpPr>
        <p:spPr>
          <a:xfrm>
            <a:off x="8540496" y="2395728"/>
            <a:ext cx="932688" cy="457200"/>
          </a:xfrm>
          <a:prstGeom prst="chevron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0496" y="2395728"/>
            <a:ext cx="93268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60" b="1">
                <a:solidFill>
                  <a:srgbClr val="3A302A"/>
                </a:solidFill>
                <a:latin typeface="Malgun Gothic"/>
              </a:rPr>
              <a:t>임베딩</a:t>
            </a:r>
          </a:p>
        </p:txBody>
      </p:sp>
      <p:sp>
        <p:nvSpPr>
          <p:cNvPr id="28" name="Chevron 27"/>
          <p:cNvSpPr/>
          <p:nvPr/>
        </p:nvSpPr>
        <p:spPr>
          <a:xfrm>
            <a:off x="9518904" y="2395728"/>
            <a:ext cx="1234440" cy="457200"/>
          </a:xfrm>
          <a:prstGeom prst="chevron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18904" y="2395728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60" b="1">
                <a:solidFill>
                  <a:srgbClr val="3A302A"/>
                </a:solidFill>
                <a:latin typeface="Malgun Gothic"/>
              </a:rPr>
              <a:t>벡터DB 저장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2980944"/>
            <a:ext cx="46634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B5D52"/>
                </a:solidFill>
                <a:latin typeface="Malgun Gothic"/>
              </a:rPr>
              <a:t>문서를 조각내 벡터로 바꿔 저장(질의 전에 미리).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80" y="3602736"/>
            <a:ext cx="5120640" cy="2651760"/>
          </a:xfrm>
          <a:prstGeom prst="roundRect">
            <a:avLst>
              <a:gd name="adj" fmla="val 2758"/>
            </a:avLst>
          </a:prstGeom>
          <a:solidFill>
            <a:srgbClr val="FBF2E6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3712463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98E6A"/>
                </a:solidFill>
                <a:latin typeface="Malgun Gothic"/>
              </a:rPr>
              <a:t>질의 — 매 질문</a:t>
            </a:r>
          </a:p>
        </p:txBody>
      </p:sp>
      <p:sp>
        <p:nvSpPr>
          <p:cNvPr id="33" name="Oval 32"/>
          <p:cNvSpPr/>
          <p:nvPr/>
        </p:nvSpPr>
        <p:spPr>
          <a:xfrm>
            <a:off x="6629400" y="4078224"/>
            <a:ext cx="310896" cy="310896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59168" y="4041648"/>
            <a:ext cx="43434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00" b="1">
                <a:solidFill>
                  <a:srgbClr val="3A302A"/>
                </a:solidFill>
                <a:latin typeface="Malgun Gothic"/>
              </a:rPr>
              <a:t>① 질문 임베딩</a:t>
            </a:r>
            <a:r>
              <a:rPr sz="900" b="0">
                <a:solidFill>
                  <a:srgbClr val="6B5D52"/>
                </a:solidFill>
                <a:latin typeface="Malgun Gothic"/>
              </a:rPr>
              <a:t>  질문을 같은 모델로 벡터화</a:t>
            </a:r>
          </a:p>
        </p:txBody>
      </p:sp>
      <p:sp>
        <p:nvSpPr>
          <p:cNvPr id="35" name="Oval 34"/>
          <p:cNvSpPr/>
          <p:nvPr/>
        </p:nvSpPr>
        <p:spPr>
          <a:xfrm>
            <a:off x="6629400" y="4626864"/>
            <a:ext cx="310896" cy="310896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59168" y="4590288"/>
            <a:ext cx="43434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00" b="1">
                <a:solidFill>
                  <a:srgbClr val="3A302A"/>
                </a:solidFill>
                <a:latin typeface="Malgun Gothic"/>
              </a:rPr>
              <a:t>② 검색</a:t>
            </a:r>
            <a:r>
              <a:rPr sz="900" b="0">
                <a:solidFill>
                  <a:srgbClr val="6B5D52"/>
                </a:solidFill>
                <a:latin typeface="Malgun Gothic"/>
              </a:rPr>
              <a:t>  벡터DB에서 top-k 유사 조각</a:t>
            </a:r>
          </a:p>
        </p:txBody>
      </p:sp>
      <p:sp>
        <p:nvSpPr>
          <p:cNvPr id="37" name="Oval 36"/>
          <p:cNvSpPr/>
          <p:nvPr/>
        </p:nvSpPr>
        <p:spPr>
          <a:xfrm>
            <a:off x="6629400" y="5175503"/>
            <a:ext cx="310896" cy="310896"/>
          </a:xfrm>
          <a:prstGeom prst="ellipse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59168" y="5138927"/>
            <a:ext cx="43434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00" b="1">
                <a:solidFill>
                  <a:srgbClr val="3A302A"/>
                </a:solidFill>
                <a:latin typeface="Malgun Gothic"/>
              </a:rPr>
              <a:t>③ 컨텍스트 주입</a:t>
            </a:r>
            <a:r>
              <a:rPr sz="900" b="0">
                <a:solidFill>
                  <a:srgbClr val="6B5D52"/>
                </a:solidFill>
                <a:latin typeface="Malgun Gothic"/>
              </a:rPr>
              <a:t>  system + 조각들 + 질문으로 프롬프트 구성</a:t>
            </a:r>
          </a:p>
        </p:txBody>
      </p:sp>
      <p:sp>
        <p:nvSpPr>
          <p:cNvPr id="39" name="Oval 38"/>
          <p:cNvSpPr/>
          <p:nvPr/>
        </p:nvSpPr>
        <p:spPr>
          <a:xfrm>
            <a:off x="6629400" y="5724143"/>
            <a:ext cx="310896" cy="310896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59168" y="5687567"/>
            <a:ext cx="43434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000" b="1">
                <a:solidFill>
                  <a:srgbClr val="3A302A"/>
                </a:solidFill>
                <a:latin typeface="Malgun Gothic"/>
              </a:rPr>
              <a:t>④ 생성</a:t>
            </a:r>
            <a:r>
              <a:rPr sz="900" b="0">
                <a:solidFill>
                  <a:srgbClr val="6B5D52"/>
                </a:solidFill>
                <a:latin typeface="Malgun Gothic"/>
              </a:rPr>
              <a:t>  LLM → 답 + 출처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PREREQUISITES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사전 준비 — 부품과 실습 흐름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08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04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4592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준비물 체크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057400"/>
            <a:ext cx="5669280" cy="841248"/>
          </a:xfrm>
          <a:prstGeom prst="roundRect">
            <a:avLst>
              <a:gd name="adj" fmla="val 9782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2295144"/>
            <a:ext cx="365760" cy="365760"/>
          </a:xfrm>
          <a:prstGeom prst="ellipse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29514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032" y="2148840"/>
            <a:ext cx="4800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3A302A"/>
                </a:solidFill>
                <a:latin typeface="Malgun Gothic"/>
              </a:rPr>
              <a:t>week07의 임베딩 (app/embeddings.py)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980" b="0">
                <a:solidFill>
                  <a:srgbClr val="6B5D52"/>
                </a:solidFill>
                <a:latin typeface="Malgun Gothic"/>
              </a:rPr>
              <a:t>embed() 재사용 — 인덱싱·질의 모델 일치가 핵심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990088"/>
            <a:ext cx="5669280" cy="841248"/>
          </a:xfrm>
          <a:prstGeom prst="roundRect">
            <a:avLst>
              <a:gd name="adj" fmla="val 9782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3227832"/>
            <a:ext cx="365760" cy="365760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22783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9032" y="3081528"/>
            <a:ext cx="4800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3A302A"/>
                </a:solidFill>
                <a:latin typeface="Malgun Gothic"/>
              </a:rPr>
              <a:t>week06의 LLM (app/llm.py)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980" b="0">
                <a:solidFill>
                  <a:srgbClr val="6B5D52"/>
                </a:solidFill>
                <a:latin typeface="Malgun Gothic"/>
              </a:rPr>
              <a:t>complete() / build_messages() — 생성 단계에 사용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922776"/>
            <a:ext cx="5669280" cy="841248"/>
          </a:xfrm>
          <a:prstGeom prst="roundRect">
            <a:avLst>
              <a:gd name="adj" fmla="val 9782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8680" y="4160520"/>
            <a:ext cx="365760" cy="365760"/>
          </a:xfrm>
          <a:prstGeom prst="ellipse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6052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2" y="4014215"/>
            <a:ext cx="4800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3A302A"/>
                </a:solidFill>
                <a:latin typeface="Malgun Gothic"/>
              </a:rPr>
              <a:t>LLM 프로바이더 키 또는 Ollama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980" b="0">
                <a:solidFill>
                  <a:srgbClr val="6B5D52"/>
                </a:solidFill>
                <a:latin typeface="Malgun Gothic"/>
              </a:rPr>
              <a:t>OpenAI/Gemini 키 (생성 단계에 필요)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855464"/>
            <a:ext cx="5669280" cy="841248"/>
          </a:xfrm>
          <a:prstGeom prst="roundRect">
            <a:avLst>
              <a:gd name="adj" fmla="val 9782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8680" y="5093207"/>
            <a:ext cx="365760" cy="365760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093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99032" y="4946903"/>
            <a:ext cx="4800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3A302A"/>
                </a:solidFill>
                <a:latin typeface="Malgun Gothic"/>
              </a:rPr>
              <a:t>(pgvector 대안 시) week03 PostgreSQL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980" b="0">
                <a:solidFill>
                  <a:srgbClr val="6B5D52"/>
                </a:solidFill>
                <a:latin typeface="Consolas"/>
              </a:rPr>
              <a:t>pgvector/pgvector:pg16 이미지로 교체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164592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D98E6A"/>
                </a:solidFill>
                <a:latin typeface="Malgun Gothic"/>
              </a:rPr>
              <a:t>이번 주 흐름 (4부)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20840" y="2029968"/>
            <a:ext cx="4754880" cy="896112"/>
          </a:xfrm>
          <a:prstGeom prst="roundRect">
            <a:avLst>
              <a:gd name="adj" fmla="val 9183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720840" y="2029968"/>
            <a:ext cx="128016" cy="896112"/>
          </a:xfrm>
          <a:prstGeom prst="roundRect">
            <a:avLst>
              <a:gd name="adj" fmla="val 35714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95160" y="2130552"/>
            <a:ext cx="434340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3A302A"/>
                </a:solidFill>
                <a:latin typeface="Malgun Gothic"/>
              </a:rPr>
              <a:t>1부. 준비</a:t>
            </a:r>
          </a:p>
          <a:p>
            <a:pPr algn="l">
              <a:lnSpc>
                <a:spcPct val="103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6B5D52"/>
                </a:solidFill>
                <a:latin typeface="Malgun Gothic"/>
              </a:rPr>
              <a:t>Chroma 설치 + 겹침 청킹 유틸(app/chunking.py)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20840" y="3017520"/>
            <a:ext cx="4754880" cy="896112"/>
          </a:xfrm>
          <a:prstGeom prst="roundRect">
            <a:avLst>
              <a:gd name="adj" fmla="val 9183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720840" y="3017520"/>
            <a:ext cx="128016" cy="896112"/>
          </a:xfrm>
          <a:prstGeom prst="roundRect">
            <a:avLst>
              <a:gd name="adj" fmla="val 35714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95160" y="3118104"/>
            <a:ext cx="434340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3A302A"/>
                </a:solidFill>
                <a:latin typeface="Malgun Gothic"/>
              </a:rPr>
              <a:t>2부. 인덱싱</a:t>
            </a:r>
          </a:p>
          <a:p>
            <a:pPr algn="l">
              <a:lnSpc>
                <a:spcPct val="103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6B5D52"/>
                </a:solidFill>
                <a:latin typeface="Malgun Gothic"/>
              </a:rPr>
              <a:t>벡터스토어 + 로더 + 인덱싱 스크립트(문서→벡터DB)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20840" y="4005072"/>
            <a:ext cx="4754880" cy="896112"/>
          </a:xfrm>
          <a:prstGeom prst="roundRect">
            <a:avLst>
              <a:gd name="adj" fmla="val 9183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720840" y="4005072"/>
            <a:ext cx="128016" cy="896112"/>
          </a:xfrm>
          <a:prstGeom prst="roundRect">
            <a:avLst>
              <a:gd name="adj" fmla="val 35714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95160" y="4105656"/>
            <a:ext cx="434340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3A302A"/>
                </a:solidFill>
                <a:latin typeface="Malgun Gothic"/>
              </a:rPr>
              <a:t>3부. 검색 + 생성</a:t>
            </a:r>
          </a:p>
          <a:p>
            <a:pPr algn="l">
              <a:lnSpc>
                <a:spcPct val="103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6B5D52"/>
                </a:solidFill>
                <a:latin typeface="Malgun Gothic"/>
              </a:rPr>
              <a:t>app/rag.py + /ask — 컨텍스트 주입·출처(핵심)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20840" y="4992624"/>
            <a:ext cx="4754880" cy="896112"/>
          </a:xfrm>
          <a:prstGeom prst="roundRect">
            <a:avLst>
              <a:gd name="adj" fmla="val 9183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720840" y="4992624"/>
            <a:ext cx="128016" cy="896112"/>
          </a:xfrm>
          <a:prstGeom prst="roundRect">
            <a:avLst>
              <a:gd name="adj" fmla="val 35714"/>
            </a:avLst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95160" y="5093208"/>
            <a:ext cx="434340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3A302A"/>
                </a:solidFill>
                <a:latin typeface="Malgun Gothic"/>
              </a:rPr>
              <a:t>4부. (대안) pgvector</a:t>
            </a:r>
          </a:p>
          <a:p>
            <a:pPr algn="l">
              <a:lnSpc>
                <a:spcPct val="103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6B5D52"/>
                </a:solidFill>
                <a:latin typeface="Malgun Gothic"/>
              </a:rPr>
              <a:t>같은 인터페이스를 SQL로 — 벡터DB 교체 체감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720840" y="5998464"/>
            <a:ext cx="4754880" cy="548640"/>
          </a:xfrm>
          <a:prstGeom prst="roundRect">
            <a:avLst>
              <a:gd name="adj" fmla="val 15000"/>
            </a:avLst>
          </a:prstGeom>
          <a:solidFill>
            <a:srgbClr val="C9A2C0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95160" y="6035040"/>
            <a:ext cx="4297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검색 공개 함수 = </a:t>
            </a:r>
            <a:r>
              <a:rPr sz="960" b="0">
                <a:solidFill>
                  <a:srgbClr val="3A302A"/>
                </a:solidFill>
                <a:latin typeface="Malgun Gothic"/>
              </a:rPr>
              <a:t>app/vectorstore.py 의 search — week09~11이 도구로 재사용.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PART 1 · STEP 1 · INSTALL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1부 · Chroma 설치와 설정 (1단계)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08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05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276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98E6A"/>
                </a:solidFill>
                <a:latin typeface="Malgun Gothic"/>
              </a:rPr>
              <a:t>로컬 벡터DB — 서버 없이 파일로 저장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38528"/>
            <a:ext cx="5852160" cy="1572768"/>
          </a:xfrm>
          <a:prstGeom prst="roundRect">
            <a:avLst>
              <a:gd name="adj" fmla="val 5813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103120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2103120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99032" y="2103120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395728"/>
            <a:ext cx="5394960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>
                <a:solidFill>
                  <a:srgbClr val="9FD8CB"/>
                </a:solidFill>
                <a:latin typeface="Consolas"/>
              </a:rPr>
              <a:t># 설치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>
                <a:solidFill>
                  <a:srgbClr val="F6D186"/>
                </a:solidFill>
                <a:latin typeface="Consolas"/>
              </a:rPr>
              <a:t>$ pip install "chromadb&gt;=0.5" "pypdf&gt;=4.0"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>
                <a:solidFill>
                  <a:srgbClr val="9FD8CB"/>
                </a:solidFill>
                <a:latin typeface="Consolas"/>
              </a:rPr>
              <a:t># 확인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>
                <a:solidFill>
                  <a:srgbClr val="F6D186"/>
                </a:solidFill>
                <a:latin typeface="Consolas"/>
              </a:rPr>
              <a:t>$ python -c \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>
                <a:solidFill>
                  <a:srgbClr val="F6D186"/>
                </a:solidFill>
                <a:latin typeface="Consolas"/>
              </a:rPr>
              <a:t>  "import chromadb; print(chromadb.__version__)"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6576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98E6A"/>
                </a:solidFill>
                <a:latin typeface="Malgun Gothic"/>
              </a:rPr>
              <a:t>.env 에 저장 경로·검색 파라미터 추가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68496"/>
            <a:ext cx="5852160" cy="2011680"/>
          </a:xfrm>
          <a:prstGeom prst="roundRect">
            <a:avLst>
              <a:gd name="adj" fmla="val 4545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86968" y="4133087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3000" y="4133087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9032" y="4133087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4425696"/>
            <a:ext cx="5394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>
                <a:solidFill>
                  <a:srgbClr val="9FD8CB"/>
                </a:solidFill>
                <a:latin typeface="Consolas"/>
              </a:rPr>
              <a:t># RAG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>
                <a:solidFill>
                  <a:srgbClr val="F3EAE0"/>
                </a:solidFill>
                <a:latin typeface="Consolas"/>
              </a:rPr>
              <a:t>CHROMA_DIR=./chroma_data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>
                <a:solidFill>
                  <a:srgbClr val="F3EAE0"/>
                </a:solidFill>
                <a:latin typeface="Consolas"/>
              </a:rPr>
              <a:t>RAG_COLLECTION=docpilot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>
                <a:solidFill>
                  <a:srgbClr val="F3EAE0"/>
                </a:solidFill>
                <a:latin typeface="Consolas"/>
              </a:rPr>
              <a:t>CHUNK_SIZE=600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>
                <a:solidFill>
                  <a:srgbClr val="F3EAE0"/>
                </a:solidFill>
                <a:latin typeface="Consolas"/>
              </a:rPr>
              <a:t>CHUNK_OVERLAP=100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>
                <a:solidFill>
                  <a:srgbClr val="F3EAE0"/>
                </a:solidFill>
                <a:latin typeface="Consolas"/>
              </a:rPr>
              <a:t>TOP_K=4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162763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Malgun Gothic"/>
              </a:rPr>
              <a:t>app/config.py — Settings에 필드 추가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20840" y="1938528"/>
            <a:ext cx="4754880" cy="2606040"/>
          </a:xfrm>
          <a:prstGeom prst="roundRect">
            <a:avLst>
              <a:gd name="adj" fmla="val 3508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922007" y="2103120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178040" y="2103120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434071" y="2103120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76872" y="2395728"/>
            <a:ext cx="42976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>
                <a:solidFill>
                  <a:srgbClr val="9FD8CB"/>
                </a:solidFill>
                <a:latin typeface="Consolas"/>
              </a:rPr>
              <a:t># app/config.py (Settings 안에 추가)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>
                <a:solidFill>
                  <a:srgbClr val="9FD8CB"/>
                </a:solidFill>
                <a:latin typeface="Consolas"/>
              </a:rPr>
              <a:t>    # RAG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>
                <a:solidFill>
                  <a:srgbClr val="F3EAE0"/>
                </a:solidFill>
                <a:latin typeface="Consolas"/>
              </a:rPr>
              <a:t>    chroma_dir: str = "./chroma_data"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>
                <a:solidFill>
                  <a:srgbClr val="F3EAE0"/>
                </a:solidFill>
                <a:latin typeface="Consolas"/>
              </a:rPr>
              <a:t>    rag_collection: str = "docpilot"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>
                <a:solidFill>
                  <a:srgbClr val="F3EAE0"/>
                </a:solidFill>
                <a:latin typeface="Consolas"/>
              </a:rPr>
              <a:t>    chunk_size: int = 600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>
                <a:solidFill>
                  <a:srgbClr val="F3EAE0"/>
                </a:solidFill>
                <a:latin typeface="Consolas"/>
              </a:rPr>
              <a:t>    chunk_overlap: int = 100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>
                <a:solidFill>
                  <a:srgbClr val="F3EAE0"/>
                </a:solidFill>
                <a:latin typeface="Consolas"/>
              </a:rPr>
              <a:t>    top_k: int = 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20840" y="4709160"/>
            <a:ext cx="4754880" cy="1234440"/>
          </a:xfrm>
          <a:prstGeom prst="roundRect">
            <a:avLst>
              <a:gd name="adj" fmla="val 6666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720840" y="4709160"/>
            <a:ext cx="128016" cy="1234440"/>
          </a:xfrm>
          <a:prstGeom prst="roundRect">
            <a:avLst>
              <a:gd name="adj" fmla="val 35714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95160" y="4828032"/>
            <a:ext cx="43434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Malgun Gothic"/>
              </a:rPr>
              <a:t>확인</a:t>
            </a:r>
          </a:p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0"/>
              </a:spcAft>
            </a:pPr>
            <a:r>
              <a:rPr sz="980" b="0">
                <a:solidFill>
                  <a:srgbClr val="3A302A"/>
                </a:solidFill>
                <a:latin typeface="Malgun Gothic"/>
              </a:rPr>
              <a:t>get_settings()가 </a:t>
            </a:r>
            <a:r>
              <a:rPr sz="960" b="1">
                <a:solidFill>
                  <a:srgbClr val="3A302A"/>
                </a:solidFill>
                <a:latin typeface="Consolas"/>
              </a:rPr>
              <a:t>./chroma_data 600 4</a:t>
            </a:r>
            <a:r>
              <a:rPr sz="980" b="0">
                <a:solidFill>
                  <a:srgbClr val="3A302A"/>
                </a:solidFill>
                <a:latin typeface="Malgun Gothic"/>
              </a:rPr>
              <a:t> 를 출력하면 .env 로딩 성공.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PART 1 · STEP 2 · CHUNKING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1부 · 겹침 청킹 유틸 app/chunking.py (2단계)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08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06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572768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Malgun Gothic"/>
              </a:rPr>
              <a:t>문자 기준 슬라이딩 윈도로 자른다(겹침 포함)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865376"/>
            <a:ext cx="6400800" cy="4114800"/>
          </a:xfrm>
          <a:prstGeom prst="roundRect">
            <a:avLst>
              <a:gd name="adj" fmla="val 2222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2029968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99032" y="2029968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322576"/>
            <a:ext cx="594360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40">
                <a:solidFill>
                  <a:srgbClr val="9FD8CB"/>
                </a:solidFill>
                <a:latin typeface="Consolas"/>
              </a:rPr>
              <a:t># app/chunking.py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40">
                <a:solidFill>
                  <a:srgbClr val="F6D186"/>
                </a:solidFill>
                <a:latin typeface="Consolas"/>
              </a:rPr>
              <a:t>from __future__ import annotations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4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40">
                <a:solidFill>
                  <a:srgbClr val="F6D186"/>
                </a:solidFill>
                <a:latin typeface="Consolas"/>
              </a:rPr>
              <a:t>def chunk_text(text: str, chunk_size: int = 600,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40">
                <a:solidFill>
                  <a:srgbClr val="F6D186"/>
                </a:solidFill>
                <a:latin typeface="Consolas"/>
              </a:rPr>
              <a:t>               overlap: int = 100) -&gt; list[str]: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40">
                <a:solidFill>
                  <a:srgbClr val="F4A78C"/>
                </a:solidFill>
                <a:latin typeface="Consolas"/>
              </a:rPr>
              <a:t>    """문자 기준 슬라이딩 윈도로 자른다(겹침)."""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40">
                <a:solidFill>
                  <a:srgbClr val="F3EAE0"/>
                </a:solidFill>
                <a:latin typeface="Consolas"/>
              </a:rPr>
              <a:t>    text = " ".join(text.split())  # 공백 정규화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40">
                <a:solidFill>
                  <a:srgbClr val="F3EAE0"/>
                </a:solidFill>
                <a:latin typeface="Consolas"/>
              </a:rPr>
              <a:t>    if not text: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40">
                <a:solidFill>
                  <a:srgbClr val="F3EAE0"/>
                </a:solidFill>
                <a:latin typeface="Consolas"/>
              </a:rPr>
              <a:t>        return []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40">
                <a:solidFill>
                  <a:srgbClr val="F3EAE0"/>
                </a:solidFill>
                <a:latin typeface="Consolas"/>
              </a:rPr>
              <a:t>    if chunk_size &lt;= overlap: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40">
                <a:solidFill>
                  <a:srgbClr val="F3EAE0"/>
                </a:solidFill>
                <a:latin typeface="Consolas"/>
              </a:rPr>
              <a:t>        raise ValueError(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40">
                <a:solidFill>
                  <a:srgbClr val="F4A78C"/>
                </a:solidFill>
                <a:latin typeface="Consolas"/>
              </a:rPr>
              <a:t>            "chunk_size must be greater than overlap")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40">
                <a:solidFill>
                  <a:srgbClr val="F3EAE0"/>
                </a:solidFill>
                <a:latin typeface="Consolas"/>
              </a:rPr>
              <a:t>    chunks: list[str] = []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40">
                <a:solidFill>
                  <a:srgbClr val="F3EAE0"/>
                </a:solidFill>
                <a:latin typeface="Consolas"/>
              </a:rPr>
              <a:t>    start = 0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40">
                <a:solidFill>
                  <a:srgbClr val="F3EAE0"/>
                </a:solidFill>
                <a:latin typeface="Consolas"/>
              </a:rPr>
              <a:t>    step = chunk_size - overlap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40">
                <a:solidFill>
                  <a:srgbClr val="F3EAE0"/>
                </a:solidFill>
                <a:latin typeface="Consolas"/>
              </a:rPr>
              <a:t>    while start &lt; len(text):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40">
                <a:solidFill>
                  <a:srgbClr val="F3EAE0"/>
                </a:solidFill>
                <a:latin typeface="Consolas"/>
              </a:rPr>
              <a:t>        end = start + chunk_size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40">
                <a:solidFill>
                  <a:srgbClr val="F3EAE0"/>
                </a:solidFill>
                <a:latin typeface="Consolas"/>
              </a:rPr>
              <a:t>        chunks.append(text[start:end])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40">
                <a:solidFill>
                  <a:srgbClr val="F3EAE0"/>
                </a:solidFill>
                <a:latin typeface="Consolas"/>
              </a:rPr>
              <a:t>        start += step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40">
                <a:solidFill>
                  <a:srgbClr val="F3EAE0"/>
                </a:solidFill>
                <a:latin typeface="Consolas"/>
              </a:rPr>
              <a:t>    return chunks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157276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8E6A"/>
                </a:solidFill>
                <a:latin typeface="Malgun Gothic"/>
              </a:rPr>
              <a:t>확인 — 여러 조각으로 쪼개짐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9480" y="1865376"/>
            <a:ext cx="4206240" cy="2148840"/>
          </a:xfrm>
          <a:prstGeom prst="roundRect">
            <a:avLst>
              <a:gd name="adj" fmla="val 4255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70648" y="2029968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26679" y="2029968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82712" y="2029968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25512" y="2322576"/>
            <a:ext cx="3749039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>
                <a:solidFill>
                  <a:srgbClr val="F6D186"/>
                </a:solidFill>
                <a:latin typeface="Consolas"/>
              </a:rPr>
              <a:t>from app.chunking import chunk_text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>
                <a:solidFill>
                  <a:srgbClr val="F3EAE0"/>
                </a:solidFill>
                <a:latin typeface="Consolas"/>
              </a:rPr>
              <a:t>c = chunk_text(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>
                <a:solidFill>
                  <a:srgbClr val="F3EAE0"/>
                </a:solidFill>
                <a:latin typeface="Consolas"/>
              </a:rPr>
              <a:t>    '가나다라마바사...' * 60,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>
                <a:solidFill>
                  <a:srgbClr val="F3EAE0"/>
                </a:solidFill>
                <a:latin typeface="Consolas"/>
              </a:rPr>
              <a:t>    chunk_size=100, overlap=20)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>
                <a:solidFill>
                  <a:srgbClr val="F3EAE0"/>
                </a:solidFill>
                <a:latin typeface="Consolas"/>
              </a:rPr>
              <a:t>print('청크 수:', len(c),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>
                <a:solidFill>
                  <a:srgbClr val="F3EAE0"/>
                </a:solidFill>
                <a:latin typeface="Consolas"/>
              </a:rPr>
              <a:t>      '첫 길이:', len(c[0]))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40">
                <a:solidFill>
                  <a:srgbClr val="9FD8CB"/>
                </a:solidFill>
                <a:latin typeface="Consolas"/>
              </a:rPr>
              <a:t># 첫 청크 길이 100이면 성공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69480" y="4160520"/>
            <a:ext cx="4206240" cy="1801368"/>
          </a:xfrm>
          <a:prstGeom prst="roundRect">
            <a:avLst>
              <a:gd name="adj" fmla="val 4568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269480" y="4160520"/>
            <a:ext cx="128016" cy="1801368"/>
          </a:xfrm>
          <a:prstGeom prst="roundRect">
            <a:avLst>
              <a:gd name="adj" fmla="val 35714"/>
            </a:avLst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3800" y="4279392"/>
            <a:ext cx="3794760" cy="1572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Malgun Gothic"/>
              </a:rPr>
              <a:t>왜 겹침(overlap)인가</a:t>
            </a:r>
          </a:p>
          <a:p>
            <a:pPr algn="l">
              <a:lnSpc>
                <a:spcPct val="103000"/>
              </a:lnSpc>
              <a:spcBef>
                <a:spcPts val="400"/>
              </a:spcBef>
              <a:spcAft>
                <a:spcPts val="0"/>
              </a:spcAft>
            </a:pPr>
            <a:r>
              <a:rPr sz="980" b="0">
                <a:solidFill>
                  <a:srgbClr val="3A302A"/>
                </a:solidFill>
                <a:latin typeface="Malgun Gothic"/>
              </a:rPr>
              <a:t>경계에서 문장이 잘려 뜻이 사라지는 걸 막는다.</a:t>
            </a:r>
          </a:p>
          <a:p>
            <a:pPr algn="l">
              <a:lnSpc>
                <a:spcPct val="103000"/>
              </a:lnSpc>
              <a:spcBef>
                <a:spcPts val="400"/>
              </a:spcBef>
              <a:spcAft>
                <a:spcPts val="0"/>
              </a:spcAft>
            </a:pPr>
            <a:r>
              <a:rPr sz="960" b="0">
                <a:solidFill>
                  <a:srgbClr val="6B5D52"/>
                </a:solidFill>
                <a:latin typeface="Malgun Gothic"/>
              </a:rPr>
              <a:t>step = chunk_size − overlap 만큼 전진하므로 인접 조각이 overlap만큼 겹친다.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PART 2 · STEP 3 · VECTORSTORE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2부 · 벡터스토어 app/vectorstore.py (3단계)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08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07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517904"/>
            <a:ext cx="5669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8E6A"/>
                </a:solidFill>
                <a:latin typeface="Malgun Gothic"/>
              </a:rPr>
              <a:t>컬렉션 + upsert — 임베딩은 week07 embed 재사용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792224"/>
            <a:ext cx="5806440" cy="4224528"/>
          </a:xfrm>
          <a:prstGeom prst="roundRect">
            <a:avLst>
              <a:gd name="adj" fmla="val 2164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956816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1956816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99032" y="1956816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249424"/>
            <a:ext cx="5349240" cy="3675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F6D186"/>
                </a:solidFill>
                <a:latin typeface="Consolas"/>
              </a:rPr>
              <a:t>import chromadb</a:t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F6D186"/>
                </a:solidFill>
                <a:latin typeface="Consolas"/>
              </a:rPr>
              <a:t>from functools import lru_cache</a:t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F6D186"/>
                </a:solidFill>
                <a:latin typeface="Consolas"/>
              </a:rPr>
              <a:t>from app.config import get_settings</a:t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F6D186"/>
                </a:solidFill>
                <a:latin typeface="Consolas"/>
              </a:rPr>
              <a:t>from app.embeddings import embed</a:t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F6D186"/>
                </a:solidFill>
                <a:latin typeface="Consolas"/>
              </a:rPr>
              <a:t>@lru_cache</a:t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F6D186"/>
                </a:solidFill>
                <a:latin typeface="Consolas"/>
              </a:rPr>
              <a:t>def get_collection():</a:t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F3EAE0"/>
                </a:solidFill>
                <a:latin typeface="Consolas"/>
              </a:rPr>
              <a:t>    s = get_settings()</a:t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F3EAE0"/>
                </a:solidFill>
                <a:latin typeface="Consolas"/>
              </a:rPr>
              <a:t>    client = chromadb.PersistentClient(</a:t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F3EAE0"/>
                </a:solidFill>
                <a:latin typeface="Consolas"/>
              </a:rPr>
              <a:t>        path=s.chroma_dir)</a:t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F3EAE0"/>
                </a:solidFill>
                <a:latin typeface="Consolas"/>
              </a:rPr>
              <a:t>    return client.get_or_create_collection(</a:t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F3EAE0"/>
                </a:solidFill>
                <a:latin typeface="Consolas"/>
              </a:rPr>
              <a:t>        name=s.rag_collection,</a:t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F4A78C"/>
                </a:solidFill>
                <a:latin typeface="Consolas"/>
              </a:rPr>
              <a:t>        metadata={"hnsw:space": "cosine"})</a:t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F6D186"/>
                </a:solidFill>
                <a:latin typeface="Consolas"/>
              </a:rPr>
              <a:t>def add_chunks(doc_id, chunks, source) -&gt; int:</a:t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F3EAE0"/>
                </a:solidFill>
                <a:latin typeface="Consolas"/>
              </a:rPr>
              <a:t>    if not chunks: return 0</a:t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9FD8CB"/>
                </a:solidFill>
                <a:latin typeface="Consolas"/>
              </a:rPr>
              <a:t>    vectors = embed(chunks)  # (n, dim) 정규화</a:t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F3EAE0"/>
                </a:solidFill>
                <a:latin typeface="Consolas"/>
              </a:rPr>
              <a:t>    ids = [f"{doc_id}:{i}" for i in range(len(chunks))]</a:t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F3EAE0"/>
                </a:solidFill>
                <a:latin typeface="Consolas"/>
              </a:rPr>
              <a:t>    get_collection().upsert(ids=ids,</a:t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F3EAE0"/>
                </a:solidFill>
                <a:latin typeface="Consolas"/>
              </a:rPr>
              <a:t>        documents=chunks,</a:t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F3EAE0"/>
                </a:solidFill>
                <a:latin typeface="Consolas"/>
              </a:rPr>
              <a:t>        embeddings=vectors.tolist(),</a:t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F3EAE0"/>
                </a:solidFill>
                <a:latin typeface="Consolas"/>
              </a:rPr>
              <a:t>        metadatas=metadatas)</a:t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F3EAE0"/>
                </a:solidFill>
                <a:latin typeface="Consolas"/>
              </a:rPr>
              <a:t>    return len(chunks)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1517904"/>
            <a:ext cx="4800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8E6A"/>
                </a:solidFill>
                <a:latin typeface="Malgun Gothic"/>
              </a:rPr>
              <a:t>search — 표준 검색 인터페이스(앵커)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1792224"/>
            <a:ext cx="4800600" cy="3310128"/>
          </a:xfrm>
          <a:prstGeom prst="roundRect">
            <a:avLst>
              <a:gd name="adj" fmla="val 2762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76288" y="1956816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132320" y="1956816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88352" y="1956816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31152" y="2249424"/>
            <a:ext cx="4343400" cy="2761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00">
                <a:solidFill>
                  <a:srgbClr val="9FD8CB"/>
                </a:solidFill>
                <a:latin typeface="Consolas"/>
              </a:rPr>
              <a:t># 앵커: week09~11이 이 search를 도구로 재사용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00">
                <a:solidFill>
                  <a:srgbClr val="9FD8CB"/>
                </a:solidFill>
                <a:latin typeface="Consolas"/>
              </a:rPr>
              <a:t>#   from app.vectorstore import search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00">
                <a:solidFill>
                  <a:srgbClr val="9FD8CB"/>
                </a:solidFill>
                <a:latin typeface="Consolas"/>
              </a:rPr>
              <a:t>#   반환: list[dict] (text, source, score)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00">
                <a:solidFill>
                  <a:srgbClr val="F6D186"/>
                </a:solidFill>
                <a:latin typeface="Consolas"/>
              </a:rPr>
              <a:t>def search(query: str,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00">
                <a:solidFill>
                  <a:srgbClr val="F6D186"/>
                </a:solidFill>
                <a:latin typeface="Consolas"/>
              </a:rPr>
              <a:t>           top_k=None) -&gt; list[dict]: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>    k = top_k or get_settings().top_k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>    q_vec = embed([query])[0]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>    res = get_collection().query(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>        query_embeddings=[q_vec.tolist()],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>        n_results=k)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00">
                <a:solidFill>
                  <a:srgbClr val="9FD8CB"/>
                </a:solidFill>
                <a:latin typeface="Consolas"/>
              </a:rPr>
              <a:t>    # cosine distance → similarity 근사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00">
                <a:solidFill>
                  <a:srgbClr val="9FD8CB"/>
                </a:solidFill>
                <a:latin typeface="Consolas"/>
              </a:rPr>
              <a:t>    # score = round(1 - dist, 4)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>    return hits  # text/source/chunk_index/score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0" y="5230368"/>
            <a:ext cx="4800600" cy="749808"/>
          </a:xfrm>
          <a:prstGeom prst="roundRect">
            <a:avLst>
              <a:gd name="adj" fmla="val 10975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675120" y="5230368"/>
            <a:ext cx="128016" cy="749808"/>
          </a:xfrm>
          <a:prstGeom prst="roundRect">
            <a:avLst>
              <a:gd name="adj" fmla="val 35714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5303520"/>
            <a:ext cx="43891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1">
                <a:solidFill>
                  <a:srgbClr val="D98E6A"/>
                </a:solidFill>
                <a:latin typeface="Malgun Gothic"/>
              </a:rPr>
              <a:t>확인  </a:t>
            </a:r>
            <a:r>
              <a:rPr sz="940" b="0">
                <a:solidFill>
                  <a:srgbClr val="3A302A"/>
                </a:solidFill>
                <a:latin typeface="Consolas"/>
              </a:rPr>
              <a:t>get_collection().name → </a:t>
            </a:r>
            <a:r>
              <a:rPr sz="940" b="1">
                <a:solidFill>
                  <a:srgbClr val="3A302A"/>
                </a:solidFill>
                <a:latin typeface="Consolas"/>
              </a:rPr>
              <a:t>docpilot</a:t>
            </a:r>
            <a:r>
              <a:rPr sz="940" b="0">
                <a:solidFill>
                  <a:srgbClr val="6B5D52"/>
                </a:solidFill>
                <a:latin typeface="Malgun Gothic"/>
              </a:rPr>
              <a:t>. 실행 후 ./chroma_data/ 생성.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PART 2 · STEP 4-5 · INDEXING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2부 · 로더와 인덱싱 스크립트 (4~5단계)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08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08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57276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8E6A"/>
                </a:solidFill>
                <a:latin typeface="Malgun Gothic"/>
              </a:rPr>
              <a:t>app/loader.py — txt/md/pdf에서 텍스트 추출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865376"/>
            <a:ext cx="5806440" cy="2286000"/>
          </a:xfrm>
          <a:prstGeom prst="roundRect">
            <a:avLst>
              <a:gd name="adj" fmla="val 4000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2029968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99032" y="2029968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322576"/>
            <a:ext cx="53492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90">
                <a:solidFill>
                  <a:srgbClr val="9FD8CB"/>
                </a:solidFill>
                <a:latin typeface="Consolas"/>
              </a:rPr>
              <a:t># app/loader.py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90">
                <a:solidFill>
                  <a:srgbClr val="F6D186"/>
                </a:solidFill>
                <a:latin typeface="Consolas"/>
              </a:rPr>
              <a:t>from pathlib import Path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90">
                <a:solidFill>
                  <a:srgbClr val="F6D186"/>
                </a:solidFill>
                <a:latin typeface="Consolas"/>
              </a:rPr>
              <a:t>from pypdf import PdfReader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9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90">
                <a:solidFill>
                  <a:srgbClr val="F6D186"/>
                </a:solidFill>
                <a:latin typeface="Consolas"/>
              </a:rPr>
              <a:t>def load_text(path) -&gt; str: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90">
                <a:solidFill>
                  <a:srgbClr val="F3EAE0"/>
                </a:solidFill>
                <a:latin typeface="Consolas"/>
              </a:rPr>
              <a:t>    path = Path(path); suffix = path.suffix.lower()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90">
                <a:solidFill>
                  <a:srgbClr val="F3EAE0"/>
                </a:solidFill>
                <a:latin typeface="Consolas"/>
              </a:rPr>
              <a:t>    if suffix in {".txt", ".md"}: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90">
                <a:solidFill>
                  <a:srgbClr val="F3EAE0"/>
                </a:solidFill>
                <a:latin typeface="Consolas"/>
              </a:rPr>
              <a:t>        return path.read_text("utf-8", errors="ignore")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90">
                <a:solidFill>
                  <a:srgbClr val="F3EAE0"/>
                </a:solidFill>
                <a:latin typeface="Consolas"/>
              </a:rPr>
              <a:t>    if suffix == ".pdf":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90">
                <a:solidFill>
                  <a:srgbClr val="F3EAE0"/>
                </a:solidFill>
                <a:latin typeface="Consolas"/>
              </a:rPr>
              <a:t>        reader = PdfReader(str(path))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90">
                <a:solidFill>
                  <a:srgbClr val="F3EAE0"/>
                </a:solidFill>
                <a:latin typeface="Consolas"/>
              </a:rPr>
              <a:t>        return "\n".join(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90">
                <a:solidFill>
                  <a:srgbClr val="F3EAE0"/>
                </a:solidFill>
                <a:latin typeface="Consolas"/>
              </a:rPr>
              <a:t>            (p.extract_text() or "") for p in reader.pages)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90">
                <a:solidFill>
                  <a:srgbClr val="F4A78C"/>
                </a:solidFill>
                <a:latin typeface="Consolas"/>
              </a:rPr>
              <a:t>    raise ValueError(f"unsupported: {suffix}")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31596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8E6A"/>
                </a:solidFill>
                <a:latin typeface="Malgun Gothic"/>
              </a:rPr>
              <a:t>샘플 문서 인덱싱 (사전 1회)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608576"/>
            <a:ext cx="5806440" cy="1371600"/>
          </a:xfrm>
          <a:prstGeom prst="roundRect">
            <a:avLst>
              <a:gd name="adj" fmla="val 6666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86968" y="4773168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3000" y="4773168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9032" y="4773168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5065776"/>
            <a:ext cx="5349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40">
                <a:solidFill>
                  <a:srgbClr val="F6D186"/>
                </a:solidFill>
                <a:latin typeface="Consolas"/>
              </a:rPr>
              <a:t>$ python scripts/index_docs.py sample_docs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40">
                <a:solidFill>
                  <a:srgbClr val="F3EAE0"/>
                </a:solidFill>
                <a:latin typeface="Consolas"/>
              </a:rPr>
              <a:t>  indexed docpilot.md: N chunks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40">
                <a:solidFill>
                  <a:srgbClr val="F3EAE0"/>
                </a:solidFill>
                <a:latin typeface="Consolas"/>
              </a:rPr>
              <a:t>  done. total chunks = 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40">
                <a:solidFill>
                  <a:srgbClr val="9FD8CB"/>
                </a:solidFill>
                <a:latin typeface="Consolas"/>
              </a:rPr>
              <a:t># get_collection().count() → N (0보다 큼)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1572768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8E6A"/>
                </a:solidFill>
                <a:latin typeface="Malgun Gothic"/>
              </a:rPr>
              <a:t>scripts/index_docs.py — 폴더 일괄 처리 CLI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1865376"/>
            <a:ext cx="4800600" cy="4114800"/>
          </a:xfrm>
          <a:prstGeom prst="roundRect">
            <a:avLst>
              <a:gd name="adj" fmla="val 2222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76288" y="2029968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132320" y="2029968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88352" y="2029968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31152" y="2322576"/>
            <a:ext cx="434340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90">
                <a:solidFill>
                  <a:srgbClr val="9FD8CB"/>
                </a:solidFill>
                <a:latin typeface="Consolas"/>
              </a:rPr>
              <a:t># scripts/index_docs.py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90">
                <a:solidFill>
                  <a:srgbClr val="F6D186"/>
                </a:solidFill>
                <a:latin typeface="Consolas"/>
              </a:rPr>
              <a:t>from app.config import get_settings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90">
                <a:solidFill>
                  <a:srgbClr val="F6D186"/>
                </a:solidFill>
                <a:latin typeface="Consolas"/>
              </a:rPr>
              <a:t>from app.chunking import chunk_text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90">
                <a:solidFill>
                  <a:srgbClr val="F6D186"/>
                </a:solidFill>
                <a:latin typeface="Consolas"/>
              </a:rPr>
              <a:t>from app.loader import load_text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90">
                <a:solidFill>
                  <a:srgbClr val="F6D186"/>
                </a:solidFill>
                <a:latin typeface="Consolas"/>
              </a:rPr>
              <a:t>from app.vectorstore import add_chunks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9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90">
                <a:solidFill>
                  <a:srgbClr val="F6D186"/>
                </a:solidFill>
                <a:latin typeface="Consolas"/>
              </a:rPr>
              <a:t>def main() -&gt; None: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90">
                <a:solidFill>
                  <a:srgbClr val="F3EAE0"/>
                </a:solidFill>
                <a:latin typeface="Consolas"/>
              </a:rPr>
              <a:t>    settings = get_settings()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90">
                <a:solidFill>
                  <a:srgbClr val="9FD8CB"/>
                </a:solidFill>
                <a:latin typeface="Consolas"/>
              </a:rPr>
              <a:t>    # 파일/폴더에서 txt·md·pdf 수집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90">
                <a:solidFill>
                  <a:srgbClr val="F3EAE0"/>
                </a:solidFill>
                <a:latin typeface="Consolas"/>
              </a:rPr>
              <a:t>    total = 0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90">
                <a:solidFill>
                  <a:srgbClr val="F3EAE0"/>
                </a:solidFill>
                <a:latin typeface="Consolas"/>
              </a:rPr>
              <a:t>    for f in files: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90">
                <a:solidFill>
                  <a:srgbClr val="F3EAE0"/>
                </a:solidFill>
                <a:latin typeface="Consolas"/>
              </a:rPr>
              <a:t>        text = load_text(f)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90">
                <a:solidFill>
                  <a:srgbClr val="F3EAE0"/>
                </a:solidFill>
                <a:latin typeface="Consolas"/>
              </a:rPr>
              <a:t>        chunks = chunk_text(text,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90">
                <a:solidFill>
                  <a:srgbClr val="F3EAE0"/>
                </a:solidFill>
                <a:latin typeface="Consolas"/>
              </a:rPr>
              <a:t>            settings.chunk_size,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90">
                <a:solidFill>
                  <a:srgbClr val="F3EAE0"/>
                </a:solidFill>
                <a:latin typeface="Consolas"/>
              </a:rPr>
              <a:t>            settings.chunk_overlap)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90">
                <a:solidFill>
                  <a:srgbClr val="F3EAE0"/>
                </a:solidFill>
                <a:latin typeface="Consolas"/>
              </a:rPr>
              <a:t>        n = add_chunks(doc_id=f.stem,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90">
                <a:solidFill>
                  <a:srgbClr val="F3EAE0"/>
                </a:solidFill>
                <a:latin typeface="Consolas"/>
              </a:rPr>
              <a:t>            chunks=chunks, source=f.name)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90">
                <a:solidFill>
                  <a:srgbClr val="F3EAE0"/>
                </a:solidFill>
                <a:latin typeface="Consolas"/>
              </a:rPr>
              <a:t>        total += n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90">
                <a:solidFill>
                  <a:srgbClr val="F3EAE0"/>
                </a:solidFill>
                <a:latin typeface="Consolas"/>
              </a:rPr>
              <a:t>    print(f"done. total chunks = {total}")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PART 3 · STEP 7 · RAG ASSEMBLY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3부 · RAG 조립 app/rag.py (7단계)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08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09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517904"/>
            <a:ext cx="5852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8E6A"/>
                </a:solidFill>
                <a:latin typeface="Malgun Gothic"/>
              </a:rPr>
              <a:t>검색 조각으로 프롬프트 구성 → LLM 주입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792224"/>
            <a:ext cx="6035040" cy="4206240"/>
          </a:xfrm>
          <a:prstGeom prst="roundRect">
            <a:avLst>
              <a:gd name="adj" fmla="val 2173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956816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1956816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99032" y="1956816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249424"/>
            <a:ext cx="5577840" cy="36575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9FD8CB"/>
                </a:solidFill>
                <a:latin typeface="Consolas"/>
              </a:rPr>
              <a:t># app/rag.py</a:t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F6D186"/>
                </a:solidFill>
                <a:latin typeface="Consolas"/>
              </a:rPr>
              <a:t>from app import llm</a:t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F6D186"/>
                </a:solidFill>
                <a:latin typeface="Consolas"/>
              </a:rPr>
              <a:t>from app.vectorstore import search</a:t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F3EAE0"/>
                </a:solidFill>
                <a:latin typeface="Consolas"/>
              </a:rPr>
              <a:t>RAG_SYSTEM = (</a:t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F4A78C"/>
                </a:solidFill>
                <a:latin typeface="Consolas"/>
              </a:rPr>
              <a:t>  "You are docpilot, a document-grounded "</a:t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F4A78C"/>
                </a:solidFill>
                <a:latin typeface="Consolas"/>
              </a:rPr>
              <a:t>  "assistant. Answer ONLY using the provided "</a:t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F4A78C"/>
                </a:solidFill>
                <a:latin typeface="Consolas"/>
              </a:rPr>
              <a:t>  "context. If the answer is not in the "</a:t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F4A78C"/>
                </a:solidFill>
                <a:latin typeface="Consolas"/>
              </a:rPr>
              <a:t>  "context, say '문서에서 근거를 찾지 못했습니다.'")</a:t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F6D186"/>
                </a:solidFill>
                <a:latin typeface="Consolas"/>
              </a:rPr>
              <a:t>async def answer(question, top_k=None) -&gt; dict:</a:t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F3EAE0"/>
                </a:solidFill>
                <a:latin typeface="Consolas"/>
              </a:rPr>
              <a:t>    hits = search(question, top_k=top_k)</a:t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F3EAE0"/>
                </a:solidFill>
                <a:latin typeface="Consolas"/>
              </a:rPr>
              <a:t>    if not hits:</a:t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F3EAE0"/>
                </a:solidFill>
                <a:latin typeface="Consolas"/>
              </a:rPr>
              <a:t>        return {"answer": "인덱싱된 문서가 없습니다.",</a:t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F3EAE0"/>
                </a:solidFill>
                <a:latin typeface="Consolas"/>
              </a:rPr>
              <a:t>                "sources": []}</a:t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F3EAE0"/>
                </a:solidFill>
                <a:latin typeface="Consolas"/>
              </a:rPr>
              <a:t>    context = build_context(hits)</a:t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F3EAE0"/>
                </a:solidFill>
                <a:latin typeface="Consolas"/>
              </a:rPr>
              <a:t>    messages = llm.build_messages(</a:t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F3EAE0"/>
                </a:solidFill>
                <a:latin typeface="Consolas"/>
              </a:rPr>
              <a:t>        user_prompt, system=RAG_SYSTEM)</a:t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F3EAE0"/>
                </a:solidFill>
                <a:latin typeface="Consolas"/>
              </a:rPr>
              <a:t>    reply = await llm.complete(</a:t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9FD8CB"/>
                </a:solidFill>
                <a:latin typeface="Consolas"/>
              </a:rPr>
              <a:t>        messages, temperature=0.1)  # 사실 답변</a:t>
            </a:r>
          </a:p>
          <a:p>
            <a:pPr algn="l">
              <a:lnSpc>
                <a:spcPct val="93000"/>
              </a:lnSpc>
              <a:spcAft>
                <a:spcPts val="0"/>
              </a:spcAft>
            </a:pPr>
            <a:r>
              <a:rPr sz="880">
                <a:solidFill>
                  <a:srgbClr val="F3EAE0"/>
                </a:solidFill>
                <a:latin typeface="Consolas"/>
              </a:rPr>
              <a:t>    return {"answer": reply, "sources": sources}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1517904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8E6A"/>
                </a:solidFill>
                <a:latin typeface="Malgun Gothic"/>
              </a:rPr>
              <a:t>build_context — 출처 태그 붙이기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1792224"/>
            <a:ext cx="4572000" cy="1874519"/>
          </a:xfrm>
          <a:prstGeom prst="roundRect">
            <a:avLst>
              <a:gd name="adj" fmla="val 4878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04888" y="1956816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60919" y="1956816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16952" y="1956816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59752" y="2249424"/>
            <a:ext cx="4114800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00">
                <a:solidFill>
                  <a:srgbClr val="F6D186"/>
                </a:solidFill>
                <a:latin typeface="Consolas"/>
              </a:rPr>
              <a:t>def build_context(hits) -&gt; str: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>    blocks = []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>    for h in hits: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>        blocks.append(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00">
                <a:solidFill>
                  <a:srgbClr val="F4A78C"/>
                </a:solidFill>
                <a:latin typeface="Consolas"/>
              </a:rPr>
              <a:t>          f"[source: {h['source']} "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00">
                <a:solidFill>
                  <a:srgbClr val="F4A78C"/>
                </a:solidFill>
                <a:latin typeface="Consolas"/>
              </a:rPr>
              <a:t>          f"#{h['chunk_index']}]\n{h['text']}")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>    return "\n\n---\n\n".join(blocks)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03720" y="3840480"/>
            <a:ext cx="4572000" cy="2139696"/>
          </a:xfrm>
          <a:prstGeom prst="roundRect">
            <a:avLst>
              <a:gd name="adj" fmla="val 3846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03720" y="3840480"/>
            <a:ext cx="128016" cy="2139696"/>
          </a:xfrm>
          <a:prstGeom prst="roundRect">
            <a:avLst>
              <a:gd name="adj" fmla="val 35714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78040" y="3959352"/>
            <a:ext cx="4160520" cy="1901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Malgun Gothic"/>
              </a:rPr>
              <a:t>할루시네이션 억제 핵심</a:t>
            </a:r>
          </a:p>
          <a:p>
            <a:pPr algn="l">
              <a:lnSpc>
                <a:spcPct val="103000"/>
              </a:lnSpc>
              <a:spcBef>
                <a:spcPts val="400"/>
              </a:spcBef>
              <a:spcAft>
                <a:spcPts val="0"/>
              </a:spcAft>
            </a:pPr>
            <a:r>
              <a:rPr sz="980" b="0">
                <a:solidFill>
                  <a:srgbClr val="3A302A"/>
                </a:solidFill>
                <a:latin typeface="Malgun Gothic"/>
              </a:rPr>
              <a:t>"컨텍스트에 없으면 모른다고 답하라"를 시스템 프롬프트에 명시.</a:t>
            </a:r>
          </a:p>
          <a:p>
            <a:pPr algn="l">
              <a:lnSpc>
                <a:spcPct val="103000"/>
              </a:lnSpc>
              <a:spcBef>
                <a:spcPts val="400"/>
              </a:spcBef>
              <a:spcAft>
                <a:spcPts val="0"/>
              </a:spcAft>
            </a:pPr>
            <a:r>
              <a:rPr sz="960" b="1">
                <a:solidFill>
                  <a:srgbClr val="3A302A"/>
                </a:solidFill>
                <a:latin typeface="Consolas"/>
              </a:rPr>
              <a:t>temperature=0.1 </a:t>
            </a:r>
            <a:r>
              <a:rPr sz="980" b="0">
                <a:solidFill>
                  <a:srgbClr val="6B5D52"/>
                </a:solidFill>
                <a:latin typeface="Malgun Gothic"/>
              </a:rPr>
              <a:t>— 사실 답변이므로 낮게 둔다.</a:t>
            </a:r>
          </a:p>
          <a:p>
            <a:pPr algn="l">
              <a:lnSpc>
                <a:spcPct val="103000"/>
              </a:lnSpc>
              <a:spcBef>
                <a:spcPts val="400"/>
              </a:spcBef>
              <a:spcAft>
                <a:spcPts val="0"/>
              </a:spcAft>
            </a:pPr>
            <a:r>
              <a:rPr sz="980" b="0">
                <a:solidFill>
                  <a:srgbClr val="6B5D52"/>
                </a:solidFill>
                <a:latin typeface="Malgun Gothic"/>
              </a:rPr>
              <a:t>각 조각에 [source] 태그를 달아 답변이 출처를 인용하게 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PART 3 · STEP 8 · /ask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3부 · /ask 엔드포인트와 실행 확인 (8단계)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08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10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57276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8E6A"/>
                </a:solidFill>
                <a:latin typeface="Malgun Gothic"/>
              </a:rPr>
              <a:t>app/main.py — 문서 기반 질의응답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865376"/>
            <a:ext cx="5806440" cy="2286000"/>
          </a:xfrm>
          <a:prstGeom prst="roundRect">
            <a:avLst>
              <a:gd name="adj" fmla="val 4000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2029968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99032" y="2029968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322576"/>
            <a:ext cx="53492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9FD8CB"/>
                </a:solidFill>
                <a:latin typeface="Consolas"/>
              </a:rPr>
              <a:t># app/main.py (추가)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6D186"/>
                </a:solidFill>
                <a:latin typeface="Consolas"/>
              </a:rPr>
              <a:t>from app import rag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6D186"/>
                </a:solidFill>
                <a:latin typeface="Consolas"/>
              </a:rPr>
              <a:t>class AskRequest(BaseModel):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3EAE0"/>
                </a:solidFill>
                <a:latin typeface="Consolas"/>
              </a:rPr>
              <a:t>    question: str = Field(...,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3EAE0"/>
                </a:solidFill>
                <a:latin typeface="Consolas"/>
              </a:rPr>
              <a:t>        min_length=1, max_length=2000)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3EAE0"/>
                </a:solidFill>
                <a:latin typeface="Consolas"/>
              </a:rPr>
              <a:t>    top_k: int | None = Field(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3EAE0"/>
                </a:solidFill>
                <a:latin typeface="Consolas"/>
              </a:rPr>
              <a:t>        default=None, ge=1, le=20)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6D186"/>
                </a:solidFill>
                <a:latin typeface="Consolas"/>
              </a:rPr>
              <a:t>@app.post("/ask")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6D186"/>
                </a:solidFill>
                <a:latin typeface="Consolas"/>
              </a:rPr>
              <a:t>async def ask(req: AskRequest) -&gt; dict: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3EAE0"/>
                </a:solidFill>
                <a:latin typeface="Consolas"/>
              </a:rPr>
              <a:t>    return await rag.answer(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919">
                <a:solidFill>
                  <a:srgbClr val="F3EAE0"/>
                </a:solidFill>
                <a:latin typeface="Consolas"/>
              </a:rPr>
              <a:t>        req.question, top_k=req.top_k)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31596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8E6A"/>
                </a:solidFill>
                <a:latin typeface="Malgun Gothic"/>
              </a:rPr>
              <a:t>있는 질문 → 근거 있는 답 + 출처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608576"/>
            <a:ext cx="5806440" cy="1371600"/>
          </a:xfrm>
          <a:prstGeom prst="roundRect">
            <a:avLst>
              <a:gd name="adj" fmla="val 6666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86968" y="4773168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3000" y="4773168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9032" y="4773168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5065776"/>
            <a:ext cx="5349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>
                <a:solidFill>
                  <a:srgbClr val="F6D186"/>
                </a:solidFill>
                <a:latin typeface="Consolas"/>
              </a:rPr>
              <a:t>$ curl -s -X POST .../ask -d \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>
                <a:solidFill>
                  <a:srgbClr val="F6D186"/>
                </a:solidFill>
                <a:latin typeface="Consolas"/>
              </a:rPr>
              <a:t>  '{"question": "임베딩 모델과 차원은?"}'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>
                <a:solidFill>
                  <a:srgbClr val="F3EAE0"/>
                </a:solidFill>
                <a:latin typeface="Consolas"/>
              </a:rPr>
              <a:t>  {"answer": "...all-MiniLM-L6-v2... 384...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>
                <a:solidFill>
                  <a:srgbClr val="F3EAE0"/>
                </a:solidFill>
                <a:latin typeface="Consolas"/>
              </a:rPr>
              <a:t>   [source: docpilot.md]",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>
                <a:solidFill>
                  <a:srgbClr val="F3EAE0"/>
                </a:solidFill>
                <a:latin typeface="Consolas"/>
              </a:rPr>
              <a:t>   "sources": [{"source": "docpilot.md", ...}]}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1572768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8E6A"/>
                </a:solidFill>
                <a:latin typeface="Malgun Gothic"/>
              </a:rPr>
              <a:t>없는 질문 → 지어내지 않음(억제 확인)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1865376"/>
            <a:ext cx="4800600" cy="1691640"/>
          </a:xfrm>
          <a:prstGeom prst="roundRect">
            <a:avLst>
              <a:gd name="adj" fmla="val 5405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76288" y="2029968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132320" y="2029968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88352" y="2029968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31152" y="2322576"/>
            <a:ext cx="43434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F6D186"/>
                </a:solidFill>
                <a:latin typeface="Consolas"/>
              </a:rPr>
              <a:t>$ curl -s -X POST .../ask -d \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F6D186"/>
                </a:solidFill>
                <a:latin typeface="Consolas"/>
              </a:rPr>
              <a:t>  '{"question": "월 구독 요금은 얼마야?"}'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>  {"answer":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00">
                <a:solidFill>
                  <a:srgbClr val="F4A78C"/>
                </a:solidFill>
                <a:latin typeface="Consolas"/>
              </a:rPr>
              <a:t>   "문서에서 근거를 찾지 못했습니다."}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703320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8E6A"/>
                </a:solidFill>
                <a:latin typeface="Malgun Gothic"/>
              </a:rPr>
              <a:t>(선택) /search — 검색 품질만 진단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75120" y="3995928"/>
            <a:ext cx="4800600" cy="1143000"/>
          </a:xfrm>
          <a:prstGeom prst="roundRect">
            <a:avLst>
              <a:gd name="adj" fmla="val 8000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76288" y="4160520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132320" y="4160520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88352" y="4160520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31152" y="4453128"/>
            <a:ext cx="4343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>
                <a:solidFill>
                  <a:srgbClr val="9FD8CB"/>
                </a:solidFill>
                <a:latin typeface="Consolas"/>
              </a:rPr>
              <a:t>from app.vectorstore import search as vs_search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>
                <a:solidFill>
                  <a:srgbClr val="F6D186"/>
                </a:solidFill>
                <a:latin typeface="Consolas"/>
              </a:rPr>
              <a:t>@app.get("/search")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>
                <a:solidFill>
                  <a:srgbClr val="F6D186"/>
                </a:solidFill>
                <a:latin typeface="Consolas"/>
              </a:rPr>
              <a:t>async def search_endpoint(q: str, top_k: int = 4):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>
                <a:solidFill>
                  <a:srgbClr val="F3EAE0"/>
                </a:solidFill>
                <a:latin typeface="Consolas"/>
              </a:rPr>
              <a:t>    return {"query": q, "hits": vs_search(q, top_k)}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75120" y="5285232"/>
            <a:ext cx="4800600" cy="694944"/>
          </a:xfrm>
          <a:prstGeom prst="roundRect">
            <a:avLst>
              <a:gd name="adj" fmla="val 11842"/>
            </a:avLst>
          </a:prstGeom>
          <a:solidFill>
            <a:srgbClr val="C9A2C0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0" y="5358384"/>
            <a:ext cx="4389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모르면 지어내지 않고 솔직히 답한다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940" b="0">
                <a:solidFill>
                  <a:srgbClr val="3A302A"/>
                </a:solidFill>
                <a:latin typeface="Malgun Gothic"/>
              </a:rPr>
              <a:t>→ 근거 있는 답 + 출처 표시 = docpilot의 핵심 기능 완성.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PART 4 · ALTERNATIVE · PGVECTOR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4부 · (대안) pgvector로 검색 (10~11단계)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08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11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517904"/>
            <a:ext cx="5669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8E6A"/>
                </a:solidFill>
                <a:latin typeface="Malgun Gothic"/>
              </a:rPr>
              <a:t>PostgreSQL 확장 + 테이블(코사인 인덱스)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792224"/>
            <a:ext cx="5852160" cy="2724912"/>
          </a:xfrm>
          <a:prstGeom prst="roundRect">
            <a:avLst>
              <a:gd name="adj" fmla="val 3355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956816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1956816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99032" y="1956816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249424"/>
            <a:ext cx="5394960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>
                <a:solidFill>
                  <a:srgbClr val="9FD8CB"/>
                </a:solidFill>
                <a:latin typeface="Consolas"/>
              </a:rPr>
              <a:t>-- pgvector/pgvector:pg16 이미지로 교체 후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>
                <a:solidFill>
                  <a:srgbClr val="F6D186"/>
                </a:solidFill>
                <a:latin typeface="Consolas"/>
              </a:rPr>
              <a:t>CREATE EXTENSION IF NOT EXISTS vector;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>
                <a:solidFill>
                  <a:srgbClr val="F6D186"/>
                </a:solidFill>
                <a:latin typeface="Consolas"/>
              </a:rPr>
              <a:t>CREATE TABLE IF NOT EXISTS doc_chunks (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>    id          BIGSERIAL PRIMARY KEY,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>    doc_id      TEXT NOT NULL,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>    source      TEXT NOT NULL,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>    chunk_index INT  NOT NULL,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>
                <a:solidFill>
                  <a:srgbClr val="F3EAE0"/>
                </a:solidFill>
                <a:latin typeface="Consolas"/>
              </a:rPr>
              <a:t>    content     TEXT NOT NULL,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>
                <a:solidFill>
                  <a:srgbClr val="F4A78C"/>
                </a:solidFill>
                <a:latin typeface="Consolas"/>
              </a:rPr>
              <a:t>    embedding   vector(384) NOT NULL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>
                <a:solidFill>
                  <a:srgbClr val="9FD8CB"/>
                </a:solidFill>
                <a:latin typeface="Consolas"/>
              </a:rPr>
              <a:t>);  -- all-MiniLM-L6-v2 차원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>
                <a:solidFill>
                  <a:srgbClr val="F6D186"/>
                </a:solidFill>
                <a:latin typeface="Consolas"/>
              </a:rPr>
              <a:t>CREATE INDEX ... USING hnsw (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>
                <a:solidFill>
                  <a:srgbClr val="F4A78C"/>
                </a:solidFill>
                <a:latin typeface="Consolas"/>
              </a:rPr>
              <a:t>    embedding vector_cosine_ops);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663440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8E6A"/>
                </a:solidFill>
                <a:latin typeface="Malgun Gothic"/>
              </a:rPr>
              <a:t>rag.py는 import 한 줄만 교체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956048"/>
            <a:ext cx="5852160" cy="1024128"/>
          </a:xfrm>
          <a:prstGeom prst="roundRect">
            <a:avLst>
              <a:gd name="adj" fmla="val 8928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86968" y="5120640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3000" y="5120640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9032" y="5120640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5413248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40">
                <a:solidFill>
                  <a:srgbClr val="9FD8CB"/>
                </a:solidFill>
                <a:latin typeface="Consolas"/>
              </a:rPr>
              <a:t># from app.vectorstore import search   # Chroma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40">
                <a:solidFill>
                  <a:srgbClr val="F6D186"/>
                </a:solidFill>
                <a:latin typeface="Consolas"/>
              </a:rPr>
              <a:t>from app.vectorstore_pg import search   # pgvector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1517904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8E6A"/>
                </a:solidFill>
                <a:latin typeface="Malgun Gothic"/>
              </a:rPr>
              <a:t>app/vectorstore_pg.py — 같은 인터페이스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20840" y="1792224"/>
            <a:ext cx="4754880" cy="3200400"/>
          </a:xfrm>
          <a:prstGeom prst="roundRect">
            <a:avLst>
              <a:gd name="adj" fmla="val 2857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922007" y="1956816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178040" y="1956816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434071" y="1956816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76872" y="2249424"/>
            <a:ext cx="429768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80">
                <a:solidFill>
                  <a:srgbClr val="9FD8CB"/>
                </a:solidFill>
                <a:latin typeface="Consolas"/>
              </a:rPr>
              <a:t># pip install "psycopg[binary]" "pgvector"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80">
                <a:solidFill>
                  <a:srgbClr val="F6D186"/>
                </a:solidFill>
                <a:latin typeface="Consolas"/>
              </a:rPr>
              <a:t>def search(query, top_k=None) -&gt; list[dict]: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80">
                <a:solidFill>
                  <a:srgbClr val="F3EAE0"/>
                </a:solidFill>
                <a:latin typeface="Consolas"/>
              </a:rPr>
              <a:t>    k = top_k or get_settings().top_k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80">
                <a:solidFill>
                  <a:srgbClr val="F3EAE0"/>
                </a:solidFill>
                <a:latin typeface="Consolas"/>
              </a:rPr>
              <a:t>    q_vec = embed([query])[0]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80">
                <a:solidFill>
                  <a:srgbClr val="F3EAE0"/>
                </a:solidFill>
                <a:latin typeface="Consolas"/>
              </a:rPr>
              <a:t>    with _connect() as conn, \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80">
                <a:solidFill>
                  <a:srgbClr val="F3EAE0"/>
                </a:solidFill>
                <a:latin typeface="Consolas"/>
              </a:rPr>
              <a:t>         conn.cursor() as cur: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80">
                <a:solidFill>
                  <a:srgbClr val="9FD8CB"/>
                </a:solidFill>
                <a:latin typeface="Consolas"/>
              </a:rPr>
              <a:t>        # &lt;=&gt; 는 코사인 거리 연산자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80">
                <a:solidFill>
                  <a:srgbClr val="F3EAE0"/>
                </a:solidFill>
                <a:latin typeface="Consolas"/>
              </a:rPr>
              <a:t>        cur.execute(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80">
                <a:solidFill>
                  <a:srgbClr val="F4A78C"/>
                </a:solidFill>
                <a:latin typeface="Consolas"/>
              </a:rPr>
              <a:t>          "SELECT source, chunk_index, content,"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80">
                <a:solidFill>
                  <a:srgbClr val="F4A78C"/>
                </a:solidFill>
                <a:latin typeface="Consolas"/>
              </a:rPr>
              <a:t>          " 1 - (embedding &lt;=&gt; %s) AS score"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80">
                <a:solidFill>
                  <a:srgbClr val="F4A78C"/>
                </a:solidFill>
                <a:latin typeface="Consolas"/>
              </a:rPr>
              <a:t>          " FROM doc_chunks"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80">
                <a:solidFill>
                  <a:srgbClr val="F4A78C"/>
                </a:solidFill>
                <a:latin typeface="Consolas"/>
              </a:rPr>
              <a:t>          " ORDER BY embedding &lt;=&gt; %s"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80">
                <a:solidFill>
                  <a:srgbClr val="F4A78C"/>
                </a:solidFill>
                <a:latin typeface="Consolas"/>
              </a:rPr>
              <a:t>          " LIMIT %s", (q_vec, q_vec, k))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80">
                <a:solidFill>
                  <a:srgbClr val="F3EAE0"/>
                </a:solidFill>
                <a:latin typeface="Consolas"/>
              </a:rPr>
              <a:t>        rows = cur.fetchall()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80">
                <a:solidFill>
                  <a:srgbClr val="F3EAE0"/>
                </a:solidFill>
                <a:latin typeface="Consolas"/>
              </a:rPr>
              <a:t>    return [ {...} for r in rows ]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20840" y="5138928"/>
            <a:ext cx="4754880" cy="841248"/>
          </a:xfrm>
          <a:prstGeom prst="roundRect">
            <a:avLst>
              <a:gd name="adj" fmla="val 9782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720840" y="5138928"/>
            <a:ext cx="128016" cy="841248"/>
          </a:xfrm>
          <a:prstGeom prst="roundRect">
            <a:avLst>
              <a:gd name="adj" fmla="val 35714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95160" y="5230368"/>
            <a:ext cx="4343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98E6A"/>
                </a:solidFill>
                <a:latin typeface="Malgun Gothic"/>
              </a:rPr>
              <a:t>확인</a:t>
            </a:r>
            <a:r>
              <a:rPr sz="940" b="0">
                <a:solidFill>
                  <a:srgbClr val="3A302A"/>
                </a:solidFill>
                <a:latin typeface="Malgun Gothic"/>
              </a:rPr>
              <a:t>  pgvector로 인덱싱 후 /ask가 Chroma 때와 동일 동작.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940" b="1">
                <a:solidFill>
                  <a:srgbClr val="3A302A"/>
                </a:solidFill>
                <a:latin typeface="Malgun Gothic"/>
              </a:rPr>
              <a:t>→ 벡터DB는 교체 가능한 부품임을 체감.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TROUBLESHOOTING · ASSIGNMENT ·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트러블슈팅 · 과제 · 다음 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08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12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09344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D98E6A"/>
                </a:solidFill>
                <a:latin typeface="Malgun Gothic"/>
              </a:rPr>
              <a:t>트러블슈팅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56816"/>
            <a:ext cx="5532120" cy="347472"/>
          </a:xfrm>
          <a:prstGeom prst="roundRect">
            <a:avLst>
              <a:gd name="adj" fmla="val 13157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75104"/>
            <a:ext cx="22860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A302A"/>
                </a:solidFill>
                <a:latin typeface="Malgun Gothic"/>
              </a:rPr>
              <a:t>증상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975104"/>
            <a:ext cx="315468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A302A"/>
                </a:solidFill>
                <a:latin typeface="Malgun Gothic"/>
              </a:rPr>
              <a:t>해결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331720"/>
            <a:ext cx="5532120" cy="402336"/>
          </a:xfrm>
          <a:prstGeom prst="roundRect">
            <a:avLst>
              <a:gd name="adj" fmla="val 9090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331720"/>
            <a:ext cx="21488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30" b="0">
                <a:solidFill>
                  <a:srgbClr val="3A302A"/>
                </a:solidFill>
                <a:latin typeface="Malgun Gothic"/>
              </a:rPr>
              <a:t>/ask 항상 "근거 못 찾음"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331720"/>
            <a:ext cx="31089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30" b="0">
                <a:solidFill>
                  <a:srgbClr val="3A302A"/>
                </a:solidFill>
                <a:latin typeface="Malgun Gothic"/>
              </a:rPr>
              <a:t>count()로 조각 수 확인 · 인덱싱 먼저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756915"/>
            <a:ext cx="21488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30" b="0">
                <a:solidFill>
                  <a:srgbClr val="3A302A"/>
                </a:solidFill>
                <a:latin typeface="Malgun Gothic"/>
              </a:rPr>
              <a:t>검색 결과가 엉뚱함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2756915"/>
            <a:ext cx="31089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30" b="0">
                <a:solidFill>
                  <a:srgbClr val="3A302A"/>
                </a:solidFill>
                <a:latin typeface="Malgun Gothic"/>
              </a:rPr>
              <a:t>인덱싱·질의 임베딩 모델 일치·재인덱싱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182111"/>
            <a:ext cx="5532120" cy="402336"/>
          </a:xfrm>
          <a:prstGeom prst="roundRect">
            <a:avLst>
              <a:gd name="adj" fmla="val 9090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182111"/>
            <a:ext cx="21488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30" b="0">
                <a:solidFill>
                  <a:srgbClr val="3A302A"/>
                </a:solidFill>
                <a:latin typeface="Malgun Gothic"/>
              </a:rPr>
              <a:t>컨텍스트 무시하고 지어냄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182111"/>
            <a:ext cx="31089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30" b="0">
                <a:solidFill>
                  <a:srgbClr val="3A302A"/>
                </a:solidFill>
                <a:latin typeface="Malgun Gothic"/>
              </a:rPr>
              <a:t>RAG_SYSTEM 강화 · temperature=0.1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607307"/>
            <a:ext cx="21488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30" b="0">
                <a:solidFill>
                  <a:srgbClr val="3A302A"/>
                </a:solidFill>
                <a:latin typeface="Malgun Gothic"/>
              </a:rPr>
              <a:t>청크가 너무 크다/작다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3607307"/>
            <a:ext cx="31089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30" b="0">
                <a:solidFill>
                  <a:srgbClr val="3A302A"/>
                </a:solidFill>
                <a:latin typeface="Malgun Gothic"/>
              </a:rPr>
              <a:t>300~800자 · overlap 10~20%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032503"/>
            <a:ext cx="5532120" cy="402336"/>
          </a:xfrm>
          <a:prstGeom prst="roundRect">
            <a:avLst>
              <a:gd name="adj" fmla="val 9090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032503"/>
            <a:ext cx="21488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30" b="0">
                <a:solidFill>
                  <a:srgbClr val="3A302A"/>
                </a:solidFill>
                <a:latin typeface="Malgun Gothic"/>
              </a:rPr>
              <a:t>PDF 텍스트 안 나옴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4032503"/>
            <a:ext cx="31089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30" b="0">
                <a:solidFill>
                  <a:srgbClr val="3A302A"/>
                </a:solidFill>
                <a:latin typeface="Malgun Gothic"/>
              </a:rPr>
              <a:t>스캔 이미지 PDF → OCR 필요(범위 밖)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457699"/>
            <a:ext cx="21488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30" b="0">
                <a:solidFill>
                  <a:srgbClr val="3A302A"/>
                </a:solidFill>
                <a:latin typeface="Malgun Gothic"/>
              </a:rPr>
              <a:t>Chroma readonly database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4457699"/>
            <a:ext cx="31089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30" b="0">
                <a:solidFill>
                  <a:srgbClr val="3A302A"/>
                </a:solidFill>
                <a:latin typeface="Malgun Gothic"/>
              </a:rPr>
              <a:t>CHROMA_DIR 쓰기 권한·볼륨 마운트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882895"/>
            <a:ext cx="5532120" cy="402336"/>
          </a:xfrm>
          <a:prstGeom prst="roundRect">
            <a:avLst>
              <a:gd name="adj" fmla="val 9090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882895"/>
            <a:ext cx="21488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30" b="0">
                <a:solidFill>
                  <a:srgbClr val="3A302A"/>
                </a:solidFill>
                <a:latin typeface="Malgun Gothic"/>
              </a:rPr>
              <a:t>vector type does not exist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4882895"/>
            <a:ext cx="31089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30" b="0">
                <a:solidFill>
                  <a:srgbClr val="3A302A"/>
                </a:solidFill>
                <a:latin typeface="Malgun Gothic"/>
              </a:rPr>
              <a:t>CREATE EXTENSION vector 실행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308091"/>
            <a:ext cx="21488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30" b="0">
                <a:solidFill>
                  <a:srgbClr val="3A302A"/>
                </a:solidFill>
                <a:latin typeface="Malgun Gothic"/>
              </a:rPr>
              <a:t>pgvector 차원 오류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5308091"/>
            <a:ext cx="31089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30" b="0">
                <a:solidFill>
                  <a:srgbClr val="3A302A"/>
                </a:solidFill>
                <a:latin typeface="Malgun Gothic"/>
              </a:rPr>
              <a:t>테이블 vector(N)=모델 차원(384)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5733287"/>
            <a:ext cx="5532120" cy="402336"/>
          </a:xfrm>
          <a:prstGeom prst="roundRect">
            <a:avLst>
              <a:gd name="adj" fmla="val 9090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5733287"/>
            <a:ext cx="21488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30" b="0">
                <a:solidFill>
                  <a:srgbClr val="3A302A"/>
                </a:solidFill>
                <a:latin typeface="Malgun Gothic"/>
              </a:rPr>
              <a:t>답변 비용/지연 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0" y="5733287"/>
            <a:ext cx="31089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30" b="0">
                <a:solidFill>
                  <a:srgbClr val="3A302A"/>
                </a:solidFill>
                <a:latin typeface="Malgun Gothic"/>
              </a:rPr>
              <a:t>TOP_K 3~5 · 청크 축소·소형 LLM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1609344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D98E6A"/>
                </a:solidFill>
                <a:latin typeface="Malgun Gothic"/>
              </a:rPr>
              <a:t>이번 주 과제 (Block 2 미니 과제)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92240" y="1956816"/>
            <a:ext cx="4983480" cy="2286000"/>
          </a:xfrm>
          <a:prstGeom prst="roundRect">
            <a:avLst>
              <a:gd name="adj" fmla="val 3599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20840" y="2075688"/>
            <a:ext cx="4572000" cy="20482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1. </a:t>
            </a:r>
            <a:r>
              <a:rPr sz="960" b="1">
                <a:solidFill>
                  <a:srgbClr val="3A302A"/>
                </a:solidFill>
                <a:latin typeface="Malgun Gothic"/>
              </a:rPr>
              <a:t>필수 — index_docs.py + /ask 동작, 자기 문서로 RAG 데모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2. </a:t>
            </a:r>
            <a:r>
              <a:rPr sz="960" b="1">
                <a:solidFill>
                  <a:srgbClr val="3A302A"/>
                </a:solidFill>
                <a:latin typeface="Malgun Gothic"/>
              </a:rPr>
              <a:t>필수 — 답변에 출처(source/chunk)가 함께 표시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3. </a:t>
            </a:r>
            <a:r>
              <a:rPr sz="960" b="0">
                <a:solidFill>
                  <a:srgbClr val="3A302A"/>
                </a:solidFill>
                <a:latin typeface="Malgun Gothic"/>
              </a:rPr>
              <a:t>도전 — CHUNK_SIZE/TOP_K 바꿔가며 답 품질 비교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4. </a:t>
            </a:r>
            <a:r>
              <a:rPr sz="960" b="0">
                <a:solidFill>
                  <a:srgbClr val="3A302A"/>
                </a:solidFill>
                <a:latin typeface="Malgun Gothic"/>
              </a:rPr>
              <a:t>도전 — Chroma·pgvector 두 백엔드 속도·운영 비교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5. </a:t>
            </a:r>
            <a:r>
              <a:rPr sz="960" b="0">
                <a:solidFill>
                  <a:srgbClr val="3A302A"/>
                </a:solidFill>
                <a:latin typeface="Malgun Gothic"/>
              </a:rPr>
              <a:t>도전 — /ask를 스트리밍(week06 방식)으로 확장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4389120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B5D52"/>
                </a:solidFill>
                <a:latin typeface="Malgun Gothic"/>
              </a:rPr>
              <a:t>핵심 체크리스트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4709160"/>
            <a:ext cx="2514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880" b="0">
                <a:solidFill>
                  <a:srgbClr val="3A302A"/>
                </a:solidFill>
                <a:latin typeface="Malgun Gothic"/>
              </a:rPr>
              <a:t>chromadb·pypdf 설치·requirements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06840" y="4709160"/>
            <a:ext cx="2514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880" b="0">
                <a:solidFill>
                  <a:srgbClr val="3A302A"/>
                </a:solidFill>
                <a:latin typeface="Malgun Gothic"/>
              </a:rPr>
              <a:t>chunking.py 겹침 청킹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5001768"/>
            <a:ext cx="2514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880" b="0">
                <a:solidFill>
                  <a:srgbClr val="3A302A"/>
                </a:solidFill>
                <a:latin typeface="Malgun Gothic"/>
              </a:rPr>
              <a:t>vectorstore.py add/search(코사인)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06840" y="5001768"/>
            <a:ext cx="2514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880" b="0">
                <a:solidFill>
                  <a:srgbClr val="3A302A"/>
                </a:solidFill>
                <a:latin typeface="Malgun Gothic"/>
              </a:rPr>
              <a:t>인덱싱·count()로 조각 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5294376"/>
            <a:ext cx="2514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880" b="0">
                <a:solidFill>
                  <a:srgbClr val="3A302A"/>
                </a:solidFill>
                <a:latin typeface="Malgun Gothic"/>
              </a:rPr>
              <a:t>rag.py 컨텍스트 주입·근거 제한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06840" y="5294376"/>
            <a:ext cx="2514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880" b="0">
                <a:solidFill>
                  <a:srgbClr val="3A302A"/>
                </a:solidFill>
                <a:latin typeface="Malgun Gothic"/>
              </a:rPr>
              <a:t>/ask 있는/없는 질문 확인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5586984"/>
            <a:ext cx="2514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880" b="0">
                <a:solidFill>
                  <a:srgbClr val="3A302A"/>
                </a:solidFill>
                <a:latin typeface="Malgun Gothic"/>
              </a:rPr>
              <a:t>(선택) /search 품질 진단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06840" y="5586984"/>
            <a:ext cx="2514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880" b="0">
                <a:solidFill>
                  <a:srgbClr val="3A302A"/>
                </a:solidFill>
                <a:latin typeface="Malgun Gothic"/>
              </a:rPr>
              <a:t>(대안) pgvector 동일 검색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85800" y="6089904"/>
            <a:ext cx="5532120" cy="475488"/>
          </a:xfrm>
          <a:prstGeom prst="roundRect">
            <a:avLst>
              <a:gd name="adj" fmla="val 15384"/>
            </a:avLst>
          </a:prstGeom>
          <a:solidFill>
            <a:srgbClr val="9FD8CB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8680" y="6126480"/>
            <a:ext cx="5212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3A302A"/>
                </a:solidFill>
                <a:latin typeface="Malgun Gothic"/>
              </a:rPr>
              <a:t>다음 주 → Week 09  Agent 기초</a:t>
            </a:r>
            <a:r>
              <a:rPr sz="900" b="0">
                <a:solidFill>
                  <a:srgbClr val="3A302A"/>
                </a:solidFill>
                <a:latin typeface="Malgun Gothic"/>
              </a:rPr>
              <a:t>  (tool/function calling · ReAct)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92240" y="6089904"/>
            <a:ext cx="4983480" cy="475488"/>
          </a:xfrm>
          <a:prstGeom prst="roundRect">
            <a:avLst>
              <a:gd name="adj" fmla="val 15384"/>
            </a:avLst>
          </a:prstGeom>
          <a:solidFill>
            <a:srgbClr val="C9A2C0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75120" y="6126480"/>
            <a:ext cx="46634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Consolas"/>
              </a:rPr>
              <a:t>search</a:t>
            </a:r>
            <a:r>
              <a:rPr sz="1000" b="0">
                <a:solidFill>
                  <a:srgbClr val="3A302A"/>
                </a:solidFill>
                <a:latin typeface="Malgun Gothic"/>
              </a:rPr>
              <a:t> 가 Agent가 부르는 하나의 </a:t>
            </a:r>
            <a:r>
              <a:rPr sz="1050" b="1">
                <a:solidFill>
                  <a:srgbClr val="3A302A"/>
                </a:solidFill>
                <a:latin typeface="Malgun Gothic"/>
              </a:rPr>
              <a:t>도구(tool)</a:t>
            </a:r>
            <a:r>
              <a:rPr sz="1000" b="0">
                <a:solidFill>
                  <a:srgbClr val="3A302A"/>
                </a:solidFill>
                <a:latin typeface="Malgun Gothic"/>
              </a:rPr>
              <a:t>가 된다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