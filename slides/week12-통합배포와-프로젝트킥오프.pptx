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13716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310896" cy="13716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310896" cy="1371600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114800"/>
            <a:ext cx="310896" cy="1371600"/>
          </a:xfrm>
          <a:prstGeom prst="rect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310896" cy="13716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04120" y="548640"/>
            <a:ext cx="1645920" cy="1645920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27080" y="1508760"/>
            <a:ext cx="914400" cy="914400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rdrop 9"/>
          <p:cNvSpPr/>
          <p:nvPr/>
        </p:nvSpPr>
        <p:spPr>
          <a:xfrm>
            <a:off x="9692640" y="1783080"/>
            <a:ext cx="868680" cy="868680"/>
          </a:xfrm>
          <a:prstGeom prst="teardrop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868680"/>
            <a:ext cx="457200" cy="457200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5840" y="1298448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344168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CLOUD PROGRAMMING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975104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D98E6A"/>
                </a:solidFill>
                <a:latin typeface="Malgun Gothic"/>
              </a:rPr>
              <a:t>Week 12  ·  12주 강의의 피날레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0241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3A302A"/>
                </a:solidFill>
                <a:latin typeface="Malgun Gothic"/>
              </a:rPr>
              <a:t>전부 하나로 배포한다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21868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D98E6A"/>
                </a:solidFill>
                <a:latin typeface="Malgun Gothic"/>
              </a:rPr>
              <a:t>— 통합 배포 &amp; 몰입형 프로젝트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9136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5D52"/>
                </a:solidFill>
                <a:latin typeface="Malgun Gothic"/>
              </a:rPr>
              <a:t>docpilot 전체(웹+DB+벡터DB+LLM+Agent)를 하나의 K8s 클러스터에 통합 배포 + 관측성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4407408"/>
            <a:ext cx="9692640" cy="1051560"/>
          </a:xfrm>
          <a:prstGeom prst="roundRect">
            <a:avLst>
              <a:gd name="adj" fmla="val 782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0120" y="4407408"/>
            <a:ext cx="128016" cy="1051560"/>
          </a:xfrm>
          <a:prstGeom prst="roundRect">
            <a:avLst>
              <a:gd name="adj" fmla="val 35714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535424"/>
            <a:ext cx="9144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오늘의 한 줄  </a:t>
            </a:r>
            <a:r>
              <a:rPr sz="1300" b="0">
                <a:solidFill>
                  <a:srgbClr val="3A302A"/>
                </a:solidFill>
                <a:latin typeface="Malgun Gothic"/>
              </a:rPr>
              <a:t>11주 동안 자란 docpilot 전체를 컨테이너 → Kubernetes로 묶어 운영형으로 배포한다.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6B5D52"/>
                </a:solidFill>
                <a:latin typeface="Malgun Gothic"/>
              </a:rPr>
              <a:t>Secret으로 키를 안전하게 주입하고, 관측성·비용·성능·보안을 함께 점검한다.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61441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B5D52"/>
                </a:solidFill>
                <a:latin typeface="Malgun Gothic"/>
              </a:rPr>
              <a:t>docpilot 진화:  </a:t>
            </a:r>
            <a:r>
              <a:rPr sz="1200" b="0">
                <a:solidFill>
                  <a:srgbClr val="3A302A"/>
                </a:solidFill>
                <a:latin typeface="Malgun Gothic"/>
              </a:rPr>
              <a:t>Hello, DocPilot(week01) → … → K8s 통합 배포된 Multi-Agent 서비스(week12)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605332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★ 그리고 시작: </a:t>
            </a:r>
            <a:r>
              <a:rPr sz="1150" b="0">
                <a:solidFill>
                  <a:srgbClr val="6B5D52"/>
                </a:solidFill>
                <a:latin typeface="Malgun Gothic"/>
              </a:rPr>
              <a:t>4주 몰입형 프로젝트 킥오프 — 팀(권장 3~4명) 단위로 Agentic AI 서비스를 구축·배포·발표.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학습 목표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12 · docpilot 피날레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02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10512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810512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8408" y="2194560"/>
            <a:ext cx="530352" cy="530352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19456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3352" y="1901952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전체 스택 컨테이너화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docpilot 전체를 하나의 이미지로 만들어 K8s에 통합 배포한다.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10512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810512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56248" y="2194560"/>
            <a:ext cx="530352" cy="530352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219456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192" y="1901952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Secret · ConfigMap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키는 Secret으로, 설정은 ConfigMap으로 외부화한다(12요소 재점검).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246120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246120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8408" y="3630168"/>
            <a:ext cx="530352" cy="530352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363016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3352" y="3337560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운영형 배포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liveness/readiness probe + resources requests/limits로 구성한다.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246120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3246120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56248" y="3630168"/>
            <a:ext cx="530352" cy="53035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63016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3337560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관측성 확보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구조화 로그·기본 모니터링 + 스모크 테스트로 배포를 검증한다.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681728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4681728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8408" y="5065776"/>
            <a:ext cx="530352" cy="530352"/>
          </a:xfrm>
          <a:prstGeom prst="ellipse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506577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73352" y="4773168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비용·성능·보안 점검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세 관점에서 배포를 셀프 체크한다.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681728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63640" y="4681728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56248" y="5065776"/>
            <a:ext cx="530352" cy="53035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6248" y="506577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51192" y="4773168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프로젝트 킥오프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4주 몰입형 프로젝트의 팀 편성·주제 선정·기획 방향을 잡는다.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CONCEPTS · INTEGRATED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개념 ① — 통합 배포 구성도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12 · docpilot 피날레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03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179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지금까지 하나씩 붙여 온 조각들을 </a:t>
            </a:r>
            <a:r>
              <a:rPr sz="1250" b="1">
                <a:solidFill>
                  <a:srgbClr val="3A302A"/>
                </a:solidFill>
                <a:latin typeface="Malgun Gothic"/>
              </a:rPr>
              <a:t>하나의 배포 단위(namespace: docpilot)</a:t>
            </a:r>
            <a:r>
              <a:rPr sz="1250" b="1">
                <a:solidFill>
                  <a:srgbClr val="D98E6A"/>
                </a:solidFill>
                <a:latin typeface="Malgun Gothic"/>
              </a:rPr>
              <a:t>로 묶는다.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20240"/>
            <a:ext cx="7360920" cy="4206240"/>
          </a:xfrm>
          <a:prstGeom prst="roundRect">
            <a:avLst>
              <a:gd name="adj" fmla="val 1304"/>
            </a:avLst>
          </a:prstGeom>
          <a:solidFill>
            <a:srgbClr val="FBF2E6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9968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Kubernetes  ·  namespace: docpilot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432304"/>
            <a:ext cx="1417320" cy="566928"/>
          </a:xfrm>
          <a:prstGeom prst="roundRect">
            <a:avLst>
              <a:gd name="adj" fmla="val 14516"/>
            </a:avLst>
          </a:prstGeom>
          <a:solidFill>
            <a:srgbClr val="E0B15E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468880"/>
            <a:ext cx="14173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A302A"/>
                </a:solidFill>
                <a:latin typeface="Malgun Gothic"/>
              </a:rPr>
              <a:t>Ingress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377440" y="2578608"/>
            <a:ext cx="384048" cy="274320"/>
          </a:xfrm>
          <a:prstGeom prst="rightArrow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16352" y="2432304"/>
            <a:ext cx="1600200" cy="566928"/>
          </a:xfrm>
          <a:prstGeom prst="roundRect">
            <a:avLst>
              <a:gd name="adj" fmla="val 14516"/>
            </a:avLst>
          </a:prstGeom>
          <a:solidFill>
            <a:srgbClr val="9FD8CB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2468880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Service(web)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462272" y="2578608"/>
            <a:ext cx="384048" cy="274320"/>
          </a:xfrm>
          <a:prstGeom prst="rightArrow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01184" y="2395728"/>
            <a:ext cx="1965960" cy="658368"/>
          </a:xfrm>
          <a:prstGeom prst="roundRect">
            <a:avLst>
              <a:gd name="adj" fmla="val 12500"/>
            </a:avLst>
          </a:prstGeom>
          <a:solidFill>
            <a:srgbClr val="D98E6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01184" y="2432304"/>
            <a:ext cx="19659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Deployment</a:t>
            </a:r>
          </a:p>
          <a:p>
            <a:pPr algn="ctr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740" b="0">
                <a:solidFill>
                  <a:srgbClr val="FFFFFF"/>
                </a:solidFill>
                <a:latin typeface="Malgun Gothic"/>
              </a:rPr>
              <a:t>docpilot-web · probes/resources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67728" y="2395728"/>
            <a:ext cx="969264" cy="658368"/>
          </a:xfrm>
          <a:prstGeom prst="roundRect">
            <a:avLst>
              <a:gd name="adj" fmla="val 12500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2432304"/>
            <a:ext cx="969264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HPA</a:t>
            </a:r>
          </a:p>
          <a:p>
            <a:pPr algn="ctr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</a:pPr>
            <a:r>
              <a:rPr sz="680" b="0">
                <a:solidFill>
                  <a:srgbClr val="3A302A"/>
                </a:solidFill>
                <a:latin typeface="Malgun Gothic"/>
              </a:rPr>
              <a:t>부하 스케일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705856" y="3072384"/>
            <a:ext cx="329184" cy="292608"/>
          </a:xfrm>
          <a:prstGeom prst="downArrow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1560" y="3419856"/>
            <a:ext cx="6858000" cy="566928"/>
          </a:xfrm>
          <a:prstGeom prst="roundRect">
            <a:avLst>
              <a:gd name="adj" fmla="val 1129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51560" y="3419856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3474720"/>
            <a:ext cx="6492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Consolas"/>
              </a:rPr>
              <a:t>env ← ConfigMap   </a:t>
            </a:r>
            <a:r>
              <a:rPr sz="950" b="0">
                <a:solidFill>
                  <a:srgbClr val="6B5D52"/>
                </a:solidFill>
                <a:latin typeface="Malgun Gothic"/>
              </a:rPr>
              <a:t>일반 설정(모델·로그레벨·DB URL)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1560" y="4059936"/>
            <a:ext cx="6858000" cy="566928"/>
          </a:xfrm>
          <a:prstGeom prst="roundRect">
            <a:avLst>
              <a:gd name="adj" fmla="val 1129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" y="4059936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4114800"/>
            <a:ext cx="6492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Consolas"/>
              </a:rPr>
              <a:t>env ← Secret   </a:t>
            </a:r>
            <a:r>
              <a:rPr sz="950" b="0">
                <a:solidFill>
                  <a:srgbClr val="6B5D52"/>
                </a:solidFill>
                <a:latin typeface="Malgun Gothic"/>
              </a:rPr>
              <a:t>OPENAI_API_KEY (비밀은 여기만)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1560" y="4700016"/>
            <a:ext cx="6858000" cy="566928"/>
          </a:xfrm>
          <a:prstGeom prst="roundRect">
            <a:avLst>
              <a:gd name="adj" fmla="val 1129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51560" y="4700016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4754880"/>
            <a:ext cx="6492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Consolas"/>
              </a:rPr>
              <a:t>Service(postgres)   </a:t>
            </a:r>
            <a:r>
              <a:rPr sz="950" b="0">
                <a:solidFill>
                  <a:srgbClr val="6B5D52"/>
                </a:solidFill>
                <a:latin typeface="Malgun Gothic"/>
              </a:rPr>
              <a:t>→ StatefulSet PostgreSQL(pgvector)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1560" y="5358384"/>
            <a:ext cx="6858000" cy="457200"/>
          </a:xfrm>
          <a:prstGeom prst="roundRect">
            <a:avLst>
              <a:gd name="adj" fmla="val 14000"/>
            </a:avLst>
          </a:prstGeom>
          <a:solidFill>
            <a:srgbClr val="3A302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5385816"/>
            <a:ext cx="64922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FD8CB"/>
                </a:solidFill>
                <a:latin typeface="Consolas"/>
              </a:rPr>
              <a:t>외부:  </a:t>
            </a:r>
            <a:r>
              <a:rPr sz="950" b="0">
                <a:solidFill>
                  <a:srgbClr val="F3EAE0"/>
                </a:solidFill>
                <a:latin typeface="Malgun Gothic"/>
              </a:rPr>
              <a:t>OpenAI API (LLM 호출) — 클러스터 밖의 attached resource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151790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실습 3부 흐름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1938528"/>
            <a:ext cx="324612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229600" y="1938528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85632" y="2066544"/>
            <a:ext cx="288036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A78C"/>
                </a:solidFill>
                <a:latin typeface="Malgun Gothic"/>
              </a:rPr>
              <a:t>1부  </a:t>
            </a:r>
            <a:r>
              <a:rPr sz="1150" b="1">
                <a:solidFill>
                  <a:srgbClr val="3A302A"/>
                </a:solidFill>
                <a:latin typeface="Malgun Gothic"/>
              </a:rPr>
              <a:t>전체 스택 컨테이너화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설정 정리·requirements·프로덕션 Dockerfile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3328416"/>
            <a:ext cx="324612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229600" y="3328416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85632" y="3456432"/>
            <a:ext cx="288036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0B15E"/>
                </a:solidFill>
                <a:latin typeface="Malgun Gothic"/>
              </a:rPr>
              <a:t>2부  </a:t>
            </a:r>
            <a:r>
              <a:rPr sz="1150" b="1">
                <a:solidFill>
                  <a:srgbClr val="3A302A"/>
                </a:solidFill>
                <a:latin typeface="Malgun Gothic"/>
              </a:rPr>
              <a:t>K8s 통합 배포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Namespace·ConfigMap·Secret·Postgres·web·HPA·Ingress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0" y="4718304"/>
            <a:ext cx="324612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229600" y="4718304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85632" y="4846320"/>
            <a:ext cx="288036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A7BFA0"/>
                </a:solidFill>
                <a:latin typeface="Malgun Gothic"/>
              </a:rPr>
              <a:t>3부  </a:t>
            </a:r>
            <a:r>
              <a:rPr sz="1150" b="1">
                <a:solidFill>
                  <a:srgbClr val="3A302A"/>
                </a:solidFill>
                <a:latin typeface="Malgun Gothic"/>
              </a:rPr>
              <a:t>관측성 + 스모크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구조화 로그·/metrics·smoke.sh·비용/성능/보안 점검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CONCEPTS · OBSERVABILITY · 12-FACTOR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개념 ② — 관측성 · 12요소 · 비용·성능·보안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12 · docpilot 피날레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04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544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① 관측성(Observability)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865376"/>
            <a:ext cx="5532120" cy="1463040"/>
          </a:xfrm>
          <a:prstGeom prst="roundRect">
            <a:avLst>
              <a:gd name="adj" fmla="val 5624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1865376"/>
            <a:ext cx="128016" cy="1463040"/>
          </a:xfrm>
          <a:prstGeom prst="roundRect">
            <a:avLst>
              <a:gd name="adj" fmla="val 35714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1975104"/>
            <a:ext cx="5120640" cy="1243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>
                <a:solidFill>
                  <a:srgbClr val="3A302A"/>
                </a:solidFill>
                <a:latin typeface="Malgun Gothic"/>
              </a:rPr>
              <a:t>배포는 끝이 아니라 시작이다. 로그·메트릭이 없으면 장애를 못 본다.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919" b="0">
                <a:solidFill>
                  <a:srgbClr val="6B5D52"/>
                </a:solidFill>
                <a:latin typeface="Malgun Gothic"/>
              </a:rPr>
              <a:t>(1) 앱이 구조화(JSON) 로그를 stdout에 찍고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</a:pPr>
            <a:r>
              <a:rPr sz="919" b="0">
                <a:solidFill>
                  <a:srgbClr val="6B5D52"/>
                </a:solidFill>
                <a:latin typeface="Malgun Gothic"/>
              </a:rPr>
              <a:t>(2) kubectl logs로 수집, (3) /metrics로 기본 지표 노출.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940" b="1">
                <a:solidFill>
                  <a:srgbClr val="D98E6A"/>
                </a:solidFill>
                <a:latin typeface="Malgun Gothic"/>
              </a:rPr>
              <a:t>Prometheus/Grafana 전체 구성은 몰입형 프로젝트의 선택 과제.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49300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③ 비용 · 성능 · 보안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803904"/>
            <a:ext cx="5532120" cy="786384"/>
          </a:xfrm>
          <a:prstGeom prst="roundRect">
            <a:avLst>
              <a:gd name="adj" fmla="val 930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803904"/>
            <a:ext cx="128016" cy="786384"/>
          </a:xfrm>
          <a:prstGeom prst="roundRect">
            <a:avLst>
              <a:gd name="adj" fmla="val 28571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877056"/>
            <a:ext cx="5120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비용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80" b="0">
                <a:solidFill>
                  <a:srgbClr val="6B5D52"/>
                </a:solidFill>
                <a:latin typeface="Malgun Gothic"/>
              </a:rPr>
              <a:t>LLM 토큰이 최대 변수 — gpt-4o-mini 고정, 캐싱·상한(MAX_TOOL_TURNS). 무료 대안도 언급.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645152"/>
            <a:ext cx="5532120" cy="786384"/>
          </a:xfrm>
          <a:prstGeom prst="roundRect">
            <a:avLst>
              <a:gd name="adj" fmla="val 930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4645152"/>
            <a:ext cx="128016" cy="786384"/>
          </a:xfrm>
          <a:prstGeom prst="roundRect">
            <a:avLst>
              <a:gd name="adj" fmla="val 28571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718304"/>
            <a:ext cx="5120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성능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80" b="0">
                <a:solidFill>
                  <a:srgbClr val="6B5D52"/>
                </a:solidFill>
                <a:latin typeface="Malgun Gothic"/>
              </a:rPr>
              <a:t>resources requests/limits로 스케줄링 안정화, HPA로 부하 대응.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486400"/>
            <a:ext cx="5532120" cy="786384"/>
          </a:xfrm>
          <a:prstGeom prst="roundRect">
            <a:avLst>
              <a:gd name="adj" fmla="val 930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5486400"/>
            <a:ext cx="128016" cy="786384"/>
          </a:xfrm>
          <a:prstGeom prst="roundRect">
            <a:avLst>
              <a:gd name="adj" fmla="val 28571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559552"/>
            <a:ext cx="5120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보안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80" b="0">
                <a:solidFill>
                  <a:srgbClr val="6B5D52"/>
                </a:solidFill>
                <a:latin typeface="Malgun Gothic"/>
              </a:rPr>
              <a:t>API 키는 절대 이미지·코드·git에 넣지 않는다. K8s Secret으로만 주입.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1554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② 12요소(12-Factor) 재점검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1883664"/>
            <a:ext cx="5120640" cy="365760"/>
          </a:xfrm>
          <a:prstGeom prst="roundRect">
            <a:avLst>
              <a:gd name="adj" fmla="val 12500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901952"/>
            <a:ext cx="17373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A302A"/>
                </a:solidFill>
                <a:latin typeface="Malgun Gothic"/>
              </a:rPr>
              <a:t>요소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1901952"/>
            <a:ext cx="3108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A302A"/>
                </a:solidFill>
                <a:latin typeface="Malgun Gothic"/>
              </a:rPr>
              <a:t>docpilot에서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2286000"/>
            <a:ext cx="5120640" cy="603504"/>
          </a:xfrm>
          <a:prstGeom prst="roundRect">
            <a:avLst>
              <a:gd name="adj" fmla="val 606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286000"/>
            <a:ext cx="16916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80" b="1">
                <a:solidFill>
                  <a:srgbClr val="3A302A"/>
                </a:solidFill>
                <a:latin typeface="Malgun Gothic"/>
              </a:rPr>
              <a:t>III.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286000"/>
            <a:ext cx="3063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>
                <a:solidFill>
                  <a:srgbClr val="6B5D52"/>
                </a:solidFill>
                <a:latin typeface="Malgun Gothic"/>
              </a:rPr>
              <a:t>ConfigMap/Secret으로 주입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916936"/>
            <a:ext cx="16916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80" b="1">
                <a:solidFill>
                  <a:srgbClr val="3A302A"/>
                </a:solidFill>
                <a:latin typeface="Malgun Gothic"/>
              </a:rPr>
              <a:t>IV. 백엔드 서비스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916936"/>
            <a:ext cx="3063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>
                <a:solidFill>
                  <a:srgbClr val="6B5D52"/>
                </a:solidFill>
                <a:latin typeface="Malgun Gothic"/>
              </a:rPr>
              <a:t>Postgres를 Service로 연결(URL 교체)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3547872"/>
            <a:ext cx="5120640" cy="603504"/>
          </a:xfrm>
          <a:prstGeom prst="roundRect">
            <a:avLst>
              <a:gd name="adj" fmla="val 606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547872"/>
            <a:ext cx="16916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80" b="1">
                <a:solidFill>
                  <a:srgbClr val="3A302A"/>
                </a:solidFill>
                <a:latin typeface="Malgun Gothic"/>
              </a:rPr>
              <a:t>VI. 프로세스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3547872"/>
            <a:ext cx="3063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>
                <a:solidFill>
                  <a:srgbClr val="6B5D52"/>
                </a:solidFill>
                <a:latin typeface="Malgun Gothic"/>
              </a:rPr>
              <a:t>web는 무상태, 상태는 DB/벡터DB에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178808"/>
            <a:ext cx="16916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80" b="1">
                <a:solidFill>
                  <a:srgbClr val="3A302A"/>
                </a:solidFill>
                <a:latin typeface="Malgun Gothic"/>
              </a:rPr>
              <a:t>IX. 폐기성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178808"/>
            <a:ext cx="3063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>
                <a:solidFill>
                  <a:srgbClr val="6B5D52"/>
                </a:solidFill>
                <a:latin typeface="Malgun Gothic"/>
              </a:rPr>
              <a:t>probe + SIGTERM graceful 종료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4809744"/>
            <a:ext cx="5120640" cy="603504"/>
          </a:xfrm>
          <a:prstGeom prst="roundRect">
            <a:avLst>
              <a:gd name="adj" fmla="val 606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4809744"/>
            <a:ext cx="16916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80" b="1">
                <a:solidFill>
                  <a:srgbClr val="3A302A"/>
                </a:solidFill>
                <a:latin typeface="Malgun Gothic"/>
              </a:rPr>
              <a:t>XI. 로그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4809744"/>
            <a:ext cx="30632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60" b="0">
                <a:solidFill>
                  <a:srgbClr val="6B5D52"/>
                </a:solidFill>
                <a:latin typeface="Malgun Gothic"/>
              </a:rPr>
              <a:t>stdout JSON 로그 → kubectl logs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5541264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D98E6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5614416"/>
            <a:ext cx="47091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 b="1">
                <a:solidFill>
                  <a:srgbClr val="3A302A"/>
                </a:solidFill>
                <a:latin typeface="Malgun Gothic"/>
              </a:rPr>
              <a:t>보안 핵심:  </a:t>
            </a:r>
            <a:r>
              <a:rPr sz="940" b="0">
                <a:solidFill>
                  <a:srgbClr val="3A302A"/>
                </a:solidFill>
                <a:latin typeface="Malgun Gothic"/>
              </a:rPr>
              <a:t>이미지에는 비밀이 없어야 한다. 키는 </a:t>
            </a:r>
            <a:r>
              <a:rPr sz="940" b="1">
                <a:solidFill>
                  <a:srgbClr val="3A302A"/>
                </a:solidFill>
                <a:latin typeface="Consolas"/>
              </a:rPr>
              <a:t>Secret</a:t>
            </a:r>
            <a:r>
              <a:rPr sz="940" b="0">
                <a:solidFill>
                  <a:srgbClr val="3A302A"/>
                </a:solidFill>
                <a:latin typeface="Malgun Gothic"/>
              </a:rPr>
              <a:t>에만.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PREREQUISITES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사전 준비 — week01~11 산출물 집결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12 · docpilot 피날레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05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지난주까지의 docpilot 전체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57400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295144"/>
            <a:ext cx="365760" cy="365760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951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148840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week03 · week04~05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40" b="0">
                <a:solidFill>
                  <a:srgbClr val="6B5D52"/>
                </a:solidFill>
                <a:latin typeface="Malgun Gothic"/>
              </a:rPr>
              <a:t>web+PostgreSQL compose · K8s Deployment/Service/ConfigMap/Secret/probe/HPA/Ingress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90088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227832"/>
            <a:ext cx="365760" cy="365760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22783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3081528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week06~08 LLM · RAG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40" b="0">
                <a:solidFill>
                  <a:srgbClr val="6B5D52"/>
                </a:solidFill>
                <a:latin typeface="Consolas"/>
              </a:rPr>
              <a:t>app/config.py(Settings) · 벡터DB(week08) · 문서 인덱싱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22776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4160520"/>
            <a:ext cx="365760" cy="365760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605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014215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week09~11 Agent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40" b="0">
                <a:solidFill>
                  <a:srgbClr val="6B5D52"/>
                </a:solidFill>
                <a:latin typeface="Consolas"/>
              </a:rPr>
              <a:t>/agent 도구·MCP(week10) · /report Multi-Agent(week11)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855464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680" y="5093207"/>
            <a:ext cx="365760" cy="365760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093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9032" y="4946903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필요 도구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40" b="0">
                <a:solidFill>
                  <a:srgbClr val="6B5D52"/>
                </a:solidFill>
                <a:latin typeface="Consolas"/>
              </a:rPr>
              <a:t>Docker · kind(또는 minikube) · kubectl · OpenAI API 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164592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도구 · 클러스터 준비 확인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1965960"/>
            <a:ext cx="4754880" cy="2286000"/>
          </a:xfrm>
          <a:prstGeom prst="roundRect">
            <a:avLst>
              <a:gd name="adj" fmla="val 4000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922007" y="21305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78040" y="21305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434071" y="21305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2423160"/>
            <a:ext cx="4297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80">
                <a:solidFill>
                  <a:srgbClr val="9FD8CB"/>
                </a:solidFill>
                <a:latin typeface="Consolas"/>
              </a:rPr>
              <a:t># 도구 버전 확인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$ docker --version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$ kubectl version --client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$ kind --version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80">
                <a:solidFill>
                  <a:srgbClr val="9FD8CB"/>
                </a:solidFill>
                <a:latin typeface="Consolas"/>
              </a:rPr>
              <a:t># week04 클러스터 재사용, 없으면 생성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$ kind get clusters | grep -q docpilot \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    || kind create cluster --name docpilot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$ kubectl cluster-info \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    --context kind-docpilot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4443984"/>
            <a:ext cx="4754880" cy="1554480"/>
          </a:xfrm>
          <a:prstGeom prst="roundRect">
            <a:avLst>
              <a:gd name="adj" fmla="val 5294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720840" y="4443984"/>
            <a:ext cx="128016" cy="1554480"/>
          </a:xfrm>
          <a:prstGeom prst="roundRect">
            <a:avLst>
              <a:gd name="adj" fmla="val 35714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5160" y="4553712"/>
            <a:ext cx="4297680" cy="13350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확인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19" b="0">
                <a:solidFill>
                  <a:srgbClr val="3A302A"/>
                </a:solidFill>
                <a:latin typeface="Malgun Gothic"/>
              </a:rPr>
              <a:t>세 도구 모두 버전 문자열을 출력하고,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860" b="0">
                <a:solidFill>
                  <a:srgbClr val="6B5D52"/>
                </a:solidFill>
                <a:latin typeface="Consolas"/>
              </a:rPr>
              <a:t>Kubernetes control plane is running at ...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1">
                <a:solidFill>
                  <a:srgbClr val="3A302A"/>
                </a:solidFill>
                <a:latin typeface="Malgun Gothic"/>
              </a:rPr>
              <a:t>가 출력되면 준비 완료. 버린 코드 없이 매주 키워 온 docpilot 전체가 한자리에 모인다.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1 · CONTAINERIZE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1부 · 전체 스택 컨테이너화 (1~3단계)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12 · docpilot 피날레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06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457200"/>
            <a:ext cx="3337560" cy="475488"/>
          </a:xfrm>
          <a:prstGeom prst="roundRect">
            <a:avLst>
              <a:gd name="adj" fmla="val 38461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502920"/>
            <a:ext cx="3337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3A302A"/>
                </a:solidFill>
                <a:latin typeface="Malgun Gothic"/>
              </a:rPr>
              <a:t>⚠ app/config.py 새로 만들지 말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463040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1단계. 설정 정리 (12요소 III) — week06 config 재사용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737360"/>
            <a:ext cx="5989320" cy="1572768"/>
          </a:xfrm>
          <a:prstGeom prst="roundRect">
            <a:avLst>
              <a:gd name="adj" fmla="val 523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1737360"/>
            <a:ext cx="128016" cy="1572768"/>
          </a:xfrm>
          <a:prstGeom prst="roundRect">
            <a:avLst>
              <a:gd name="adj" fmla="val 35714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1828800"/>
            <a:ext cx="5532120" cy="1389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>
                <a:solidFill>
                  <a:srgbClr val="3A302A"/>
                </a:solidFill>
                <a:latin typeface="Malgun Gothic"/>
              </a:rPr>
              <a:t>app/config.py는 week06에서 만든 pydantic-settings 기반 Settings를 그대로 쓴다.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880" b="0">
                <a:solidFill>
                  <a:srgbClr val="6B5D52"/>
                </a:solidFill>
                <a:latin typeface="Malgun Gothic"/>
              </a:rPr>
              <a:t>os.environ 버전으로 덮어쓰면 week06~08 필드가 사라져 import가 붕괴한다.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880" b="1">
                <a:solidFill>
                  <a:srgbClr val="D98E6A"/>
                </a:solidFill>
                <a:latin typeface="Malgun Gothic"/>
              </a:rPr>
              <a:t>두 가지만 점검: </a:t>
            </a:r>
            <a:r>
              <a:rPr sz="880" b="0">
                <a:solidFill>
                  <a:srgbClr val="6B5D52"/>
                </a:solidFill>
                <a:latin typeface="Malgun Gothic"/>
              </a:rPr>
              <a:t>① openai_api_key는 필수(기본값 없음)로 fail-fast, ② database_url이 컨테이너 기준(@postgres:5432).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419856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2단계. requirements 고정 — week01~11 누적 의존성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75887"/>
            <a:ext cx="5989320" cy="2377440"/>
          </a:xfrm>
          <a:prstGeom prst="roundRect">
            <a:avLst>
              <a:gd name="adj" fmla="val 3846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6968" y="3840479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000" y="3840479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9032" y="3840479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133087"/>
            <a:ext cx="5532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19">
                <a:solidFill>
                  <a:srgbClr val="9FD8CB"/>
                </a:solidFill>
                <a:latin typeface="Consolas"/>
              </a:rPr>
              <a:t># --- 코어 (week01~06) ---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fastapi   uvicorn[standard]   python-multipart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openai   google-genai   pydantic-settings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19">
                <a:solidFill>
                  <a:srgbClr val="9FD8CB"/>
                </a:solidFill>
                <a:latin typeface="Consolas"/>
              </a:rPr>
              <a:t># --- 데이터/RAG (week03·08) ---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psycopg[binary]  pgvector  chromadb  pypdf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19">
                <a:solidFill>
                  <a:srgbClr val="9FD8CB"/>
                </a:solidFill>
                <a:latin typeface="Consolas"/>
              </a:rPr>
              <a:t># --- 에이전트 (week09~11) ---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langgraph  langchain-openai  mcp  tenacity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19">
                <a:solidFill>
                  <a:srgbClr val="9FD8CB"/>
                </a:solidFill>
                <a:latin typeface="Consolas"/>
              </a:rPr>
              <a:t># --- 멀티모달 (week07): 매니지드 경로 ---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huggingface_hub   pillow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19">
                <a:solidFill>
                  <a:srgbClr val="9FD8CB"/>
                </a:solidFill>
                <a:latin typeface="Consolas"/>
              </a:rPr>
              <a:t># 하나라도 빠지면 /ask·/report가 죽는다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463040"/>
            <a:ext cx="4617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3단계. 프로덕션 Dockerfile — 비루트 + 캐시 최적화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1737360"/>
            <a:ext cx="4617720" cy="3200400"/>
          </a:xfrm>
          <a:prstGeom prst="roundRect">
            <a:avLst>
              <a:gd name="adj" fmla="val 2857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591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71231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14032" y="2194560"/>
            <a:ext cx="41605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6D186"/>
                </a:solidFill>
                <a:latin typeface="Consolas"/>
              </a:rPr>
              <a:t>FROM python:3.12-slim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ENV PYTHONUNBUFFERED=1 \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  PYTHONDONTWRITEBYTECODE=1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6D186"/>
                </a:solidFill>
                <a:latin typeface="Consolas"/>
              </a:rPr>
              <a:t>WORKDIR /app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9FD8CB"/>
                </a:solidFill>
                <a:latin typeface="Consolas"/>
              </a:rPr>
              <a:t># 의존성 레이어 캐시: requirements 먼저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COPY requirements.txt .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6D186"/>
                </a:solidFill>
                <a:latin typeface="Consolas"/>
              </a:rPr>
              <a:t>RUN pip install --no-cache-dir \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6D186"/>
                </a:solidFill>
                <a:latin typeface="Consolas"/>
              </a:rPr>
              <a:t>    -r requirements.txt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4A78C"/>
                </a:solidFill>
                <a:latin typeface="Consolas"/>
              </a:rPr>
              <a:t>COPY app ./app          # 앱 소스 복사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6D186"/>
                </a:solidFill>
                <a:latin typeface="Consolas"/>
              </a:rPr>
              <a:t>RUN useradd -m appuser  # 비루트 실행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USER appuser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EXPOSE 8000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6D186"/>
                </a:solidFill>
                <a:latin typeface="Consolas"/>
              </a:rPr>
              <a:t>CMD ["uvicorn","app.main:app",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6D186"/>
                </a:solidFill>
                <a:latin typeface="Consolas"/>
              </a:rPr>
              <a:t>     "--host","0.0.0.0","--port","8000"]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5084064"/>
            <a:ext cx="4617720" cy="896112"/>
          </a:xfrm>
          <a:prstGeom prst="roundRect">
            <a:avLst>
              <a:gd name="adj" fmla="val 9183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858000" y="5084064"/>
            <a:ext cx="128016" cy="896112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0" y="5175504"/>
            <a:ext cx="41605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98E6A"/>
                </a:solidFill>
                <a:latin typeface="Malgun Gothic"/>
              </a:rPr>
              <a:t>빌드 → kind 로드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840" b="0">
                <a:solidFill>
                  <a:srgbClr val="3A302A"/>
                </a:solidFill>
                <a:latin typeface="Consolas"/>
              </a:rPr>
              <a:t>docker build -t docpilot:1.0 .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6B5D52"/>
                </a:solidFill>
                <a:latin typeface="Consolas"/>
              </a:rPr>
              <a:t>kind load docker-image docpilot:1.0 --name docpilot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2 · NAMESPACE · CONFIGMAP · SECRET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2부 · Namespace·ConfigMap·Secret (4~5단계)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12 · docpilot 피날레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07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k8s/00-namespace.yaml · k8s/01-config.yaml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37360"/>
            <a:ext cx="5989320" cy="3108960"/>
          </a:xfrm>
          <a:prstGeom prst="roundRect">
            <a:avLst>
              <a:gd name="adj" fmla="val 2941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194560"/>
            <a:ext cx="55321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apiVersion: v1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kind: Namespace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metadata: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4A78C"/>
                </a:solidFill>
                <a:latin typeface="Consolas"/>
              </a:rPr>
              <a:t>  name: docpilot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9FD8CB"/>
                </a:solidFill>
                <a:latin typeface="Consolas"/>
              </a:rPr>
              <a:t>---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apiVersion: v1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kind: ConfigMap        # 비밀이 아닌 설정만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metadata: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4A78C"/>
                </a:solidFill>
                <a:latin typeface="Consolas"/>
              </a:rPr>
              <a:t>  name: docpilot-config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4A78C"/>
                </a:solidFill>
                <a:latin typeface="Consolas"/>
              </a:rPr>
              <a:t>  namespace: docpilot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data: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4A78C"/>
                </a:solidFill>
                <a:latin typeface="Consolas"/>
              </a:rPr>
              <a:t>  DOCPILOT_MODEL: "gpt-4o-mini"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4A78C"/>
                </a:solidFill>
                <a:latin typeface="Consolas"/>
              </a:rPr>
              <a:t>  LOG_LEVEL: "INFO"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4A78C"/>
                </a:solidFill>
                <a:latin typeface="Consolas"/>
              </a:rPr>
              <a:t>  DATABASE_URL: "postgresql://docpilot: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4A78C"/>
                </a:solidFill>
                <a:latin typeface="Consolas"/>
              </a:rPr>
              <a:t>      docpilot@postgres:5432/docpilot"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481328"/>
            <a:ext cx="4617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5단계. Secret으로 API 키 주입 (보안 핵심)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737360"/>
            <a:ext cx="4617720" cy="2286000"/>
          </a:xfrm>
          <a:prstGeom prst="roundRect">
            <a:avLst>
              <a:gd name="adj" fmla="val 4000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591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71231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2194560"/>
            <a:ext cx="4160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40">
                <a:solidFill>
                  <a:srgbClr val="9FD8CB"/>
                </a:solidFill>
                <a:latin typeface="Consolas"/>
              </a:rPr>
              <a:t># 키를 YAML에 적어 git에 커밋하지 않는다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$ kubectl create secret generic \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    docpilot-secrets \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    --namespace docpilot \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    --from-literal=OPENAI_API_KEY=\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40">
                <a:solidFill>
                  <a:srgbClr val="F4A78C"/>
                </a:solidFill>
                <a:latin typeface="Consolas"/>
              </a:rPr>
              <a:t>      "${OPENAI_API_KEY}"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40">
                <a:solidFill>
                  <a:srgbClr val="9FD8CB"/>
                </a:solidFill>
                <a:latin typeface="Consolas"/>
              </a:rPr>
              <a:t># 확인: base64 디코드로 앞부분만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$ kubectl get secret docpilot-secrets 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169663"/>
            <a:ext cx="4617720" cy="1810512"/>
          </a:xfrm>
          <a:prstGeom prst="roundRect">
            <a:avLst>
              <a:gd name="adj" fmla="val 4545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0" y="4169663"/>
            <a:ext cx="128016" cy="1810512"/>
          </a:xfrm>
          <a:prstGeom prst="roundRect">
            <a:avLst>
              <a:gd name="adj" fmla="val 35714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4279392"/>
            <a:ext cx="4160520" cy="1591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Secret은 암호화가 아니다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860" b="1">
                <a:solidFill>
                  <a:srgbClr val="3A302A"/>
                </a:solidFill>
                <a:latin typeface="Consolas"/>
              </a:rPr>
              <a:t>kubectl create secret</a:t>
            </a:r>
            <a:r>
              <a:rPr sz="900" b="0">
                <a:solidFill>
                  <a:srgbClr val="6B5D52"/>
                </a:solidFill>
                <a:latin typeface="Malgun Gothic"/>
              </a:rPr>
              <a:t> 명령으로 직접 만들어 파일·git에 남기지 않는다.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Secret은 base64 인코딩일 뿐 — 운영에선 Sealed Secrets/외부 KMS를 쓴다.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840" b="1">
                <a:solidFill>
                  <a:srgbClr val="3A302A"/>
                </a:solidFill>
                <a:latin typeface="Consolas"/>
              </a:rPr>
              <a:t>적용: kubectl apply -f k8s/00-namespace.yaml, 01-config.yaml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2 · POSTGRES · PGVECTOR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2부 · PostgreSQL(pgvector) (6단계)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12 · docpilot 피날레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08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k8s/02-postgres.yaml — Service + StatefulSet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37360"/>
            <a:ext cx="5989320" cy="4315968"/>
          </a:xfrm>
          <a:prstGeom prst="roundRect">
            <a:avLst>
              <a:gd name="adj" fmla="val 2118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194560"/>
            <a:ext cx="553212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6D186"/>
                </a:solidFill>
                <a:latin typeface="Consolas"/>
              </a:rPr>
              <a:t>apiVersion: v1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6D186"/>
                </a:solidFill>
                <a:latin typeface="Consolas"/>
              </a:rPr>
              <a:t>kind: Service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3EAE0"/>
                </a:solidFill>
                <a:latin typeface="Consolas"/>
              </a:rPr>
              <a:t>metadata: {name: postgres, namespace: docpilot}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3EAE0"/>
                </a:solidFill>
                <a:latin typeface="Consolas"/>
              </a:rPr>
              <a:t>spec: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4A78C"/>
                </a:solidFill>
                <a:latin typeface="Consolas"/>
              </a:rPr>
              <a:t>  selector: {app: postgres}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4A78C"/>
                </a:solidFill>
                <a:latin typeface="Consolas"/>
              </a:rPr>
              <a:t>  ports: [{port: 5432, targetPort: 5432}]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9FD8CB"/>
                </a:solidFill>
                <a:latin typeface="Consolas"/>
              </a:rPr>
              <a:t>---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6D186"/>
                </a:solidFill>
                <a:latin typeface="Consolas"/>
              </a:rPr>
              <a:t>apiVersion: apps/v1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6D186"/>
                </a:solidFill>
                <a:latin typeface="Consolas"/>
              </a:rPr>
              <a:t>kind: StatefulSet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3EAE0"/>
                </a:solidFill>
                <a:latin typeface="Consolas"/>
              </a:rPr>
              <a:t>spec: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4A78C"/>
                </a:solidFill>
                <a:latin typeface="Consolas"/>
              </a:rPr>
              <a:t>  serviceName: postgres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4A78C"/>
                </a:solidFill>
                <a:latin typeface="Consolas"/>
              </a:rPr>
              <a:t>  replicas: 1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3EAE0"/>
                </a:solidFill>
                <a:latin typeface="Consolas"/>
              </a:rPr>
              <a:t>  template: ... containers: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4A78C"/>
                </a:solidFill>
                <a:latin typeface="Consolas"/>
              </a:rPr>
              <a:t>    - name: postgres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4A78C"/>
                </a:solidFill>
                <a:latin typeface="Consolas"/>
              </a:rPr>
              <a:t>      image: pgvector/pgvector:pg16   # 확장 포함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3EAE0"/>
                </a:solidFill>
                <a:latin typeface="Consolas"/>
              </a:rPr>
              <a:t>      readinessProbe: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4A78C"/>
                </a:solidFill>
                <a:latin typeface="Consolas"/>
              </a:rPr>
              <a:t>        exec: {command: [pg_isready,-U,docpilot]}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9FD8CB"/>
                </a:solidFill>
                <a:latin typeface="Consolas"/>
              </a:rPr>
              <a:t>  volumeClaimTemplates: ...  # pgdata 1Gi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481328"/>
            <a:ext cx="4617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컨테이너 env + 적용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737360"/>
            <a:ext cx="4617720" cy="2286000"/>
          </a:xfrm>
          <a:prstGeom prst="roundRect">
            <a:avLst>
              <a:gd name="adj" fmla="val 4000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591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71231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2194560"/>
            <a:ext cx="4160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env: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40">
                <a:solidFill>
                  <a:srgbClr val="F4A78C"/>
                </a:solidFill>
                <a:latin typeface="Consolas"/>
              </a:rPr>
              <a:t>  - {name: POSTGRES_USER,  value: docpilot}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40">
                <a:solidFill>
                  <a:srgbClr val="F4A78C"/>
                </a:solidFill>
                <a:latin typeface="Consolas"/>
              </a:rPr>
              <a:t>  - {name: POSTGRES_PASSWORD, value: docpilot}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40">
                <a:solidFill>
                  <a:srgbClr val="F4A78C"/>
                </a:solidFill>
                <a:latin typeface="Consolas"/>
              </a:rPr>
              <a:t>  - {name: POSTGRES_DB,    value: docpilot}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$ kubectl apply -f k8s/02-postgres.yaml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$ kubectl rollout status \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    statefulset/postgres -n docpilot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169663"/>
            <a:ext cx="4617720" cy="1810512"/>
          </a:xfrm>
          <a:prstGeom prst="roundRect">
            <a:avLst>
              <a:gd name="adj" fmla="val 4545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0" y="4169663"/>
            <a:ext cx="128016" cy="1810512"/>
          </a:xfrm>
          <a:prstGeom prst="roundRect">
            <a:avLst>
              <a:gd name="adj" fmla="val 35714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4279392"/>
            <a:ext cx="4160520" cy="1591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벡터DB를 pgvector로 통합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840" b="1">
                <a:solidFill>
                  <a:srgbClr val="3A302A"/>
                </a:solidFill>
                <a:latin typeface="Consolas"/>
              </a:rPr>
              <a:t>pgvector/pgvector:pg16</a:t>
            </a:r>
            <a:r>
              <a:rPr sz="900" b="0">
                <a:solidFill>
                  <a:srgbClr val="6B5D52"/>
                </a:solidFill>
                <a:latin typeface="Malgun Gothic"/>
              </a:rPr>
              <a:t> 이미지로 벡터 확장을 DB에 내장. 최초 </a:t>
            </a:r>
            <a:r>
              <a:rPr sz="840" b="1">
                <a:solidFill>
                  <a:srgbClr val="3A302A"/>
                </a:solidFill>
                <a:latin typeface="Consolas"/>
              </a:rPr>
              <a:t>CREATE EXTENSION vector;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900" b="1">
                <a:solidFill>
                  <a:srgbClr val="3A302A"/>
                </a:solidFill>
                <a:latin typeface="Malgun Gothic"/>
              </a:rPr>
              <a:t>확인: postgres-0이 Running + READY 1/1.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880" b="0">
                <a:solidFill>
                  <a:srgbClr val="6B5D52"/>
                </a:solidFill>
                <a:latin typeface="Malgun Gothic"/>
              </a:rPr>
              <a:t>대안: Chroma를 chromadb/chroma로 별도 Deployment+Service (트러블슈팅).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2 · WEB DEPLOYMENT · HPA · INGRESS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2부 · web Deployment · HPA · Ingress (7~8단계)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12 · docpilot 피날레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09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k8s/03-web.yaml — probe + resources + env 주입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37360"/>
            <a:ext cx="5989320" cy="4315968"/>
          </a:xfrm>
          <a:prstGeom prst="roundRect">
            <a:avLst>
              <a:gd name="adj" fmla="val 2118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194560"/>
            <a:ext cx="553212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6D186"/>
                </a:solidFill>
                <a:latin typeface="Consolas"/>
              </a:rPr>
              <a:t>kind: Deployment   # name: docpilot-web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3EAE0"/>
                </a:solidFill>
                <a:latin typeface="Consolas"/>
              </a:rPr>
              <a:t>spec: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4A78C"/>
                </a:solidFill>
                <a:latin typeface="Consolas"/>
              </a:rPr>
              <a:t>  replicas: 2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3EAE0"/>
                </a:solidFill>
                <a:latin typeface="Consolas"/>
              </a:rPr>
              <a:t>  template: ... containers: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4A78C"/>
                </a:solidFill>
                <a:latin typeface="Consolas"/>
              </a:rPr>
              <a:t>    - name: web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4A78C"/>
                </a:solidFill>
                <a:latin typeface="Consolas"/>
              </a:rPr>
              <a:t>      image: docpilot:1.0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4A78C"/>
                </a:solidFill>
                <a:latin typeface="Consolas"/>
              </a:rPr>
              <a:t>      imagePullPolicy: IfNotPresent   # 로컬 이미지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3EAE0"/>
                </a:solidFill>
                <a:latin typeface="Consolas"/>
              </a:rPr>
              <a:t>      envFrom: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4A78C"/>
                </a:solidFill>
                <a:latin typeface="Consolas"/>
              </a:rPr>
              <a:t>        - configMapRef: {name: docpilot-config}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9FD8CB"/>
                </a:solidFill>
                <a:latin typeface="Consolas"/>
              </a:rPr>
              <a:t>      env:                # 비밀은 Secret에서만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4A78C"/>
                </a:solidFill>
                <a:latin typeface="Consolas"/>
              </a:rPr>
              <a:t>        - name: OPENAI_API_KEY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4A78C"/>
                </a:solidFill>
                <a:latin typeface="Consolas"/>
              </a:rPr>
              <a:t>          valueFrom: {secretKeyRef: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4A78C"/>
                </a:solidFill>
                <a:latin typeface="Consolas"/>
              </a:rPr>
              <a:t>            {name: docpilot-secrets,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4A78C"/>
                </a:solidFill>
                <a:latin typeface="Consolas"/>
              </a:rPr>
              <a:t>             key: OPENAI_API_KEY}}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3EAE0"/>
                </a:solidFill>
                <a:latin typeface="Consolas"/>
              </a:rPr>
              <a:t>      resources: {requests:{cpu:100m,memory:256Mi},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3EAE0"/>
                </a:solidFill>
                <a:latin typeface="Consolas"/>
              </a:rPr>
              <a:t>                  limits:{cpu:500m,memory:512Mi}}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9FD8CB"/>
                </a:solidFill>
                <a:latin typeface="Consolas"/>
              </a:rPr>
              <a:t>      readinessProbe/livenessProbe: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sz="800">
                <a:solidFill>
                  <a:srgbClr val="F4A78C"/>
                </a:solidFill>
                <a:latin typeface="Consolas"/>
              </a:rPr>
              <a:t>        httpGet: {path: /health, port: 8000}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481328"/>
            <a:ext cx="4617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8단계. HPA + Ingress (운영형)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737360"/>
            <a:ext cx="4617720" cy="2926080"/>
          </a:xfrm>
          <a:prstGeom prst="roundRect">
            <a:avLst>
              <a:gd name="adj" fmla="val 3125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591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71231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2194560"/>
            <a:ext cx="4160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9FD8CB"/>
                </a:solidFill>
                <a:latin typeface="Consolas"/>
              </a:rPr>
              <a:t># k8s/04-hpa.yaml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F6D186"/>
                </a:solidFill>
                <a:latin typeface="Consolas"/>
              </a:rPr>
              <a:t>kind: HorizontalPodAutoscaler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F3EAE0"/>
                </a:solidFill>
                <a:latin typeface="Consolas"/>
              </a:rPr>
              <a:t>spec: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F4A78C"/>
                </a:solidFill>
                <a:latin typeface="Consolas"/>
              </a:rPr>
              <a:t>  scaleTargetRef: {kind: Deployment,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F4A78C"/>
                </a:solidFill>
                <a:latin typeface="Consolas"/>
              </a:rPr>
              <a:t>                   name: docpilot-web}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F4A78C"/>
                </a:solidFill>
                <a:latin typeface="Consolas"/>
              </a:rPr>
              <a:t>  minReplicas: 2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F4A78C"/>
                </a:solidFill>
                <a:latin typeface="Consolas"/>
              </a:rPr>
              <a:t>  maxReplicas: 6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F4A78C"/>
                </a:solidFill>
                <a:latin typeface="Consolas"/>
              </a:rPr>
              <a:t>  metrics: [cpu Utilization 70%]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9FD8CB"/>
                </a:solidFill>
                <a:latin typeface="Consolas"/>
              </a:rPr>
              <a:t># k8s/05-ingress.yaml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F6D186"/>
                </a:solidFill>
                <a:latin typeface="Consolas"/>
              </a:rPr>
              <a:t>kind: Ingress   # host: docpilot.local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30">
                <a:solidFill>
                  <a:srgbClr val="F3EAE0"/>
                </a:solidFill>
                <a:latin typeface="Consolas"/>
              </a:rPr>
              <a:t>  → service docpilot-web : port 80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809744"/>
            <a:ext cx="4617720" cy="1170432"/>
          </a:xfrm>
          <a:prstGeom prst="roundRect">
            <a:avLst>
              <a:gd name="adj" fmla="val 7031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0" y="4809744"/>
            <a:ext cx="128016" cy="1170432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4901184"/>
            <a:ext cx="416052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확인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880" b="0">
                <a:solidFill>
                  <a:srgbClr val="6B5D52"/>
                </a:solidFill>
                <a:latin typeface="Malgun Gothic"/>
              </a:rPr>
              <a:t>web 파드 2개가 Running + READY 1/1. readiness </a:t>
            </a:r>
            <a:r>
              <a:rPr sz="840" b="1">
                <a:solidFill>
                  <a:srgbClr val="3A302A"/>
                </a:solidFill>
                <a:latin typeface="Consolas"/>
              </a:rPr>
              <a:t>/health</a:t>
            </a:r>
            <a:r>
              <a:rPr sz="880" b="0">
                <a:solidFill>
                  <a:srgbClr val="6B5D52"/>
                </a:solidFill>
                <a:latin typeface="Malgun Gothic"/>
              </a:rPr>
              <a:t> 통과 실패 시 READY 0/1에서 로그로 원인 확인.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860" b="1">
                <a:solidFill>
                  <a:srgbClr val="3A302A"/>
                </a:solidFill>
                <a:latin typeface="Malgun Gothic"/>
              </a:rPr>
              <a:t>HPA TARGETS &lt;unknown&gt;이면 metrics-server 미설치.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3 · OBSERVABILITY · SMOKE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3부 · 관측성 · 스모크 테스트 · 점검 (9~11단계)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12 · docpilot 피날레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10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9단계. app/main.py — 구조화 로그 + /metrics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37360"/>
            <a:ext cx="5989320" cy="2798064"/>
          </a:xfrm>
          <a:prstGeom prst="roundRect">
            <a:avLst>
              <a:gd name="adj" fmla="val 3267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194560"/>
            <a:ext cx="5532120" cy="2249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9FD8CB"/>
                </a:solidFill>
                <a:latin typeface="Consolas"/>
              </a:rPr>
              <a:t>@app.middleware("http")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6D186"/>
                </a:solidFill>
                <a:latin typeface="Consolas"/>
              </a:rPr>
              <a:t>async def access_log(request, call_next):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  _metrics["requests_total"] += 1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3EAE0"/>
                </a:solidFill>
                <a:latin typeface="Consolas"/>
              </a:rPr>
              <a:t>    response = await call_next(request)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4A78C"/>
                </a:solidFill>
                <a:latin typeface="Consolas"/>
              </a:rPr>
              <a:t>    logger.info(json.dumps({          # JSON 한 줄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4A78C"/>
                </a:solidFill>
                <a:latin typeface="Consolas"/>
              </a:rPr>
              <a:t>      "path": request.url.path,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4A78C"/>
                </a:solidFill>
                <a:latin typeface="Consolas"/>
              </a:rPr>
              <a:t>      "method": request.method,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4A78C"/>
                </a:solidFill>
                <a:latin typeface="Consolas"/>
              </a:rPr>
              <a:t>      "status": response.status_code,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4A78C"/>
                </a:solidFill>
                <a:latin typeface="Consolas"/>
              </a:rPr>
              <a:t>      "duration_ms": dur_ms}))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9FD8CB"/>
                </a:solidFill>
                <a:latin typeface="Consolas"/>
              </a:rPr>
              <a:t>@app.get("/metrics")   # Prometheus 텍스트 포맷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19">
                <a:solidFill>
                  <a:srgbClr val="F6D186"/>
                </a:solidFill>
                <a:latin typeface="Consolas"/>
              </a:rPr>
              <a:t>def metrics(): return f"docpilot_requests_total ..."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681728"/>
            <a:ext cx="5989320" cy="1371600"/>
          </a:xfrm>
          <a:prstGeom prst="roundRect">
            <a:avLst>
              <a:gd name="adj" fmla="val 6666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86968" y="48463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43000" y="48463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99032" y="48463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5138928"/>
            <a:ext cx="5532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00">
                <a:solidFill>
                  <a:srgbClr val="F6D186"/>
                </a:solidFill>
                <a:latin typeface="Consolas"/>
              </a:rPr>
              <a:t>$ docker build -t docpilot:1.1 .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00">
                <a:solidFill>
                  <a:srgbClr val="F6D186"/>
                </a:solidFill>
                <a:latin typeface="Consolas"/>
              </a:rPr>
              <a:t>$ kind load docker-image docpilot:1.1 --name docpilot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00">
                <a:solidFill>
                  <a:srgbClr val="F6D186"/>
                </a:solidFill>
                <a:latin typeface="Consolas"/>
              </a:rPr>
              <a:t>$ kubectl set image deployment/docpilot-web \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800">
                <a:solidFill>
                  <a:srgbClr val="F4A78C"/>
                </a:solidFill>
                <a:latin typeface="Consolas"/>
              </a:rPr>
              <a:t>    web=docpilot:1.1 -n docpilot   # 무중단 롤아웃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481328"/>
            <a:ext cx="4617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10단계. smoke.sh — 헬스→RAG→Multi-Agent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737360"/>
            <a:ext cx="4617720" cy="2798064"/>
          </a:xfrm>
          <a:prstGeom prst="roundRect">
            <a:avLst>
              <a:gd name="adj" fmla="val 3267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591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71231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4032" y="2194560"/>
            <a:ext cx="4160520" cy="2249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19">
                <a:solidFill>
                  <a:srgbClr val="F6D186"/>
                </a:solidFill>
                <a:latin typeface="Consolas"/>
              </a:rPr>
              <a:t>$ kubectl port-forward -n docpilot \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19">
                <a:solidFill>
                  <a:srgbClr val="F6D186"/>
                </a:solidFill>
                <a:latin typeface="Consolas"/>
              </a:rPr>
              <a:t>    service/docpilot-web 8080:80 &amp;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19">
                <a:solidFill>
                  <a:srgbClr val="F4A78C"/>
                </a:solidFill>
                <a:latin typeface="Consolas"/>
              </a:rPr>
              <a:t>[1/4] /health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19">
                <a:solidFill>
                  <a:srgbClr val="F4A78C"/>
                </a:solidFill>
                <a:latin typeface="Consolas"/>
              </a:rPr>
              <a:t>[2/4] /metrics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19">
                <a:solidFill>
                  <a:srgbClr val="F4A78C"/>
                </a:solidFill>
                <a:latin typeface="Consolas"/>
              </a:rPr>
              <a:t>[3/4] /ask   (week08 RAG)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19">
                <a:solidFill>
                  <a:srgbClr val="F4A78C"/>
                </a:solidFill>
                <a:latin typeface="Consolas"/>
              </a:rPr>
              <a:t>[4/4] /report (week11 Multi-Agent)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19">
                <a:solidFill>
                  <a:srgbClr val="F6D186"/>
                </a:solidFill>
                <a:latin typeface="Consolas"/>
              </a:rPr>
              <a:t>SMOKE TEST PASSED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19">
                <a:solidFill>
                  <a:srgbClr val="9FD8CB"/>
                </a:solidFill>
                <a:latin typeface="Consolas"/>
              </a:rPr>
              <a:t># JSON 로그 관찰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19">
                <a:solidFill>
                  <a:srgbClr val="F6D186"/>
                </a:solidFill>
                <a:latin typeface="Consolas"/>
              </a:rPr>
              <a:t>$ kubectl logs -n docpilot \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19">
                <a:solidFill>
                  <a:srgbClr val="F6D186"/>
                </a:solidFill>
                <a:latin typeface="Consolas"/>
              </a:rPr>
              <a:t>    -l app=docpilot-web --tail=20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681728"/>
            <a:ext cx="4617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11단계. 배포 점검 (셀프 체크)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956048"/>
            <a:ext cx="46177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1">
                <a:solidFill>
                  <a:srgbClr val="D98E6A"/>
                </a:solidFill>
                <a:latin typeface="Malgun Gothic"/>
              </a:rPr>
              <a:t>보안  </a:t>
            </a:r>
            <a:r>
              <a:rPr sz="819" b="0">
                <a:solidFill>
                  <a:srgbClr val="3A302A"/>
                </a:solidFill>
                <a:latin typeface="Malgun Gothic"/>
              </a:rPr>
              <a:t>이미지·git에 sk- 없음, 키는 Secret만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230368"/>
            <a:ext cx="46177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1">
                <a:solidFill>
                  <a:srgbClr val="D98E6A"/>
                </a:solidFill>
                <a:latin typeface="Malgun Gothic"/>
              </a:rPr>
              <a:t>성능  </a:t>
            </a:r>
            <a:r>
              <a:rPr sz="819" b="0">
                <a:solidFill>
                  <a:srgbClr val="3A302A"/>
                </a:solidFill>
                <a:latin typeface="Malgun Gothic"/>
              </a:rPr>
              <a:t>모든 컨테이너에 requests/limits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504688"/>
            <a:ext cx="46177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1">
                <a:solidFill>
                  <a:srgbClr val="D98E6A"/>
                </a:solidFill>
                <a:latin typeface="Malgun Gothic"/>
              </a:rPr>
              <a:t>비용  </a:t>
            </a:r>
            <a:r>
              <a:rPr sz="819" b="0">
                <a:solidFill>
                  <a:srgbClr val="3A302A"/>
                </a:solidFill>
                <a:latin typeface="Malgun Gothic"/>
              </a:rPr>
              <a:t>gpt-4o-mini 고정 · tool 루프 상한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779007"/>
            <a:ext cx="46177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1">
                <a:solidFill>
                  <a:srgbClr val="D98E6A"/>
                </a:solidFill>
                <a:latin typeface="Malgun Gothic"/>
              </a:rPr>
              <a:t>폐기성  </a:t>
            </a:r>
            <a:r>
              <a:rPr sz="819" b="0">
                <a:solidFill>
                  <a:srgbClr val="3A302A"/>
                </a:solidFill>
                <a:latin typeface="Malgun Gothic"/>
              </a:rPr>
              <a:t>파드 삭제해도 자동 복구, 무중단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IMMERSIVE PROJECT · KICKOFF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몰입형 프로젝트 킥오프 (4주)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12 · docpilot 피날레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11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179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B5D52"/>
                </a:solidFill>
                <a:latin typeface="Malgun Gothic"/>
              </a:rPr>
              <a:t>12주 강의는 여기서 끝. 이제부터 </a:t>
            </a:r>
            <a:r>
              <a:rPr sz="1200" b="1">
                <a:solidFill>
                  <a:srgbClr val="3A302A"/>
                </a:solidFill>
                <a:latin typeface="Malgun Gothic"/>
              </a:rPr>
              <a:t>팀 단위로 Agentic AI 서비스를 클라우드 네이티브로 구축·배포·발표</a:t>
            </a:r>
            <a:r>
              <a:rPr sz="1200" b="1">
                <a:solidFill>
                  <a:srgbClr val="6B5D52"/>
                </a:solidFill>
                <a:latin typeface="Malgun Gothic"/>
              </a:rPr>
              <a:t>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8366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1. 팀 편성 (권장 3~4명)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176272"/>
            <a:ext cx="5532120" cy="1097280"/>
          </a:xfrm>
          <a:prstGeom prst="roundRect">
            <a:avLst>
              <a:gd name="adj" fmla="val 75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2176272"/>
            <a:ext cx="128016" cy="1097280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267712"/>
            <a:ext cx="51206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3A302A"/>
                </a:solidFill>
                <a:latin typeface="Malgun Gothic"/>
              </a:rPr>
              <a:t>역할을 미리 나눈다 — week11 Multi-Agent처럼 사람도 분담이 협업의 핵심.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백엔드/배포(K8s·CI) · AI/Agent(LLM·RAG·Multi-Agent) · 프론트/문서·발표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40156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2. 주제 선정 — docpilot을 발판(seed)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94176"/>
            <a:ext cx="5394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0B15E"/>
                </a:solidFill>
                <a:latin typeface="Malgun Gothic"/>
              </a:rPr>
              <a:t>· </a:t>
            </a:r>
            <a:r>
              <a:rPr sz="900" b="0">
                <a:solidFill>
                  <a:srgbClr val="3A302A"/>
                </a:solidFill>
                <a:latin typeface="Malgun Gothic"/>
              </a:rPr>
              <a:t>문서 QA Agent — 사내 위키 질의응답(/ask 확장)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77639"/>
            <a:ext cx="5394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0B15E"/>
                </a:solidFill>
                <a:latin typeface="Malgun Gothic"/>
              </a:rPr>
              <a:t>· </a:t>
            </a:r>
            <a:r>
              <a:rPr sz="900" b="0">
                <a:solidFill>
                  <a:srgbClr val="3A302A"/>
                </a:solidFill>
                <a:latin typeface="Malgun Gothic"/>
              </a:rPr>
              <a:t>멀티 에이전트 리서치 어시스턴트(/report 확장)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61103"/>
            <a:ext cx="5394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0B15E"/>
                </a:solidFill>
                <a:latin typeface="Malgun Gothic"/>
              </a:rPr>
              <a:t>· </a:t>
            </a:r>
            <a:r>
              <a:rPr sz="900" b="0">
                <a:solidFill>
                  <a:srgbClr val="3A302A"/>
                </a:solidFill>
                <a:latin typeface="Malgun Gothic"/>
              </a:rPr>
              <a:t>코드/데이터 분석 Agent — 업로드→분석→시각화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44567"/>
            <a:ext cx="53949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0B15E"/>
                </a:solidFill>
                <a:latin typeface="Malgun Gothic"/>
              </a:rPr>
              <a:t>· </a:t>
            </a:r>
            <a:r>
              <a:rPr sz="900" b="0">
                <a:solidFill>
                  <a:srgbClr val="3A302A"/>
                </a:solidFill>
                <a:latin typeface="Malgun Gothic"/>
              </a:rPr>
              <a:t>멀티모달 상담 봇 — 이미지·음성(week07 재사용)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82896"/>
            <a:ext cx="5532120" cy="658368"/>
          </a:xfrm>
          <a:prstGeom prst="roundRect">
            <a:avLst>
              <a:gd name="adj" fmla="val 11111"/>
            </a:avLst>
          </a:prstGeom>
          <a:solidFill>
            <a:srgbClr val="D98E6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56048"/>
            <a:ext cx="5120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1">
                <a:solidFill>
                  <a:srgbClr val="3A302A"/>
                </a:solidFill>
                <a:latin typeface="Malgun Gothic"/>
              </a:rPr>
              <a:t>필수 요소:  </a:t>
            </a:r>
            <a:r>
              <a:rPr sz="860" b="0">
                <a:solidFill>
                  <a:srgbClr val="3A302A"/>
                </a:solidFill>
                <a:latin typeface="Malgun Gothic"/>
              </a:rPr>
              <a:t>AI API 1+ · Agent(도구/Multi-Agent) 1+ · 컨테이너화+K8s(또는 클라우드) 배포 · README+데모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883664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3. docpilot → 프로젝트 발전 경로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2176272"/>
            <a:ext cx="4983480" cy="329184"/>
          </a:xfrm>
          <a:prstGeom prst="roundRect">
            <a:avLst>
              <a:gd name="adj" fmla="val 13888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2194560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3A302A"/>
                </a:solidFill>
                <a:latin typeface="Malgun Gothic"/>
              </a:rPr>
              <a:t>지금(docpilot)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2194560"/>
            <a:ext cx="2697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3A302A"/>
                </a:solidFill>
                <a:latin typeface="Malgun Gothic"/>
              </a:rPr>
              <a:t>발전 방향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2542032"/>
            <a:ext cx="4983480" cy="457200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2542032"/>
            <a:ext cx="2057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1">
                <a:solidFill>
                  <a:srgbClr val="3A302A"/>
                </a:solidFill>
                <a:latin typeface="Consolas"/>
              </a:rPr>
              <a:t>/ask RAG(w08)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2542032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6B5D52"/>
                </a:solidFill>
                <a:latin typeface="Malgun Gothic"/>
              </a:rPr>
              <a:t>도메인 문서·하이브리드 검색·재랭킹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026663"/>
            <a:ext cx="2057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1">
                <a:solidFill>
                  <a:srgbClr val="3A302A"/>
                </a:solidFill>
                <a:latin typeface="Consolas"/>
              </a:rPr>
              <a:t>/agent·MCP(w9-10)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3026663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6B5D52"/>
                </a:solidFill>
                <a:latin typeface="Malgun Gothic"/>
              </a:rPr>
              <a:t>실제 업무 도구(캘린더/이슈/파일)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3511296"/>
            <a:ext cx="4983480" cy="457200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3511296"/>
            <a:ext cx="2057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1">
                <a:solidFill>
                  <a:srgbClr val="3A302A"/>
                </a:solidFill>
                <a:latin typeface="Consolas"/>
              </a:rPr>
              <a:t>/report(w11)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3511296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6B5D52"/>
                </a:solidFill>
                <a:latin typeface="Malgun Gothic"/>
              </a:rPr>
              <a:t>reviewer/planner 확장·HITL 승인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995928"/>
            <a:ext cx="2057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1">
                <a:solidFill>
                  <a:srgbClr val="3A302A"/>
                </a:solidFill>
                <a:latin typeface="Consolas"/>
              </a:rPr>
              <a:t>K8s 배포(w12)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3995928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6B5D52"/>
                </a:solidFill>
                <a:latin typeface="Malgun Gothic"/>
              </a:rPr>
              <a:t>클라우드(EKS/GKE)·CI/CD·관측성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553712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4. 4주 일정 &amp; 5분 기획 발표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4846320"/>
            <a:ext cx="4983480" cy="292608"/>
          </a:xfrm>
          <a:prstGeom prst="roundRect">
            <a:avLst>
              <a:gd name="adj" fmla="val 15625"/>
            </a:avLst>
          </a:prstGeom>
          <a:solidFill>
            <a:srgbClr val="FF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92240" y="4846320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4846320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3A302A"/>
                </a:solidFill>
                <a:latin typeface="Malgun Gothic"/>
              </a:rPr>
              <a:t>1주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4846320"/>
            <a:ext cx="4160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3A302A"/>
                </a:solidFill>
                <a:latin typeface="Malgun Gothic"/>
              </a:rPr>
              <a:t>기획 확정·아키텍처 설계·역할 분담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92240" y="5166359"/>
            <a:ext cx="4983480" cy="292608"/>
          </a:xfrm>
          <a:prstGeom prst="roundRect">
            <a:avLst>
              <a:gd name="adj" fmla="val 15625"/>
            </a:avLst>
          </a:prstGeom>
          <a:solidFill>
            <a:srgbClr val="FF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92240" y="5166359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5166359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3A302A"/>
                </a:solidFill>
                <a:latin typeface="Malgun Gothic"/>
              </a:rPr>
              <a:t>2주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5166359"/>
            <a:ext cx="4160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3A302A"/>
                </a:solidFill>
                <a:latin typeface="Malgun Gothic"/>
              </a:rPr>
              <a:t>핵심 기능 구현(AI/Agent 파이프라인)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92240" y="5486399"/>
            <a:ext cx="4983480" cy="292608"/>
          </a:xfrm>
          <a:prstGeom prst="roundRect">
            <a:avLst>
              <a:gd name="adj" fmla="val 15625"/>
            </a:avLst>
          </a:prstGeom>
          <a:solidFill>
            <a:srgbClr val="FF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92240" y="5486399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5486399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3A302A"/>
                </a:solidFill>
                <a:latin typeface="Malgun Gothic"/>
              </a:rPr>
              <a:t>3주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69480" y="5486399"/>
            <a:ext cx="4160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3A302A"/>
                </a:solidFill>
                <a:latin typeface="Malgun Gothic"/>
              </a:rPr>
              <a:t>통합·컨테이너화·클라우드 배포·테스트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2240" y="5806439"/>
            <a:ext cx="4983480" cy="292608"/>
          </a:xfrm>
          <a:prstGeom prst="roundRect">
            <a:avLst>
              <a:gd name="adj" fmla="val 15625"/>
            </a:avLst>
          </a:prstGeom>
          <a:solidFill>
            <a:srgbClr val="FF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492240" y="5806439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5806439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3A302A"/>
                </a:solidFill>
                <a:latin typeface="Malgun Gothic"/>
              </a:rPr>
              <a:t>4주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69480" y="5806439"/>
            <a:ext cx="4160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40" b="0">
                <a:solidFill>
                  <a:srgbClr val="3A302A"/>
                </a:solidFill>
                <a:latin typeface="Malgun Gothic"/>
              </a:rPr>
              <a:t>마감·발표 준비·최종 데모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RETROSPECTIVE · TROUBLESHOOTING · FINALE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12주 회고 · 트러블슈팅 · 마무리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12 · docpilot 피날레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12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7276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98E6A"/>
                </a:solidFill>
                <a:latin typeface="Malgun Gothic"/>
              </a:rPr>
              <a:t>12주 여정 회고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38528"/>
            <a:ext cx="5532120" cy="786384"/>
          </a:xfrm>
          <a:prstGeom prst="roundRect">
            <a:avLst>
              <a:gd name="adj" fmla="val 930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1938528"/>
            <a:ext cx="128016" cy="786384"/>
          </a:xfrm>
          <a:prstGeom prst="roundRect">
            <a:avLst>
              <a:gd name="adj" fmla="val 28571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011680"/>
            <a:ext cx="5120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블록 1 (1~5주)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80" b="0">
                <a:solidFill>
                  <a:srgbClr val="6B5D52"/>
                </a:solidFill>
                <a:latin typeface="Malgun Gothic"/>
              </a:rPr>
              <a:t>로컬 웹앱 → 컨테이너 → Compose+DB → K8s → 운영형 배포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798064"/>
            <a:ext cx="5532120" cy="786384"/>
          </a:xfrm>
          <a:prstGeom prst="roundRect">
            <a:avLst>
              <a:gd name="adj" fmla="val 930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2798064"/>
            <a:ext cx="128016" cy="786384"/>
          </a:xfrm>
          <a:prstGeom prst="roundRect">
            <a:avLst>
              <a:gd name="adj" fmla="val 28571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871216"/>
            <a:ext cx="5120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블록 2 (6~8주)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80" b="0">
                <a:solidFill>
                  <a:srgbClr val="6B5D52"/>
                </a:solidFill>
                <a:latin typeface="Malgun Gothic"/>
              </a:rPr>
              <a:t>LLM 챗 → 멀티모달/HF → RAG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5532120" cy="786384"/>
          </a:xfrm>
          <a:prstGeom prst="roundRect">
            <a:avLst>
              <a:gd name="adj" fmla="val 930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3657600"/>
            <a:ext cx="128016" cy="786384"/>
          </a:xfrm>
          <a:prstGeom prst="roundRect">
            <a:avLst>
              <a:gd name="adj" fmla="val 28571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730752"/>
            <a:ext cx="5120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블록 3 (9~11주)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80" b="0">
                <a:solidFill>
                  <a:srgbClr val="6B5D52"/>
                </a:solidFill>
                <a:latin typeface="Malgun Gothic"/>
              </a:rPr>
              <a:t>단일 Agent → 도구·MCP → Multi-Agent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517136"/>
            <a:ext cx="5532120" cy="786384"/>
          </a:xfrm>
          <a:prstGeom prst="roundRect">
            <a:avLst>
              <a:gd name="adj" fmla="val 930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4517136"/>
            <a:ext cx="128016" cy="786384"/>
          </a:xfrm>
          <a:prstGeom prst="roundRect">
            <a:avLst>
              <a:gd name="adj" fmla="val 28571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590288"/>
            <a:ext cx="5120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통합 (12주)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80" b="0">
                <a:solidFill>
                  <a:srgbClr val="6B5D52"/>
                </a:solidFill>
                <a:latin typeface="Malgun Gothic"/>
              </a:rPr>
              <a:t>전체 K8s 통합 배포 + 관측성 + 프로젝트 킥오프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358384"/>
            <a:ext cx="5532120" cy="658368"/>
          </a:xfrm>
          <a:prstGeom prst="roundRect">
            <a:avLst>
              <a:gd name="adj" fmla="val 11111"/>
            </a:avLst>
          </a:prstGeom>
          <a:solidFill>
            <a:srgbClr val="E0B15E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431536"/>
            <a:ext cx="5120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 b="1">
                <a:solidFill>
                  <a:srgbClr val="3A302A"/>
                </a:solidFill>
                <a:latin typeface="Malgun Gothic"/>
              </a:rPr>
              <a:t>과제:  </a:t>
            </a:r>
            <a:r>
              <a:rPr sz="840" b="0">
                <a:solidFill>
                  <a:srgbClr val="3A302A"/>
                </a:solidFill>
                <a:latin typeface="Malgun Gothic"/>
              </a:rPr>
              <a:t>(팀)몰입형 프로젝트 기획서 · (개인)week12-배포증빙.md — get all 출력 + SMOKE TEST PASSED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157276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98E6A"/>
                </a:solidFill>
                <a:latin typeface="Malgun Gothic"/>
              </a:rPr>
              <a:t>트러블슈팅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1920240"/>
            <a:ext cx="4983480" cy="329184"/>
          </a:xfrm>
          <a:prstGeom prst="roundRect">
            <a:avLst>
              <a:gd name="adj" fmla="val 13888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1938528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A302A"/>
                </a:solidFill>
                <a:latin typeface="Malgun Gothic"/>
              </a:rPr>
              <a:t>증상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1938528"/>
            <a:ext cx="2560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A302A"/>
                </a:solidFill>
                <a:latin typeface="Malgun Gothic"/>
              </a:rPr>
              <a:t>해결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2286000"/>
            <a:ext cx="4983480" cy="457200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2286000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00" b="0">
                <a:solidFill>
                  <a:srgbClr val="3A302A"/>
                </a:solidFill>
                <a:latin typeface="Malgun Gothic"/>
              </a:rPr>
              <a:t>web CrashLoopBackOff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2286000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00" b="0">
                <a:solidFill>
                  <a:srgbClr val="3A302A"/>
                </a:solidFill>
                <a:latin typeface="Malgun Gothic"/>
              </a:rPr>
              <a:t>OPENAI_API_KEY 미주입 → Secret 재생성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2770632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00" b="0">
                <a:solidFill>
                  <a:srgbClr val="3A302A"/>
                </a:solidFill>
                <a:latin typeface="Malgun Gothic"/>
              </a:rPr>
              <a:t>파드 READY 0/1 지속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2770632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00" b="0">
                <a:solidFill>
                  <a:srgbClr val="3A302A"/>
                </a:solidFill>
                <a:latin typeface="Malgun Gothic"/>
              </a:rPr>
              <a:t>readiness /health 실패 → logs/describe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3255264"/>
            <a:ext cx="4983480" cy="457200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3255264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00" b="0">
                <a:solidFill>
                  <a:srgbClr val="3A302A"/>
                </a:solidFill>
                <a:latin typeface="Malgun Gothic"/>
              </a:rPr>
              <a:t>ImagePullBackOff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3255264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00" b="0">
                <a:solidFill>
                  <a:srgbClr val="3A302A"/>
                </a:solidFill>
                <a:latin typeface="Malgun Gothic"/>
              </a:rPr>
              <a:t>kind load + imagePullPolicy IfNotPresent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3739896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00" b="0">
                <a:solidFill>
                  <a:srgbClr val="3A302A"/>
                </a:solidFill>
                <a:latin typeface="Malgun Gothic"/>
              </a:rPr>
              <a:t>DB 연결 실패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3739896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00" b="0">
                <a:solidFill>
                  <a:srgbClr val="3A302A"/>
                </a:solidFill>
                <a:latin typeface="Malgun Gothic"/>
              </a:rPr>
              <a:t>postgres-0 Running·DATABASE_URL 일치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92240" y="4224528"/>
            <a:ext cx="4983480" cy="457200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4224528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00" b="0">
                <a:solidFill>
                  <a:srgbClr val="3A302A"/>
                </a:solidFill>
                <a:latin typeface="Malgun Gothic"/>
              </a:rPr>
              <a:t>HPA TARGETS &lt;unknown&gt;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4224528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00" b="0">
                <a:solidFill>
                  <a:srgbClr val="3A302A"/>
                </a:solidFill>
                <a:latin typeface="Malgun Gothic"/>
              </a:rPr>
              <a:t>metrics-server 설치(kind는 패치)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4709160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00" b="0">
                <a:solidFill>
                  <a:srgbClr val="3A302A"/>
                </a:solidFill>
                <a:latin typeface="Malgun Gothic"/>
              </a:rPr>
              <a:t>Ingress 접속 불가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4709160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00" b="0">
                <a:solidFill>
                  <a:srgbClr val="3A302A"/>
                </a:solidFill>
                <a:latin typeface="Malgun Gothic"/>
              </a:rPr>
              <a:t>컨트롤러 없음 → port-forward로 대체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92240" y="5212080"/>
            <a:ext cx="4983480" cy="804672"/>
          </a:xfrm>
          <a:prstGeom prst="roundRect">
            <a:avLst>
              <a:gd name="adj" fmla="val 10227"/>
            </a:avLst>
          </a:prstGeom>
          <a:solidFill>
            <a:srgbClr val="D98E6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5303520"/>
            <a:ext cx="4572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algun Gothic"/>
              </a:rPr>
              <a:t>수고했다. 1주차 Hello, DocPilot이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880" b="0">
                <a:solidFill>
                  <a:srgbClr val="FFFFFF"/>
                </a:solidFill>
                <a:latin typeface="Malgun Gothic"/>
              </a:rPr>
              <a:t>12주차 K8s 통합 배포된 Multi-Agent AI 서비스로 자랐다. 이제 4주 몰입에서 증명하자.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