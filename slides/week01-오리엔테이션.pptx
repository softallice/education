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 rot="8100000">
            <a:off x="9784080" y="1828800"/>
            <a:ext cx="822960" cy="822960"/>
          </a:xfrm>
          <a:prstGeom prst="teardrop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41732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27432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96012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98E6A"/>
                </a:solidFill>
                <a:latin typeface="Malgun Gothic"/>
              </a:rPr>
              <a:t>Week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1024128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3A302A"/>
                </a:solidFill>
                <a:latin typeface="Malgun Gothic"/>
              </a:rPr>
              <a:t>오리엔테이션과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3A302A"/>
                </a:solidFill>
                <a:latin typeface="Malgun Gothic"/>
              </a:rPr>
              <a:t>클라우드 네이티브 개론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00600"/>
            <a:ext cx="9692640" cy="10515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800600"/>
            <a:ext cx="128016" cy="1051560"/>
          </a:xfrm>
          <a:prstGeom prst="roundRect">
            <a:avLst>
              <a:gd name="adj" fmla="val 8000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37760"/>
            <a:ext cx="9144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500" b="0">
                <a:solidFill>
                  <a:srgbClr val="3A302A"/>
                </a:solidFill>
                <a:latin typeface="Malgun Gothic"/>
              </a:rPr>
              <a:t>클라우드 네이티브가 무엇인지 감을 잡고,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3A302A"/>
                </a:solidFill>
                <a:latin typeface="Malgun Gothic"/>
              </a:rPr>
              <a:t>러닝 프로젝트 </a:t>
            </a:r>
            <a:r>
              <a:rPr sz="1500" b="1">
                <a:solidFill>
                  <a:srgbClr val="D98E6A"/>
                </a:solidFill>
                <a:latin typeface="Consolas"/>
              </a:rPr>
              <a:t>docpilot</a:t>
            </a:r>
            <a:r>
              <a:rPr sz="1500" b="0">
                <a:solidFill>
                  <a:srgbClr val="3A302A"/>
                </a:solidFill>
                <a:latin typeface="Malgun Gothic"/>
              </a:rPr>
              <a:t> 의 첫 코드를 로컬에서 띄워 GitHub에 올린다.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08076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docpilot 진화:  아무것도 없음  →  FastAPI 로컬 웹앱  (GET / → "Hello, DocPilot",  GET /health → {"status":"ok"})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21408"/>
            <a:ext cx="566928" cy="566928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21408"/>
            <a:ext cx="566928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011680"/>
            <a:ext cx="40233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IaaS / PaaS / SaaS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세 모델의 책임 경계를 한 문장으로 설명한다.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21408"/>
            <a:ext cx="566928" cy="566928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21408"/>
            <a:ext cx="566928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011680"/>
            <a:ext cx="40233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온프렘 vs 클라우드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비용·운영 구조의 차이를 말할 수 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538728"/>
            <a:ext cx="566928" cy="566928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538728"/>
            <a:ext cx="566928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429000"/>
            <a:ext cx="40233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클라우드 네이티브 · 12-Factor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핵심 특성과 원칙을 예를 들어 설명한다.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538728"/>
            <a:ext cx="566928" cy="566928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38728"/>
            <a:ext cx="566928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29000"/>
            <a:ext cx="40233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모놀리스 vs 마이크로서비스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MSA가 왜 등장했는지 이유를 제시한다.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6344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6344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4956048"/>
            <a:ext cx="566928" cy="566928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956048"/>
            <a:ext cx="566928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846320"/>
            <a:ext cx="40233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FastAPI + uvicorn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가상환경을 만들고 앱을 로컬 실행한다.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6344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6344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4956048"/>
            <a:ext cx="566928" cy="566928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956048"/>
            <a:ext cx="566928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846320"/>
            <a:ext cx="40233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Git → GitHub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git init → 첫 커밋 → 푸시까지 완주한다.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CLOUD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IaaS · PaaS · SaaS 와 온프렘 vs 클라우드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책임 경계: 위로 갈수록 내 관리 ↓, 통제권 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C9A2C0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58568"/>
            <a:ext cx="1463040" cy="8686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A302A"/>
                </a:solidFill>
                <a:latin typeface="Malgun Gothic"/>
              </a:rPr>
              <a:t>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276856"/>
            <a:ext cx="3474720" cy="8321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제공자가 전부 관리 · 나는 설정/데이터만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예: Gmail · Notion · Slack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19272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29000"/>
            <a:ext cx="1463040" cy="8686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A302A"/>
                </a:solidFill>
                <a:latin typeface="Malgun Gothic"/>
              </a:rPr>
              <a:t>PaaS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447288"/>
            <a:ext cx="3474720" cy="8321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OS·런타임까지 제공자 · 나는 앱 코드/데이터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예: Heroku · Cloud Run · App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8970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4A78C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99432"/>
            <a:ext cx="1463040" cy="8686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A302A"/>
                </a:solidFill>
                <a:latin typeface="Malgun Gothic"/>
              </a:rPr>
              <a:t>IaaS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617720"/>
            <a:ext cx="3474720" cy="8321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서버·네트워크·스토리지 제공 · 나는 OS·앱·데이터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예: AWS EC2 · GCP Compute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828800"/>
            <a:ext cx="4983480" cy="420624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01168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98E6A"/>
                </a:solidFill>
                <a:latin typeface="Malgun Gothic"/>
              </a:rPr>
              <a:t>온프레미스  vs  클라우드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514600"/>
            <a:ext cx="1371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B5D52"/>
                </a:solidFill>
                <a:latin typeface="Malgun Gothic"/>
              </a:rPr>
              <a:t>구분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514600"/>
            <a:ext cx="1554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0B15E"/>
                </a:solidFill>
                <a:latin typeface="Malgun Gothic"/>
              </a:rPr>
              <a:t>온프레미스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514600"/>
            <a:ext cx="1554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9FD8CB"/>
                </a:solidFill>
                <a:latin typeface="Malgun Gothic"/>
              </a:rPr>
              <a:t>클라우드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880360"/>
            <a:ext cx="4617720" cy="713232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926080"/>
            <a:ext cx="14173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초기 비용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926080"/>
            <a:ext cx="16002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서버 구매 (CapEx)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926080"/>
            <a:ext cx="15544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없음 (OpEx, 쓴 만큼)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685032"/>
            <a:ext cx="14173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685032"/>
            <a:ext cx="16002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장비 추가 = 수주~수개월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685032"/>
            <a:ext cx="15544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수 분 내 스케일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398264"/>
            <a:ext cx="4617720" cy="713232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4443984"/>
            <a:ext cx="14173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운영 책임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443984"/>
            <a:ext cx="16002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전기·냉방·HW 전부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4443984"/>
            <a:ext cx="15544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물리 계층은 제공자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202936"/>
            <a:ext cx="14173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적합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5202936"/>
            <a:ext cx="16002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규제·초저지연·고정 부하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202936"/>
            <a:ext cx="15544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가변 부하·빠른 실험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CLOUD NATIVE · 12-FACTOR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클라우드 네이티브란 · 12-Factor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691640"/>
            <a:ext cx="128016" cy="1051560"/>
          </a:xfrm>
          <a:prstGeom prst="roundRect">
            <a:avLst>
              <a:gd name="adj" fmla="val 8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10512"/>
            <a:ext cx="102412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98E6A"/>
                </a:solidFill>
                <a:latin typeface="Malgun Gothic"/>
              </a:rPr>
              <a:t>클라우드 네이티브 </a:t>
            </a:r>
            <a:r>
              <a:rPr sz="1400" b="0">
                <a:solidFill>
                  <a:srgbClr val="3A302A"/>
                </a:solidFill>
                <a:latin typeface="Malgun Gothic"/>
              </a:rPr>
              <a:t>= 클라우드의 탄력성·자동화를 '전제로' 설계·운영하는 방식.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컨테이너로 패키징 · 선언적으로 배포 · 자동 확장/자가 치유. (CNCF: 컨테이너·마이크로서비스·불변 인프라·선언적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12-Factor App — 이번 주부터 자연스럽게 지켜 나간다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91840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64992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1 Codebase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버전 관리 = 오늘 Git 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3291840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364992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2 Dependencies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의존성 명시·격리 = requirements+venv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63256" y="3291840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3364992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3 Config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설정은 환경변수로 (3주차)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51376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24528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4 Backing services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DB는 교체 가능한 리소스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4151376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224528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5 Build/release/run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빌드·릴리스·실행 분리 (2주차)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63256" y="4151376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6136" y="4224528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6 Processes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무상태(stateless) 프로세스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10912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7 Port binding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포트로 노출 = uvicorn :8000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24528" y="5010912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5084064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8 Concurrency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프로세스 모델 수평 확장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63256" y="5010912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46136" y="5084064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9 Disposability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빠른 기동·정상 종료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870448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943600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10 Dev/prod parity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개발·운영 동일 (Docker 목적)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528" y="5870448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5943600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11 Logs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로그는 이벤트 스트림(표준출력)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63256" y="5870448"/>
            <a:ext cx="3429000" cy="74980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46136" y="5943600"/>
            <a:ext cx="3108960" cy="6126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12 Admin processes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관리 작업은 일회성 프로세스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907792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0B15E"/>
                </a:solidFill>
                <a:latin typeface="Malgun Gothic"/>
              </a:rPr>
              <a:t>● 오늘 실습에서 체감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RUNNING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러닝 프로젝트 docpilot · 12주 진화 개요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10789920" cy="109728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10512"/>
            <a:ext cx="1033272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작게 시작해서 필요할 때 쪼갠다.  </a:t>
            </a:r>
            <a:r>
              <a:rPr sz="1300" b="0">
                <a:solidFill>
                  <a:srgbClr val="3A302A"/>
                </a:solidFill>
                <a:latin typeface="Malgun Gothic"/>
              </a:rPr>
              <a:t>docpilot은 단일 서비스(모놀리스)로 시작 → 필요 시 DB·벡터DB·에이전트를 붙인다.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B15E"/>
                </a:solidFill>
                <a:latin typeface="Malgun Gothic"/>
              </a:rPr>
              <a:t>모놀리스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: 하나의 배포 단위, 커지면 통째로 묶임.   </a:t>
            </a:r>
            <a:r>
              <a:rPr sz="1200" b="1">
                <a:solidFill>
                  <a:srgbClr val="9FD8CB"/>
                </a:solidFill>
                <a:latin typeface="Malgun Gothic"/>
              </a:rPr>
              <a:t>마이크로서비스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: 기능별 독립 배포/확장 (네트워크·운영 복잡도 ↑).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18104"/>
            <a:ext cx="10058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블록 1 · 클라우드 네이티브 (1~5주)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30168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 w="15240">
            <a:solidFill>
              <a:srgbClr val="9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648456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W1 오리엔테이션·FastAPI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630168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9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15184" y="3648456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W2 Docker 컨테이너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630168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9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3648456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W3 Compose 멀티컨테이너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630168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9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3648456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W4 Kubernetes 기초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3630168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9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48456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W5 K8s 심화·배포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15384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70248"/>
            <a:ext cx="10058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블록 2 · AI 응용 (6~11주)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82312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E0B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800600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W6 LLM API 연동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4782312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E0B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15184" y="4800600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W7 멀티모달·HF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782312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E0B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4800600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W8 RAG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782312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E0B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4800600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W9 AI Agent 기초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4782312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E0B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64424" y="4800600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W10 도구연동·MCP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4782312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E0B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47504" y="4800600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W11 Multi-Agent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367528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22392"/>
            <a:ext cx="10058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블록 3 · 통합 (12주)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934456"/>
            <a:ext cx="1709928" cy="402336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5240">
            <a:solidFill>
              <a:srgbClr val="D98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" y="5952744"/>
            <a:ext cx="161848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W12 통합 배포·프로젝트 킥오프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체크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002536"/>
            <a:ext cx="365760" cy="365760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84248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47548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Python 3.12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python3 --version  → 3.12.x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70048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843784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25496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61488"/>
            <a:ext cx="47548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Git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git --version  → 2.x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11296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685032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66744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02736"/>
            <a:ext cx="47548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GitHub 계정 + gh CLI / SSH 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푸시용 인증 수단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52544"/>
            <a:ext cx="5669280" cy="713232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52628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07992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43984"/>
            <a:ext cx="47548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터미널 + 코드 에디터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bash/zsh · VS Code 권장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828800"/>
            <a:ext cx="4892040" cy="182880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84848" y="199339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40880" y="199339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96912" y="199339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2286000"/>
            <a:ext cx="443484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9FD8CB"/>
                </a:solidFill>
                <a:latin typeface="Consolas"/>
              </a:rPr>
              <a:t># 아래 두 명령이 모두 동작해야 함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6D186"/>
                </a:solidFill>
                <a:latin typeface="Consolas"/>
              </a:rPr>
              <a:t>python3 --version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9FD8CB"/>
                </a:solidFill>
                <a:latin typeface="Consolas"/>
              </a:rPr>
              <a:t>  # Python 3.12.x 가 보여야 함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6D186"/>
                </a:solidFill>
                <a:latin typeface="Consolas"/>
              </a:rPr>
              <a:t>git --version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9FD8CB"/>
                </a:solidFill>
                <a:latin typeface="Consolas"/>
              </a:rPr>
              <a:t>  # git version 2.x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886200"/>
            <a:ext cx="4892040" cy="1188720"/>
          </a:xfrm>
          <a:prstGeom prst="roundRect">
            <a:avLst>
              <a:gd name="adj" fmla="val 8000"/>
            </a:avLst>
          </a:prstGeom>
          <a:solidFill>
            <a:srgbClr val="FB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0" y="3886200"/>
            <a:ext cx="128016" cy="118872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023360"/>
            <a:ext cx="44805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하나라도 실패하면?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A302A"/>
                </a:solidFill>
                <a:latin typeface="Malgun Gothic"/>
              </a:rPr>
              <a:t>'실습 환경과 기술 스택' 문서로 돌아가 설치를 마치고 온다.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1208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지난주 산출물: 없음 — 이번 주가 시작점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HANDS-ON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단계별 따라하기 (1~9단계)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3520440" cy="54864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56231"/>
            <a:ext cx="32461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1부. 스캐폴드 · 가상환경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514600"/>
            <a:ext cx="109728" cy="82296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24328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① 작업 디렉터리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47288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447288"/>
            <a:ext cx="109728" cy="82296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57016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② python -m venv .venv 격리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79976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379976"/>
            <a:ext cx="109728" cy="822960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89704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③ fastapi·uvicorn 설치 + requirements.txt 고정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783080"/>
            <a:ext cx="3520440" cy="548640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856231"/>
            <a:ext cx="32461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2부. FastAPI 작성 ·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251460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2514600"/>
            <a:ext cx="109728" cy="822960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624328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④ main.py 작성 (GET / , /health)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447288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15968" y="3447288"/>
            <a:ext cx="109728" cy="822960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557016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⑤ uvicorn 로컬 실행 :8000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379976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5968" y="4379976"/>
            <a:ext cx="109728" cy="822960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489704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⑥ 브라우저·curl 로 확인 · /docs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6136" y="1783080"/>
            <a:ext cx="3520440" cy="54864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6" y="1856231"/>
            <a:ext cx="32461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3부. Git · GitHub 푸시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6136" y="251460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46136" y="2514600"/>
            <a:ext cx="109728" cy="82296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2624328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⑦ .gitignore 작성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6136" y="3447288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46136" y="3447288"/>
            <a:ext cx="109728" cy="82296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3557016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⑧ git init → 첫 커밋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46136" y="4379976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46136" y="4379976"/>
            <a:ext cx="109728" cy="82296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6" y="4489704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⑨ GitHub 저장소 생성 · push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44068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6968" y="5605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3000" y="5605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99032" y="5605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5897880"/>
            <a:ext cx="103327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mkdir -p ~/projects/docpilot &amp;&amp; cd ~/projects/docpilot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>python3 -m venv .venv &amp;&amp; source .venv/bin/activate      # (Win: .venv\Scripts\Activate.ps1)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pip install "fastapi==0.115.*" "uvicorn[standard]==0.32.*"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CODE · 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main.py 작성과 uvicorn 실행 (④~⑤)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6766560" cy="416052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194560"/>
            <a:ext cx="6309360" cy="3520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9FD8CB"/>
                </a:solidFill>
                <a:latin typeface="Consolas"/>
              </a:rPr>
              <a:t># main.py — docpilot week01: 첫 FastAPI 앱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6D186"/>
                </a:solidFill>
                <a:latin typeface="Consolas"/>
              </a:rPr>
              <a:t>from fastapi import FastAPI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3EAE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3EAE0"/>
                </a:solidFill>
                <a:latin typeface="Consolas"/>
              </a:rPr>
              <a:t>app = FastAPI(title="docpilot", version="0.1.0")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3EAE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4A78C"/>
                </a:solidFill>
                <a:latin typeface="Consolas"/>
              </a:rPr>
              <a:t>@app.get("/")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6D186"/>
                </a:solidFill>
                <a:latin typeface="Consolas"/>
              </a:rPr>
              <a:t>def root() -&gt; dict: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3EAE0"/>
                </a:solidFill>
                <a:latin typeface="Consolas"/>
              </a:rPr>
              <a:t>    return {"message": "Hello, DocPilot"}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3EAE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4A78C"/>
                </a:solidFill>
                <a:latin typeface="Consolas"/>
              </a:rPr>
              <a:t>@app.get("/health")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6D186"/>
                </a:solidFill>
                <a:latin typeface="Consolas"/>
              </a:rPr>
              <a:t>def health() -&gt; dict: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9FD8CB"/>
                </a:solidFill>
                <a:latin typeface="Consolas"/>
              </a:rPr>
              <a:t>    # LB·K8s가 기계적으로 확인 (liveness/readiness)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>
                <a:solidFill>
                  <a:srgbClr val="F3EAE0"/>
                </a:solidFill>
                <a:latin typeface="Consolas"/>
              </a:rPr>
              <a:t>    return {"status": "ok"}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7373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3640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244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847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2" y="2194560"/>
            <a:ext cx="3383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# 12-Factor #7 포트 바인딩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uvicorn main:app --reload \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--host 127.0.0.1 --port 8000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33756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35240" y="3337560"/>
            <a:ext cx="109728" cy="566928"/>
          </a:xfrm>
          <a:prstGeom prst="roundRect">
            <a:avLst>
              <a:gd name="adj" fmla="val 8000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392424"/>
            <a:ext cx="356616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main:app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main.py의 app 객체를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9592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35240" y="3995928"/>
            <a:ext cx="109728" cy="566928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050792"/>
            <a:ext cx="356616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--reload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저장 시 자동 재시작 (개발용)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4654296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5240" y="4654296"/>
            <a:ext cx="109728" cy="566928"/>
          </a:xfrm>
          <a:prstGeom prst="roundRect">
            <a:avLst>
              <a:gd name="adj" fmla="val 8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709160"/>
            <a:ext cx="356616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--port 8000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8000번 포트로 서비스 노출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5394960"/>
            <a:ext cx="38404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5D52"/>
                </a:solidFill>
                <a:latin typeface="Malgun Gothic"/>
              </a:rPr>
              <a:t>GET / 은 JSON을 반환한다.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API는 JSON이 기본. 순수 텍스트는 PlainTextResponse.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VERIFY · GIT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실행 확인과 GitHub 푸시 (⑥~⑨)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기대 출력 — 이렇게 나오면 성공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22199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22199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22199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514600"/>
            <a:ext cx="50292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9FD8CB"/>
                </a:solidFill>
                <a:latin typeface="Consolas"/>
              </a:rPr>
              <a:t>INFO: Uvicorn running on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>      http://127.0.0.1:8000  (CTRL+C to quit)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>INFO: Application startup complete.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5486400" cy="160020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6968" y="359359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99032" y="359359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886200"/>
            <a:ext cx="50292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curl http://127.0.0.1:8000/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F4A78C"/>
                </a:solidFill>
                <a:latin typeface="Consolas"/>
              </a:rPr>
              <a:t>  {"message":"Hello, DocPilot"}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curl http://127.0.0.1:8000/health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F4A78C"/>
                </a:solidFill>
                <a:latin typeface="Consolas"/>
              </a:rPr>
              <a:t>  {"status":"ok"}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>
                <a:solidFill>
                  <a:srgbClr val="9FD8CB"/>
                </a:solidFill>
                <a:latin typeface="Consolas"/>
              </a:rPr>
              <a:t># /docs → 자동 생성 Swagger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20640"/>
            <a:ext cx="5486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확인 후 서버 터미널에서 Ctrl+C 로 종료.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5D52"/>
                </a:solidFill>
                <a:latin typeface="Malgun Gothic"/>
              </a:rPr>
              <a:t>브라우저에서도 / , /health , /docs 를 눌러본다.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Git 시작 → GitHub 푸시  (12-Factor #1 코드베이스)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057400"/>
            <a:ext cx="4983480" cy="1874519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93408" y="222199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9440" y="222199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05472" y="222199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2514600"/>
            <a:ext cx="4526280" cy="123443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# .gitignore 에 .venv/ __pycache__/ .env ...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git init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git add 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>git status   # .venv 가 안 보여야 정상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git commit -m "feat: docpilot week01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FastAPI 스캐폴드 (/, /health)"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06908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93408" y="42336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49440" y="42336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05472" y="42336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4526280"/>
            <a:ext cx="452628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# 방법 A — gh CLI (권장)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gh auth login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gh repo create docpilot --public \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--source=. --remote=origin --push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5440680"/>
            <a:ext cx="4983480" cy="7772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92240" y="5440680"/>
            <a:ext cx="109728" cy="777240"/>
          </a:xfrm>
          <a:prstGeom prst="roundRect">
            <a:avLst>
              <a:gd name="adj" fmla="val 8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5532120"/>
            <a:ext cx="466344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1주차 산출물 = 로컬 웹앱 + GitHub 저장소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main.py · requirements.txt · .gitignore 가 올라간다.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532120" cy="365760"/>
          </a:xfrm>
          <a:prstGeom prst="roundRect">
            <a:avLst>
              <a:gd name="adj" fmla="val 80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265176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39112"/>
            <a:ext cx="265176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414016"/>
            <a:ext cx="5532120" cy="50292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32304"/>
            <a:ext cx="2606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command not found: uvicorn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32304"/>
            <a:ext cx="274320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venv 미활성 → activate 후 재설치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62656"/>
            <a:ext cx="2606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Address already in use (8000)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62656"/>
            <a:ext cx="274320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--port 8001 또는 lsof→kill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5532120" cy="50292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93008"/>
            <a:ext cx="2606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브라우저 접속 안 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493008"/>
            <a:ext cx="274320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'startup complete.' 상태인지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2606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curl (7) Failed to 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023360"/>
            <a:ext cx="274320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실행 host와 접속 host 일치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35424"/>
            <a:ext cx="5532120" cy="50292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2606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ModuleNotFoundError: 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553712"/>
            <a:ext cx="274320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which python 이 .venv 가리키는지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84064"/>
            <a:ext cx="2606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git push 인증 실패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84064"/>
            <a:ext cx="274320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gh auth login / PAT / SSH 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64592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011680"/>
            <a:ext cx="4983480" cy="178308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121408"/>
            <a:ext cx="45720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1. 필수 — 실습 1~9단계 완주 후 GitHub 푸시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2. 기능 추가 — GET /whoami 엔드포인트 추가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B5D52"/>
                </a:solidFill>
                <a:latin typeface="Consolas"/>
              </a:rPr>
              <a:t>   (name·student_id·role 반환) → commit·push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3. README — IaaS/PaaS/SaaS 한 줄 정의 +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   오늘 지킨 12-Factor 3가지와 이유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제출: LMS에 저장소 URL + 마지막 커밋 해시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3192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79392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venv 생성·활성화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279392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requirements.txt 고정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63440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GET / · /health 구현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663440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uvicorn 실행·curl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047488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.gitignore · 첫 커밋 · push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5623560"/>
            <a:ext cx="4983480" cy="685800"/>
          </a:xfrm>
          <a:prstGeom prst="roundRect">
            <a:avLst>
              <a:gd name="adj" fmla="val 8000"/>
            </a:avLst>
          </a:prstGeom>
          <a:solidFill>
            <a:srgbClr val="E0B15E"/>
          </a:solidFill>
          <a:ln>
            <a:noFill/>
          </a:ln>
          <a:effectLst>
            <a:outerShdw blurRad="90000" dist="38100" dir="5400000" rotWithShape="0">
              <a:srgbClr val="3A30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5705856"/>
            <a:ext cx="46634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다음 주 → Week 2  Docker 컨테이너 기초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docpilot을 Dockerfile로 컨테이너화한다.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