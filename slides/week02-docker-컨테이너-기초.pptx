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417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D98E6A"/>
                </a:solidFill>
                <a:latin typeface="Malgun Gothic"/>
              </a:rPr>
              <a:t>Week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>
                <a:solidFill>
                  <a:srgbClr val="3A302A"/>
                </a:solidFill>
                <a:latin typeface="Malgun Gothic"/>
              </a:rPr>
              <a:t>Docker 컨테이너 기초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00600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800600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956048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500" b="0">
                <a:solidFill>
                  <a:srgbClr val="3A302A"/>
                </a:solidFill>
                <a:latin typeface="Malgun Gothic"/>
              </a:rPr>
              <a:t>"내 컴퓨터에선 되는데"를 끝낸다.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6B5D52"/>
                </a:solidFill>
                <a:latin typeface="Malgun Gothic"/>
              </a:rPr>
              <a:t>docpilot을 컨테이너 이미지로 만들어 어디서든 똑같이 실행한다.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로컬 웹앱  →  컨테이너 이미지</a:t>
            </a:r>
            <a:r>
              <a:rPr sz="1200" b="0">
                <a:solidFill>
                  <a:srgbClr val="6B5D52"/>
                </a:solidFill>
                <a:latin typeface="Malgun Gothic"/>
              </a:rPr>
              <a:t>  (Dockerfile 작성 → build → run → 레지스트리 push)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02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62556"/>
            <a:ext cx="566928" cy="566928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625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193852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컨테이너 vs VM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격리·부팅·크기 차이를 아키텍처 수준에서 설명한다.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62556"/>
            <a:ext cx="566928" cy="566928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625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193852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이미지 · 레이어 · 레지스트리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셋의 관계를 그림/표로 구분해 설명한다.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579876"/>
            <a:ext cx="566928" cy="566928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5798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9928" y="335584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Dockerfile 작성 · 빌드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docpilot용 Dockerfile을 작성하고 이미지를 빌드한다.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579876"/>
            <a:ext cx="566928" cy="566928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798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335584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docker run -p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컨테이너를 실행하고 포트를 매핑한다(0.0.0.0).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6344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6344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4997196"/>
            <a:ext cx="566928" cy="566928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9971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9928" y="477316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logs · exec 관찰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docker logs / docker exec로 내부를 관찰한다.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6344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6344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4997196"/>
            <a:ext cx="566928" cy="566928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49971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77316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3A302A"/>
                </a:solidFill>
                <a:latin typeface="Malgun Gothic"/>
              </a:rPr>
              <a:t>레지스트리 푸시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이미지를 태깅해 Docker Hub 또는 GHCR에 푸시한다.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 · CONTAINER VS 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컨테이너 vs 가상 머신(VM)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02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격리 방식이 근본적으로 다르다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760720" cy="411480"/>
          </a:xfrm>
          <a:prstGeom prst="roundRect">
            <a:avLst>
              <a:gd name="adj" fmla="val 1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093976"/>
            <a:ext cx="12801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2093976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가상 머신(VM)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093976"/>
            <a:ext cx="2057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컨테이너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487168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2487168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격리 단위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2487168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HW 가상화 · 게스트 OS 통째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487168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커널 공유 · 프로세스 격리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2999232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2999232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수십 초 ~ 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2999232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수백 ms ~ 수 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11296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511296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511296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GB 단위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3511296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MB 단위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023360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오버헤드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40233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하이퍼바이저 + 게스트 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023360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거의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35424"/>
            <a:ext cx="5760720" cy="457200"/>
          </a:xfrm>
          <a:prstGeom prst="roundRect">
            <a:avLst>
              <a:gd name="adj" fmla="val 1000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535424"/>
            <a:ext cx="1280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담는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12848" y="4535424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6B5D52"/>
                </a:solidFill>
                <a:latin typeface="Malgun Gothic"/>
              </a:rPr>
              <a:t>OS + 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4535424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앱 + 실행에 필요한 것만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66420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스택 구조 한눈에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2057400"/>
            <a:ext cx="4754880" cy="2148840"/>
          </a:xfrm>
          <a:prstGeom prst="roundRect">
            <a:avLst>
              <a:gd name="adj" fmla="val 425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22007" y="222199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78040" y="222199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34071" y="222199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2514600"/>
            <a:ext cx="4297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[ VM ]              [ Container 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App A  App B        App A  App B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Guest OS  Guest OS  (OS 없음)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--- Hypervisor ---  --- Docker ---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---- Host OS -----  ---- Host OS --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---- Hardware ----  ---- Hardware -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20840" y="4526280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20840" y="4526280"/>
            <a:ext cx="128016" cy="141732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4663440"/>
            <a:ext cx="43434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핵심  </a:t>
            </a:r>
            <a:r>
              <a:rPr sz="1300" b="0">
                <a:solidFill>
                  <a:srgbClr val="3A302A"/>
                </a:solidFill>
                <a:latin typeface="Malgun Gothic"/>
              </a:rPr>
              <a:t>게스트 OS가 없어 가볍고 빠르다.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"동일한 실행 환경을 통째로 패키징"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→ 12-Factor의 Dev/prod parity를 실현한다.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 · IMAGE · LAYER ·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이미지 · 레이어 · 레지스트리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02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783080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11095"/>
            <a:ext cx="4709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이미지 (Image)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실행에 필요한 파일시스템 스냅샷 + 메타데이터. 컨테이너를 찍어내는 '틀'.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11095"/>
            <a:ext cx="4709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컨테이너 (Container)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이미지를 실행한 인스턴스. 하나의 이미지로 여러 컨테이너를 띄운다.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0896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108960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36976"/>
            <a:ext cx="4709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레이어 (Layer)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Dockerfile 명령마다 쌓이는 읽기 전용 레이어 스택. 캐시·공유 → 빠르고 효율적.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08960"/>
            <a:ext cx="5257800" cy="1170432"/>
          </a:xfrm>
          <a:prstGeom prst="roundRect">
            <a:avLst>
              <a:gd name="adj" fmla="val 703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108960"/>
            <a:ext cx="128016" cy="1170432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236976"/>
            <a:ext cx="4709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레지스트리 (Registry)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이미지를 저장·배포하는 원격 저장소. Docker Hub · GHCR · ECR/GCR.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72000"/>
            <a:ext cx="10789920" cy="1280160"/>
          </a:xfrm>
          <a:prstGeom prst="roundRect">
            <a:avLst>
              <a:gd name="adj" fmla="val 642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572000"/>
            <a:ext cx="128016" cy="1280160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4700016"/>
            <a:ext cx="1024128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레이어 캐시 규칙  </a:t>
            </a:r>
            <a:r>
              <a:rPr sz="1350" b="0">
                <a:solidFill>
                  <a:srgbClr val="3A302A"/>
                </a:solidFill>
                <a:latin typeface="Malgun Gothic"/>
              </a:rPr>
              <a:t>자주 안 바뀌는 것 → 자주 바뀌는 것 순으로 작성해야 캐시가 잘 먹는다.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그래서 의존성 설치(</a:t>
            </a:r>
            <a:r>
              <a:rPr sz="1200" b="1">
                <a:solidFill>
                  <a:srgbClr val="D98E6A"/>
                </a:solidFill>
                <a:latin typeface="Consolas"/>
              </a:rPr>
              <a:t>COPY requirements.txt</a:t>
            </a:r>
            <a:r>
              <a:rPr sz="1200" b="0">
                <a:solidFill>
                  <a:srgbClr val="6B5D52"/>
                </a:solidFill>
                <a:latin typeface="Malgun Gothic"/>
              </a:rPr>
              <a:t>)를 소스 복사(</a:t>
            </a:r>
            <a:r>
              <a:rPr sz="1200" b="1">
                <a:solidFill>
                  <a:srgbClr val="D98E6A"/>
                </a:solidFill>
                <a:latin typeface="Consolas"/>
              </a:rPr>
              <a:t>COPY main.py</a:t>
            </a:r>
            <a:r>
              <a:rPr sz="1200" b="0">
                <a:solidFill>
                  <a:srgbClr val="6B5D52"/>
                </a:solidFill>
                <a:latin typeface="Malgun Gothic"/>
              </a:rPr>
              <a:t>)보다 '먼저' 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사전 준비 체크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02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지난주 산출물 + 도구·계정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40280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03120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지난주 산출물 docpilot 로컬 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main.py · requirements.txt · .gitignore + GitHub 저장소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44368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172968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729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35808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Docker Engine / Docker Desktop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docker --version → Docker version 27.x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77056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05656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0565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968496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Docker Hub 계정 또는 GitHub 계정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Malgun Gothic"/>
              </a:rPr>
              <a:t>레지스트리 푸시용 (GHCR 사용 시 GitHub)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09744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38344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383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01183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A302A"/>
                </a:solidFill>
                <a:latin typeface="Malgun Gothic"/>
              </a:rPr>
              <a:t>지난주 프로젝트로 이동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Consolas"/>
              </a:rPr>
              <a:t>cd ~/projects/docpilot → ls 로 파일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확인 명령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01168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22007" y="21762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78040" y="21762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34071" y="21762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2468880"/>
            <a:ext cx="4297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$ docker --version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>  Docker version 27.x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$ docker run hello-world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9FD8CB"/>
                </a:solidFill>
                <a:latin typeface="Consolas"/>
              </a:rPr>
              <a:t>  Hello from Docker!  ← 정상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$ cd ~/projects/docpilot &amp;&amp; ls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>  main.py  requirements.txt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48056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20840" y="4480560"/>
            <a:ext cx="128016" cy="137160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617720"/>
            <a:ext cx="43434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주의  </a:t>
            </a:r>
            <a:r>
              <a:rPr sz="1250" b="0">
                <a:solidFill>
                  <a:srgbClr val="3A302A"/>
                </a:solidFill>
                <a:latin typeface="Malgun Gothic"/>
              </a:rPr>
              <a:t>hello-world가 permission denied를 내면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사용자가 docker 그룹에 없는 것.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→ 트러블슈팅 표(10p) 참고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HANDS-ON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단계별 따라하기 (1~8단계)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02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56231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1부. Dockerfile 작성 · 빌드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146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0604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① .dockerignore 작성 (.venv/.git 제외)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47288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53872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② Dockerfile 작성 (FROM~CMD)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79976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7141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③ docker build -t docpilot:0.2.0 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178308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1856231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2부. 컨테이너 실행 · 관찰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25146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5968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260604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④ docker run -p 8000:8000 실행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3447288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15968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353872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⑤ -d 백그라운드 + docker logs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5968" y="4379976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15968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47141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⑥ docker exec 로 내부 진입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46136" y="178308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29016" y="1856231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3부. 태깅 · 레지스트리 푸시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6136" y="25146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46136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0456" y="2606040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⑦ tag → Docker Hub 또는 GHCR push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46136" y="3447288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46136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6" y="3538728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⑧ 로컬 삭제 후 pull 재실행 검증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46136" y="4379976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46136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0456" y="4471416"/>
            <a:ext cx="3108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◇ Dockerfile/.dockerignore 커밋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440680"/>
            <a:ext cx="10789920" cy="868680"/>
          </a:xfrm>
          <a:prstGeom prst="roundRect">
            <a:avLst>
              <a:gd name="adj" fmla="val 1052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6968" y="56052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43000" y="56052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399032" y="56052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" y="58978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build -t docpilot:0.2.0 .    $ docker run -d -p 8000:8000 docpilot:0.2.0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CODE · Dockerfile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Dockerfile 작성 (②)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02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6675120" cy="4160520"/>
          </a:xfrm>
          <a:prstGeom prst="roundRect">
            <a:avLst>
              <a:gd name="adj" fmla="val 219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194560"/>
            <a:ext cx="6217920" cy="361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9FD8CB"/>
                </a:solidFill>
                <a:latin typeface="Consolas"/>
              </a:rPr>
              <a:t># Dockerfile — docpilot week02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FROM python:3.12-slim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ENV PYTHONDONTWRITEBYTECODE=1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    PYTHONUNBUFFERED=1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WORKDIR /app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9FD8CB"/>
                </a:solidFill>
                <a:latin typeface="Consolas"/>
              </a:rPr>
              <a:t># 의존성 먼저 (레이어 캐시 최적화)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COPY requirements.txt 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RUN pip install --no-cache-dir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    -r requirements.txt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COPY main.py .          # 소스는 뒤에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EXPOSE 8000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CMD ["uvicorn", "main:app",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>
                <a:solidFill>
                  <a:srgbClr val="F6D186"/>
                </a:solidFill>
                <a:latin typeface="Consolas"/>
              </a:rPr>
              <a:t>  "--host", "0.0.0.0", "--port", "8000"]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737360"/>
            <a:ext cx="3886200" cy="658368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1737360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801368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FROM  python:3.12-slim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슬림 베이스 (풀 이미지보다 수백 MB 작다)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487168"/>
            <a:ext cx="3886200" cy="658368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2487168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551175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WORKDIR / COPY / RUN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작업 디렉터리 → 의존성 → 소스 순서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3236975"/>
            <a:ext cx="3886200" cy="658368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0" y="3236975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3300983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EXPOSE  8000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포트 노출 '선언'(실제 매핑은 run -p)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986783"/>
            <a:ext cx="3886200" cy="658368"/>
          </a:xfrm>
          <a:prstGeom prst="roundRect">
            <a:avLst>
              <a:gd name="adj" fmla="val 12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3986783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050791"/>
            <a:ext cx="3611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Consolas"/>
              </a:rPr>
              <a:t>CMD  uvicorn ...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컨테이너 시작 명령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4828032"/>
            <a:ext cx="3886200" cy="1069848"/>
          </a:xfrm>
          <a:prstGeom prst="roundRect">
            <a:avLst>
              <a:gd name="adj" fmla="val 7692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4937760"/>
            <a:ext cx="36118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왜 0.0.0.0 인가?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127.0.0.1은 컨테이너 내부만. 밖(호스트)에서 접속하려면 모든 인터페이스(0.0.0.0)에 바인딩.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BUILD · RUN ·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빌드 · 실행 · 확인 (③~⑥)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02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빌드하고 포트 매핑으로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305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305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305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423160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build -t docpilot:0.2.0 .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9FD8CB"/>
                </a:solidFill>
                <a:latin typeface="Consolas"/>
              </a:rPr>
              <a:t>  =&gt; naming to .../docpilot:0.2.0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run --name docpilot-dev \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    -p 8000:8000 docpilot:0.2.0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033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백그라운드(-d) + 로그·내부 관찰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2336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187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187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187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48056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run -d --name docpilot-dev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    -p 8000:8000 docpilot:0.2.0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ps        # STATUS: Up ...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logs docpilot-dev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exec -it docpilot-dev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    /bin/bash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64592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기대 출력 — 이렇게 나오면 성공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1965960"/>
            <a:ext cx="5029200" cy="2148840"/>
          </a:xfrm>
          <a:prstGeom prst="roundRect">
            <a:avLst>
              <a:gd name="adj" fmla="val 425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47688" y="21305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03720" y="21305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59752" y="21305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2423160"/>
            <a:ext cx="45720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9FD8CB"/>
                </a:solidFill>
                <a:latin typeface="Consolas"/>
              </a:rPr>
              <a:t>INFO: Uvicorn running 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3EAE0"/>
                </a:solidFill>
                <a:latin typeface="Consolas"/>
              </a:rPr>
              <a:t>      http://0.0.0.0:8000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curl http://127.0.0.1:8000/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3EAE0"/>
                </a:solidFill>
                <a:latin typeface="Consolas"/>
              </a:rPr>
              <a:t>{"message":"Hello, DocPilot"}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curl http://127.0.0.1:8000/health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3EAE0"/>
                </a:solidFill>
                <a:latin typeface="Consolas"/>
              </a:rPr>
              <a:t>{"status":"ok"}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251960"/>
            <a:ext cx="5029200" cy="512064"/>
          </a:xfrm>
          <a:prstGeom prst="roundRect">
            <a:avLst>
              <a:gd name="adj" fmla="val 160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4251960"/>
            <a:ext cx="109728" cy="512064"/>
          </a:xfrm>
          <a:prstGeom prst="roundRect">
            <a:avLst>
              <a:gd name="adj" fmla="val 33333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288536"/>
            <a:ext cx="4709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Consolas"/>
              </a:rPr>
              <a:t>-p 8000:8000 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호스트 : 컨테이너 포트 매핑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818888"/>
            <a:ext cx="5029200" cy="512064"/>
          </a:xfrm>
          <a:prstGeom prst="roundRect">
            <a:avLst>
              <a:gd name="adj" fmla="val 160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46520" y="4818888"/>
            <a:ext cx="109728" cy="512064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855464"/>
            <a:ext cx="4709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Consolas"/>
              </a:rPr>
              <a:t>-d 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백그라운드(디태치) 실행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5385816"/>
            <a:ext cx="5029200" cy="512064"/>
          </a:xfrm>
          <a:prstGeom prst="roundRect">
            <a:avLst>
              <a:gd name="adj" fmla="val 160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5385816"/>
            <a:ext cx="109728" cy="512064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5422392"/>
            <a:ext cx="4709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Consolas"/>
              </a:rPr>
              <a:t>logs / exec 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로그 확인 · 내부 셸 진입으로 관찰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REGISTRY PUSH · OPTIMIZE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레지스트리 푸시 · 멀티스테이지 (⑦~⑧)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02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레지스트리는 둘 중 하나만 (⑦)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305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305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305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4231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9FD8CB"/>
                </a:solidFill>
                <a:latin typeface="Consolas"/>
              </a:rPr>
              <a:t># A. Docker Hub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login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tag docpilot:0.2.0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    &lt;user&gt;/docpilot:0.2.0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push &lt;user&gt;/docpilot:0.2.0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5486400" cy="1691640"/>
          </a:xfrm>
          <a:prstGeom prst="roundRect">
            <a:avLst>
              <a:gd name="adj" fmla="val 540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6968" y="37307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3000" y="37307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99032" y="37307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02336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# B. GHCR (write:packages PAT 필요)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echo $GHCR_TOKEN | docker login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ghcr.io -u &lt;user&gt; --password-stdin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docker tag docpilot:0.2.0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ghcr.io/&lt;user&gt;/docpilot:0.2.0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docker push ghcr.io/&lt;user&gt;/docpilot:0.2.0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94960"/>
            <a:ext cx="5486400" cy="502920"/>
          </a:xfrm>
          <a:prstGeom prst="roundRect">
            <a:avLst>
              <a:gd name="adj" fmla="val 1454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5394960"/>
            <a:ext cx="109728" cy="50292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31536"/>
            <a:ext cx="5166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⑧ 검증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로컬 삭제 후 pull 재실행 → 어디서든 실행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64592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멀티스테이지로 이미지 줄이기 (과제)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1965960"/>
            <a:ext cx="5029200" cy="3291840"/>
          </a:xfrm>
          <a:prstGeom prst="roundRect">
            <a:avLst>
              <a:gd name="adj" fmla="val 277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21305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03720" y="21305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59752" y="21305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2423160"/>
            <a:ext cx="45720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# Dockerfile.slim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FROM python:3.12-slim AS builder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WORKDIR /app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COPY requirements.txt 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RUN pip install --prefix=/install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-r requirements.txt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FROM python:3.12-slim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WORKDIR /app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COPY --from=builder /install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  /usr/local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COPY main.py 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CMD ["uvicorn","main:app",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  "--host","0.0.0.0","--port","8000"]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53949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E0B15E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5431536"/>
            <a:ext cx="47091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builder에서 설치 → 최종엔 결과만 복사.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docker images로 크기 비교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02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5532120" cy="365760"/>
          </a:xfrm>
          <a:prstGeom prst="roundRect">
            <a:avLst>
              <a:gd name="adj" fmla="val 125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39112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95728"/>
            <a:ext cx="5532120" cy="502920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95728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permission denied docker.sock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95728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usermod -aG docker $USER 후 재로그인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35224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curl 접속 안 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35224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CMD host를 0.0.0.0 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5532120" cy="502920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7472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port is already allocated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474720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docker rm -f 또는 -p 8001:8000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14215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이미지가 너무 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014215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.dockerignore 확인 · slim 베이스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53712"/>
            <a:ext cx="5532120" cy="502920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5371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코드 고쳤는데 반영 안 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53712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docker build 다시 실행 (스냅샷)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93207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push denied / GHCR 403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093207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docker login · write:packages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6276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이번 주 과제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2011680"/>
            <a:ext cx="4983480" cy="1783080"/>
          </a:xfrm>
          <a:prstGeom prst="roundRect">
            <a:avLst>
              <a:gd name="adj" fmla="val 461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2139696"/>
            <a:ext cx="45720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1. 필수 — </a:t>
            </a:r>
            <a:r>
              <a:rPr sz="1150" b="0">
                <a:solidFill>
                  <a:srgbClr val="3A302A"/>
                </a:solidFill>
                <a:latin typeface="Malgun Gothic"/>
              </a:rPr>
              <a:t>실습 완주 후 Docker Hub/GHCR 푸시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Consolas"/>
              </a:rPr>
              <a:t>   Dockerfile / .dockerignore 커밋·푸시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2. 멀티스테이지 — </a:t>
            </a:r>
            <a:r>
              <a:rPr sz="1150" b="0">
                <a:solidFill>
                  <a:srgbClr val="3A302A"/>
                </a:solidFill>
                <a:latin typeface="Malgun Gothic"/>
              </a:rPr>
              <a:t>Dockerfile.slim 빌드</a:t>
            </a:r>
          </a:p>
          <a:p>
            <a:pPr algn="l">
              <a:lnSpc>
                <a:spcPct val="104000"/>
              </a:lnSpc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   두 이미지의 크기(MB)·차이를 기록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3. README 갱신 — </a:t>
            </a:r>
            <a:r>
              <a:rPr sz="1150" b="0">
                <a:solidFill>
                  <a:srgbClr val="3A302A"/>
                </a:solidFill>
                <a:latin typeface="Malgun Gothic"/>
              </a:rPr>
              <a:t>VM 차이 3줄 · 캐시 이유 2줄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136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261104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.dockerignore로 .venv/.git 제외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261104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docker build 이미지 생성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645152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docker run -p 실행·curl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645152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logs · exec 내부 관찰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029200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레지스트리 푸시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029200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pull 재실행 검증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5532120"/>
            <a:ext cx="4983480" cy="777240"/>
          </a:xfrm>
          <a:prstGeom prst="roundRect">
            <a:avLst>
              <a:gd name="adj" fmla="val 10588"/>
            </a:avLst>
          </a:prstGeom>
          <a:solidFill>
            <a:srgbClr val="E0B15E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5623560"/>
            <a:ext cx="4663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다음 주 → Week 3  Docker Compose 멀티컨테이너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docpilot(web) + PostgreSQL 16 · 네트워크·볼륨·환경변수 · /documents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