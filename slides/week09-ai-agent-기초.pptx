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298448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441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75104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8E6A"/>
                </a:solidFill>
                <a:latin typeface="Malgun Gothic"/>
              </a:rPr>
              <a:t>Week 09  ·  블록 3 AI Agent 첫 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A302A"/>
                </a:solidFill>
                <a:latin typeface="Malgun Gothic"/>
              </a:rPr>
              <a:t>응답에서 행동으로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8E6A"/>
                </a:solidFill>
                <a:latin typeface="Malgun Gothic"/>
              </a:rPr>
              <a:t>— Agent 기초 (Tool·Function Calling · ReAct)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5D52"/>
                </a:solidFill>
                <a:latin typeface="Malgun Gothic"/>
              </a:rPr>
              <a:t>도구 정의 → function calling 루프 → ReAct → docpilot /agent 엔드포인트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407408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407408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35424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350" b="0">
                <a:solidFill>
                  <a:srgbClr val="3A302A"/>
                </a:solidFill>
                <a:latin typeface="Malgun Gothic"/>
              </a:rPr>
              <a:t>답만 하던 docpilot이 스스로 도구를 골라 호출하고, 그 결과로 최종 답을 만든다.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계산기·현재시각·(week08) RAG 검색을 도구(tool)로 노출하고, LLM이 도구를 선택·호출하는 행동 루프를 raw로 구현한다.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1441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질문 → LLM(도구 필요?) → 도구 호출 → 결과 관찰 → LLM → … → 최종 답  (루프)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★ 필수 경로: 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2~3부(raw agent + /agent).  LangGraph판(4부)은 선택/도전.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94560"/>
            <a:ext cx="530352" cy="53035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Agent란 무엇인가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LLM + 추론 + 행동 루프. 단순 LLM 호출과의 차이를 설명한다.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94560"/>
            <a:ext cx="530352" cy="530352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ReAct 패턴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Thought → Action → Observation 사이클을 이해한다.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630168"/>
            <a:ext cx="530352" cy="53035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function calling 원리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도구 스키마 → tool_call → 실행 → 결과 반환을 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630168"/>
            <a:ext cx="530352" cy="530352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raw agent 루프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프레임워크 없이 파이썬으로 행동 루프를 직접 구현한다.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5065776"/>
            <a:ext cx="530352" cy="530352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RAG 검색을 도구로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week08 search를 도구로 등록하고 trace로 과정을 관찰한다.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5065776"/>
            <a:ext cx="530352" cy="530352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(선택) LangGraph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같은 agent를 create_react_agent로도 만들어 본다.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CONCEPTS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개념 (요약)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① Agent = LLM + 추론 + 행동 루프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532120" cy="1572768"/>
          </a:xfrm>
          <a:prstGeom prst="roundRect">
            <a:avLst>
              <a:gd name="adj" fmla="val 523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938528"/>
            <a:ext cx="128016" cy="157276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48256"/>
            <a:ext cx="51206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단순 LLM 호출 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한 번 묻고 한 번 답. 파라미터 안 지식만, 외부 세계에 손 못 뻗음.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Agent 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도구(tool)+루프를 더한다. "계산기가 필요하다"고 판단하면 호출하고,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그 결과를 다시 모델에 돌려 다음 행동을 결정 — 목표까지 반복.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D98E6A"/>
                </a:solidFill>
                <a:latin typeface="Malgun Gothic"/>
              </a:rPr>
              <a:t>차이: 외부 행동(계산·검색·API) · 다단계 루프 · 실시간 정보 · 과정 관찰.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③ function/tool calling — 4단계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86784"/>
            <a:ext cx="5532120" cy="2267712"/>
          </a:xfrm>
          <a:prstGeom prst="roundRect">
            <a:avLst>
              <a:gd name="adj" fmla="val 362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986784"/>
            <a:ext cx="128016" cy="2267712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96512"/>
            <a:ext cx="5120640" cy="2048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1) 스키마 전달 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각 도구의 이름·설명·파라미터(JSON Schema)를 tools로 넘긴다.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2) 모델이 선택 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텍스트 답 대신 tool_calls(함수명+JSON 인자)를 반환.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3) 우리가 실행 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모델은 실행 못 함. 우리 코드가 인자를 파싱해 진짜 함수 호출.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4) 결과 반환 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결과를 role:"tool" 메시지로 추가하고 다시 모델 호출.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핵심: 모델은 "무엇을 호출할지"만 정한다. 실행·안전은 전부 우리 몫.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27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② ReAct — Reasoning + Acting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938528"/>
            <a:ext cx="5120640" cy="2084831"/>
          </a:xfrm>
          <a:prstGeom prst="roundRect">
            <a:avLst>
              <a:gd name="adj" fmla="val 3508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6583680" y="2139696"/>
            <a:ext cx="1417320" cy="457200"/>
          </a:xfrm>
          <a:prstGeom prst="chevron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139696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Thought</a:t>
            </a:r>
          </a:p>
        </p:txBody>
      </p:sp>
      <p:sp>
        <p:nvSpPr>
          <p:cNvPr id="23" name="Chevron 22"/>
          <p:cNvSpPr/>
          <p:nvPr/>
        </p:nvSpPr>
        <p:spPr>
          <a:xfrm>
            <a:off x="8046720" y="2139696"/>
            <a:ext cx="1417320" cy="457200"/>
          </a:xfrm>
          <a:prstGeom prst="chevron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139696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Action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509760" y="2139696"/>
            <a:ext cx="1417320" cy="457200"/>
          </a:xfrm>
          <a:prstGeom prst="chevron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139696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Observation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43200"/>
            <a:ext cx="46634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Thought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먼저 문서에서 세율을 찾아야겠다.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Action  </a:t>
            </a:r>
            <a:r>
              <a:rPr sz="900" b="0">
                <a:solidFill>
                  <a:srgbClr val="6B5D52"/>
                </a:solidFill>
                <a:latin typeface="Consolas"/>
              </a:rPr>
              <a:t>rag_search(query="부가세율")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Observation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"부가세율은 10%입니다."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1">
                <a:solidFill>
                  <a:srgbClr val="D98E6A"/>
                </a:solidFill>
                <a:latin typeface="Malgun Gothic"/>
              </a:rPr>
              <a:t>→ 반복 후 Answer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세금 포함 55,000원.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169663"/>
            <a:ext cx="5120640" cy="2084831"/>
          </a:xfrm>
          <a:prstGeom prst="roundRect">
            <a:avLst>
              <a:gd name="adj" fmla="val 3947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55080" y="4169663"/>
            <a:ext cx="128016" cy="2084831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297680"/>
            <a:ext cx="4617720" cy="1847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function calling = 구조화된 ReAct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3A302A"/>
                </a:solidFill>
                <a:latin typeface="Malgun Gothic"/>
              </a:rPr>
              <a:t>모델이 자연어로 "Action: ..."를 쓰는 대신, API가 정한 </a:t>
            </a:r>
            <a:r>
              <a:rPr sz="940" b="1">
                <a:solidFill>
                  <a:srgbClr val="3A302A"/>
                </a:solidFill>
                <a:latin typeface="Consolas"/>
              </a:rPr>
              <a:t>tool_calls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 필드에 함수명+인자를 JSON으로 채워 돌려준다.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우리는 그걸 실행해 결과를 </a:t>
            </a:r>
            <a:r>
              <a:rPr sz="940" b="1">
                <a:solidFill>
                  <a:srgbClr val="3A302A"/>
                </a:solidFill>
                <a:latin typeface="Consolas"/>
              </a:rPr>
              <a:t>role:"tool"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 메시지로 다시 넣어준다.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이 원리가 week10의 가드레일로 이어진다.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사전 준비 — 부품과 실습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준비물 체크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95144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951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48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week08 RAG 서비스 (/ask · app/vectorstore.py)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from app.vectorstore import search — 그대로 도구로 감쌈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90088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227832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27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81528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문서가 인덱싱되어 있어야 함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week08 완료 필수 — 더미 fallback에 의존하지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22776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14215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Python 3.12 · OpenAI API 키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openai&gt;=1.40, fastapi, uvicorn[standard], python-dotenv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55464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93207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46903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API 키는 환경변수로만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Consolas"/>
              </a:rPr>
              <a:t>OPENAI_API_KEY / OPENAI_MODEL — 코드 하드코딩 금지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이번 주 흐름 (4부)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029968"/>
            <a:ext cx="4754880" cy="896112"/>
          </a:xfrm>
          <a:prstGeom prst="roundRect">
            <a:avLst>
              <a:gd name="adj" fmla="val 918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2029968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130552"/>
            <a:ext cx="4343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1부. 도구 정의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agent/tools.py — 계산기·현재시각·rag_search + 스키마 + 레지스트리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017520"/>
            <a:ext cx="4754880" cy="896112"/>
          </a:xfrm>
          <a:prstGeom prst="roundRect">
            <a:avLst>
              <a:gd name="adj" fmla="val 918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20840" y="3017520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118104"/>
            <a:ext cx="4343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2부. Raw agent 루프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agent/raw_agent.py — 프레임워크 없는 행동 루프(핵심)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4005072"/>
            <a:ext cx="4754880" cy="896112"/>
          </a:xfrm>
          <a:prstGeom prst="roundRect">
            <a:avLst>
              <a:gd name="adj" fmla="val 918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20840" y="4005072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4105656"/>
            <a:ext cx="4343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3부. /agent 엔드포인트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agent/api.py + app/main.py 라우터 등록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992624"/>
            <a:ext cx="4754880" cy="896112"/>
          </a:xfrm>
          <a:prstGeom prst="roundRect">
            <a:avLst>
              <a:gd name="adj" fmla="val 918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20840" y="4992624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5093208"/>
            <a:ext cx="4343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4부. (선택/도전) LangGraph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agent/graph_agent.py — create_react_agent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5998464"/>
            <a:ext cx="4754880" cy="548640"/>
          </a:xfrm>
          <a:prstGeom prst="roundRect">
            <a:avLst>
              <a:gd name="adj" fmla="val 15000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603504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연결 고리 = 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week08의 search를 도구 하나로 재사용하는 것이 이번 주의 핵심.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1 ·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도구 함수 정의 agent/tools.py (1단계)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도구는 순수 파이썬 함수 — 계산기·현재시각·RAG 검색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92224"/>
            <a:ext cx="5943600" cy="4224528"/>
          </a:xfrm>
          <a:prstGeom prst="roundRect">
            <a:avLst>
              <a:gd name="adj" fmla="val 216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49424"/>
            <a:ext cx="5486400" cy="3675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# agent/tools.py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import ast, operator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import datetime as dt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zoneinfo import ZoneInfo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# 도구 1: 안전한 계산기 (eval 대신 AST walk)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_ALLOWED = {ast.Add: operator.add,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ast.Sub: operator.sub, ast.Mult: operator.mul,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ast.Div: operator.truediv, ast.Pow: operator.pow}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def calculator(expression: str) -&gt; float: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"""산술 수식을 계산. 예: '50000 * 1.1'."""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tree = ast.parse(expression, mode="eval")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    return _eval_node(tree.body)  # 연산자만 허용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# 도구 2: 현재 시각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def current_time(timezone="Asia/Seoul") -&gt; str: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tz = ZoneInfo(timezone)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return dt.datetime.now(tz).isoformat(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timespec="seconds")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17904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도구 3: RAG 검색 — week08 재사용(핵심)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792224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1344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6948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5512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2249424"/>
            <a:ext cx="4206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# week08 search를 그대로 도구로 승격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app.vectorstore import search \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    as _rag_search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def rag_search(query: str,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               top_k: int = 3) -&gt; list[dict]: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"""docpilot 지식베이스를 검색(week08)."""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return _rag_search(query, top_k=top_k)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242816"/>
            <a:ext cx="4663440" cy="1737360"/>
          </a:xfrm>
          <a:prstGeom prst="roundRect">
            <a:avLst>
              <a:gd name="adj" fmla="val 473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80" y="4242816"/>
            <a:ext cx="128016" cy="173736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361688"/>
            <a:ext cx="4160520" cy="1499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확인 — 모델 없이 단독 실행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3A302A"/>
                </a:solidFill>
                <a:latin typeface="Consolas"/>
              </a:rPr>
              <a:t>calculator('50000 * 1.1')</a:t>
            </a:r>
            <a:r>
              <a:rPr sz="940" b="1">
                <a:solidFill>
                  <a:srgbClr val="3A302A"/>
                </a:solidFill>
                <a:latin typeface="Malgun Gothic"/>
              </a:rPr>
              <a:t> → 55000.0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반환 반드시 </a:t>
            </a:r>
            <a:r>
              <a:rPr sz="919" b="1">
                <a:solidFill>
                  <a:srgbClr val="3A302A"/>
                </a:solidFill>
                <a:latin typeface="Consolas"/>
              </a:rPr>
              <a:t>list[dict]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 (text·source·score) — week08 표준.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eval 금지, AST로 연산자만 허용 = 입력검증 기본기.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SCHEMA ·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도구 스키마와 레지스트리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스키마 = 모델에게 넘길 명세(OpenAI tools 포맷)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92224"/>
            <a:ext cx="5989320" cy="4224528"/>
          </a:xfrm>
          <a:prstGeom prst="roundRect">
            <a:avLst>
              <a:gd name="adj" fmla="val 216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49424"/>
            <a:ext cx="5532120" cy="3675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# agent/tools.py (이어서)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TOOL_SCHEMAS = [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{"type": "function", "function": {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"name": "calculator",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"description": "산술 수식을 계산한다.",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"parameters": {"type": "object",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"properties": {"expression": {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    "type": "string",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    "description": "예: '50000 * 1.1'"}},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"required": ["expression"]}}},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  # current_time, rag_search 스키마도 동일 형식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1790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레지스트리 = 이름 → 실제 함수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92224"/>
            <a:ext cx="4617720" cy="1691640"/>
          </a:xfrm>
          <a:prstGeom prst="roundRect">
            <a:avLst>
              <a:gd name="adj" fmla="val 540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249424"/>
            <a:ext cx="4160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TOOL_REGISTRY = {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"calculator": calculator,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"current_time": current_time,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"rag_search": rag_search,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630168"/>
            <a:ext cx="4617720" cy="2350008"/>
          </a:xfrm>
          <a:prstGeom prst="roundRect">
            <a:avLst>
              <a:gd name="adj" fmla="val 350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3630168"/>
            <a:ext cx="128016" cy="235000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749039"/>
            <a:ext cx="4206240" cy="2121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왜 스키마와 함수를 나눠 두나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스키마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 = 모델에게 도구를 설명하는 문서.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레지스트리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 = 실제 실행 대상.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모델은 스키마만 보고 이름·인자를 정하고, 우리는 레지스트리로 진짜 실행한다.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이 분리가 도구 추가를 쉽게 만든다 — 스키마·함수·레지스트리 3곳만 일치시키면 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STEP 2 · RAW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2부 · Raw agent 루프 raw_agent.py (2단계·핵심)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프레임워크 없이 손으로 짠 function-calling 루프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# agent/raw_agent.py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from openai import OpenAI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from agent.tools import TOOL_REGISTRY, TOOL_SCHEMAS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MAX_STEPS = 6  # 무한 루프 방지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client = OpenAI()  # OPENAI_API_KEY 자동 로딩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def run_agent(user_query, verbose=True) -&gt; dict: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messages = [{"role": "system", ...},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{"role": "user", "content": user_query}]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trace = []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for step in range(1, MAX_STEPS + 1):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resp = client.chat.completions.create(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model=MODEL, messages=messages,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tools=TOOL_SCHEMAS, tool_choice="auto")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msg = resp.choices[0].message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        if not msg.tool_calls:   # 도구 없음 = 최종답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return {"answer": msg.content,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    "trace": trace, "steps": step}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각 tool_call 실행 → role:"tool"로 반환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3703320"/>
          </a:xfrm>
          <a:prstGeom prst="roundRect">
            <a:avLst>
              <a:gd name="adj" fmla="val 2469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3154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        # assistant의 tool_calls를 대화에 추가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messages.append({"role": "assistant",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"tool_calls": [...]})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for tc in msg.tool_calls: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name = tc.function.name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args = json.loads(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    tc.function.arguments or "{}")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result = TOOL_REGISTRY[name](**args)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trace.append({"tool": name,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    "args": args, "result": result})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4A78C"/>
                </a:solidFill>
                <a:latin typeface="Consolas"/>
              </a:rPr>
              <a:t>            messages.append({"role": "tool",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    "tool_call_id": tc.id, "name": name,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    "content": json.dumps(result,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                ensure_ascii=False, default=str)})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5541264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A7BFA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5577840"/>
            <a:ext cx="4206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도구 오류도 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try/except로 잡아 모델에 알려 회복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RUN ·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2부 · 실행 확인과 추론 관찰(trace)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모듈로 실행 — 도구 호출 로그 + 최종 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5852160" cy="1280160"/>
          </a:xfrm>
          <a:prstGeom prst="roundRect">
            <a:avLst>
              <a:gd name="adj" fmla="val 714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3949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$ python -m agent.raw_agent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"지금 서울 시각과 프리미엄 요금제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>
                <a:solidFill>
                  <a:srgbClr val="F6D186"/>
                </a:solidFill>
                <a:latin typeface="Consolas"/>
              </a:rPr>
              <a:t>   3개월치 총액을 계산해줘."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101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출력(형태 예시 — 값은 달라질 수 있음)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02736"/>
            <a:ext cx="5852160" cy="2377440"/>
          </a:xfrm>
          <a:prstGeom prst="roundRect">
            <a:avLst>
              <a:gd name="adj" fmla="val 384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376732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376732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376732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059935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[step 1] Action: current_time({})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          -&gt; '2026-09-07T10:30:00+09:00'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[step 2] Action: rag_search(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    {'query': '프리미엄 요금제 가격'})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          -&gt; ['월 29,000원입니다.']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[step 3] Action: calculator(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          {'expression': '29000 * 3'}) -&gt; 87000.0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[step 4] 최종 답 생성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=== 최종 답 ===  (도구 3회, 4 스텝)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5727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관찰 포인트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901952"/>
            <a:ext cx="4754880" cy="2286000"/>
          </a:xfrm>
          <a:prstGeom prst="roundRect">
            <a:avLst>
              <a:gd name="adj" fmla="val 359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1901952"/>
            <a:ext cx="128016" cy="228600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2029968"/>
            <a:ext cx="4343400" cy="2029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모델이 스스로 순서를 정했다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시각 조회 → 문서 검색 → 계산 → 답.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이것이 ReAct의 Thought→Action→Observation 사이클이 function calling으로 구현된 모습.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trace가 곧 추론 과정의 기록이다.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4334256"/>
            <a:ext cx="4754880" cy="1645920"/>
          </a:xfrm>
          <a:prstGeom prst="roundRect">
            <a:avLst>
              <a:gd name="adj" fmla="val 4444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453128"/>
            <a:ext cx="4343400" cy="1426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안전장치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Consolas"/>
              </a:rPr>
              <a:t>MAX_STEPS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 로 도구 왕복 상한(기본 6). 초과 시 안전하게 중단.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Consolas"/>
              </a:rPr>
              <a:t>tool_choice="auto"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 — 도구를 쓸지는 모델이 결정한다.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STEP 3-4 · /agent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3부 · /agent 엔드포인트 붙이기 (3~4단계)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agent/api.py — FastAPI 라우터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5943600" cy="3200400"/>
          </a:xfrm>
          <a:prstGeom prst="roundRect">
            <a:avLst>
              <a:gd name="adj" fmla="val 285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4864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# agent/api.py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fastapi import APIRouter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pydantic import BaseModel, Field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from agent.raw_agent import run_agent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router = APIRouter(prefix="/agent",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             tags=["agent"])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class AgentRequest(BaseModel):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query: str = Field(..., min_length=1,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  max_length=2000)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@router.post("", response_model=AgentResponse)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def ask_agent(req: AgentRequest):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out = run_agent(req.query, verbose=False)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    return AgentResponse(**out)  # answer/steps/trace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727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app/main.py — 라우터 등록(2줄)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865376"/>
            <a:ext cx="4663440" cy="1691640"/>
          </a:xfrm>
          <a:prstGeom prst="roundRect">
            <a:avLst>
              <a:gd name="adj" fmla="val 540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1344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6948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551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2322576"/>
            <a:ext cx="4206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9FD8CB"/>
                </a:solidFill>
                <a:latin typeface="Consolas"/>
              </a:rPr>
              <a:t># app/main.py (기존 파일에 추가)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from agent.api import router as agent_router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9FD8CB"/>
                </a:solidFill>
                <a:latin typeface="Consolas"/>
              </a:rPr>
              <a:t># app = FastAPI(...) 아래에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app.include_router(agent_router)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7033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서버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3995928"/>
            <a:ext cx="4663440" cy="1051560"/>
          </a:xfrm>
          <a:prstGeom prst="roundRect">
            <a:avLst>
              <a:gd name="adj" fmla="val 869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13448" y="41605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69480" y="41605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25512" y="41605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4453128"/>
            <a:ext cx="42062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$ uvicorn app.main:app --reload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    --port 8000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5193792"/>
            <a:ext cx="4663440" cy="786384"/>
          </a:xfrm>
          <a:prstGeom prst="roundRect">
            <a:avLst>
              <a:gd name="adj" fmla="val 1046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12280" y="5193792"/>
            <a:ext cx="128016" cy="786384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5285232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응답 모델 = </a:t>
            </a:r>
            <a:r>
              <a:rPr sz="940" b="1">
                <a:solidFill>
                  <a:srgbClr val="3A302A"/>
                </a:solidFill>
                <a:latin typeface="Consolas"/>
              </a:rPr>
              <a:t>answer + steps + trace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trace가 API 응답에 그대로 드러난다.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CALL ·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3부 · /agent 호출과 응답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curl 로 호출 — 검색 + 계산 조합 질의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5943600" cy="1691640"/>
          </a:xfrm>
          <a:prstGeom prst="roundRect">
            <a:avLst>
              <a:gd name="adj" fmla="val 540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48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$ curl -s -X POST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  http://localhost:8000/agent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  -d '{"query": "환불 정책 알려주고,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    29000원의 10% 부가세 포함 금액도 계산해줘"}'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7588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응답(요약) — answer + trace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68496"/>
            <a:ext cx="5943600" cy="2011680"/>
          </a:xfrm>
          <a:prstGeom prst="roundRect">
            <a:avLst>
              <a:gd name="adj" fmla="val 454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133087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133087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133087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425696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{"answer": "환불 정책은 7일 이내 전액 환불...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90">
                <a:solidFill>
                  <a:srgbClr val="F4A78C"/>
                </a:solidFill>
                <a:latin typeface="Consolas"/>
              </a:rPr>
              <a:t>   31,900원입니다.",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"steps": 3,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"trace": [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90">
                <a:solidFill>
                  <a:srgbClr val="9FD8CB"/>
                </a:solidFill>
                <a:latin typeface="Consolas"/>
              </a:rPr>
              <a:t>    {"tool": "rag_search", "ok": true, ...},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90">
                <a:solidFill>
                  <a:srgbClr val="9FD8CB"/>
                </a:solidFill>
                <a:latin typeface="Consolas"/>
              </a:rPr>
              <a:t>    {"tool": "calculator",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90">
                <a:solidFill>
                  <a:srgbClr val="9FD8CB"/>
                </a:solidFill>
                <a:latin typeface="Consolas"/>
              </a:rPr>
              <a:t>     "args": {"expression": "29000 * 1.1"},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90">
                <a:solidFill>
                  <a:srgbClr val="9FD8CB"/>
                </a:solidFill>
                <a:latin typeface="Consolas"/>
              </a:rPr>
              <a:t>     "result": 31900.0, "ok": true}]}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5727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trace = 디버깅·신뢰성의 출발점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901952"/>
            <a:ext cx="4754880" cy="2194560"/>
          </a:xfrm>
          <a:prstGeom prst="roundRect">
            <a:avLst>
              <a:gd name="adj" fmla="val 375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1901952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2029968"/>
            <a:ext cx="4343400" cy="1938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어떤 도구를 어떤 인자로 호출했는지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가 API 응답에 그대로 드러난다.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모델이 스스로 rag_search → calculator 순으로 도구를 골라 답을 조립했다.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ok 플래그로 각 도구 성공/실패도 확인한다.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26110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app/main.py 가 없다면 (최소 앱)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553712"/>
            <a:ext cx="4754880" cy="1426464"/>
          </a:xfrm>
          <a:prstGeom prst="roundRect">
            <a:avLst>
              <a:gd name="adj" fmla="val 641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22007" y="4718304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78040" y="4718304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34071" y="4718304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76872" y="5010912"/>
            <a:ext cx="429768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fastapi import FastAPI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agent.api import router as agent_router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app = FastAPI(title="docpilot")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app.include_router(agent_router)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4 · OPTIONAL · LANGGRAPH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4부 · (선택/도전) LangGraph 버전 (5단계)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11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457200"/>
            <a:ext cx="2743200" cy="475488"/>
          </a:xfrm>
          <a:prstGeom prst="roundRect">
            <a:avLst>
              <a:gd name="adj" fmla="val 48076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5029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선택 / 도전 — 건너뛰어도 무방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1790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create_react_agent — 같은 agent를 프레임워크로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792224"/>
            <a:ext cx="5989320" cy="4187952"/>
          </a:xfrm>
          <a:prstGeom prst="roundRect">
            <a:avLst>
              <a:gd name="adj" fmla="val 2183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9032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249424"/>
            <a:ext cx="5532120" cy="3639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# agent/graph_agent.py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$ pip install "langgraph&gt;=0.2" \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    "langchain-openai&gt;=0.2"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from langchain_core.tools import tool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from langchain_openai import ChatOpenAI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from langgraph.prebuilt import create_react_agent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from agent import tools as t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@tool  # docstring이 곧 도구 설명이 된다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def calculator(expression: str) -&gt; float: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4A78C"/>
                </a:solidFill>
                <a:latin typeface="Consolas"/>
              </a:rPr>
              <a:t>    """산술 수식을 계산한다."""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return t.calculator(expression)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# current_time, rag_search 도 동일하게 @tool 로 감쌈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llm = ChatOpenAI(model=MODEL, temperature=0)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graph_agent = create_react_agent(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69">
                <a:solidFill>
                  <a:srgbClr val="F3EAE0"/>
                </a:solidFill>
                <a:latin typeface="Consolas"/>
              </a:rPr>
              <a:t>    llm, [calculator, current_time, rag_search])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51790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실행 — pretty_print로 흐름 관찰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792224"/>
            <a:ext cx="4617720" cy="1371600"/>
          </a:xfrm>
          <a:prstGeom prst="roundRect">
            <a:avLst>
              <a:gd name="adj" fmla="val 666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916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71231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2249424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$ python -m agent.graph_agent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  "프리미엄 요금제 6개월치 총액은?"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# Human → Ai(tool_calls) → Tool → Ai(답)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310128"/>
            <a:ext cx="4617720" cy="2670048"/>
          </a:xfrm>
          <a:prstGeom prst="roundRect">
            <a:avLst>
              <a:gd name="adj" fmla="val 30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0" y="3310128"/>
            <a:ext cx="128016" cy="26700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3429000"/>
            <a:ext cx="4206240" cy="2432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raw vs LangGraph — 원리는 동일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raw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  루프·에러·중단 조건을 전부 우리가 통제 (학습·디버깅에 최적).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LangGraph</a:t>
            </a:r>
            <a:r>
              <a:rPr sz="960" b="0">
                <a:solidFill>
                  <a:srgbClr val="6B5D52"/>
                </a:solidFill>
                <a:latin typeface="Malgun Gothic"/>
              </a:rPr>
              <a:t>  상태 관리·체크포인트·스트리밍 제공 → 복잡한 그래프(week11 Multi-Agent) 확장에 유리.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같은 "모델 호출 → 도구 실행 → 되돌리기" 사이클이 프레임워크 내부에서 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09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56816"/>
            <a:ext cx="553212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2286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975104"/>
            <a:ext cx="31546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AuthenticationError / 401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OPENAI_API_KEY 확인 후 export · .env 로딩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39212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도구 안 쓰고 지어냄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839212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system 프롬프트 강화 · 도구 description 구체화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46704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46704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KeyError: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346704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스키마 함수명 ↔ TOOL_REGISTRY 키 일치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54196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무한/과다 루프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854196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MAX_STEPS 상한 · 도구 결과 명확히 반환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61688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61688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unexpected keyword argument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361688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properties/required = 함수 시그니처 일치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69179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tool 결과 직렬화 오류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869179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json.dumps(..., default=str) 사용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76671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76671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rag_search 빈 결과/ImportError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376671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from app.vectorstore import search · week08 인덱싱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이번 주 과제 (docpilot 커밋/PR)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1956816"/>
            <a:ext cx="4983480" cy="2121408"/>
          </a:xfrm>
          <a:prstGeom prst="roundRect">
            <a:avLst>
              <a:gd name="adj" fmla="val 387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075688"/>
            <a:ext cx="4572000" cy="1883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1. </a:t>
            </a:r>
            <a:r>
              <a:rPr sz="940" b="1">
                <a:solidFill>
                  <a:srgbClr val="3A302A"/>
                </a:solidFill>
                <a:latin typeface="Malgun Gothic"/>
              </a:rPr>
              <a:t>필수 — 새 도구 1개(word_count 또는 unit_convert): 함수+스키마+레지스트리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2. </a:t>
            </a:r>
            <a:r>
              <a:rPr sz="940" b="1">
                <a:solidFill>
                  <a:srgbClr val="3A302A"/>
                </a:solidFill>
                <a:latin typeface="Malgun Gothic"/>
              </a:rPr>
              <a:t>필수 — 새 도구를 호출하는 질의로 /agent 실행, trace 로그 제출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3. 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필수 — README에 raw vs LangGraph 차이 3줄 이상 정리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4. 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선택 — MAX_STEPS=2로 낮춰 "최대 스텝 초과" 실패 질의 보고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169663"/>
            <a:ext cx="4983480" cy="512064"/>
          </a:xfrm>
          <a:prstGeom prst="roundRect">
            <a:avLst>
              <a:gd name="adj" fmla="val 14285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206240"/>
            <a:ext cx="4663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채점: 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스키마·함수·레지스트리 3곳 일치 · trace 근거 · 하드코딩 키 없음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79145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10235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60" b="0">
                <a:solidFill>
                  <a:srgbClr val="3A302A"/>
                </a:solidFill>
                <a:latin typeface="Malgun Gothic"/>
              </a:rPr>
              <a:t>tools.py 세 도구 단독 실행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510235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60" b="0">
                <a:solidFill>
                  <a:srgbClr val="3A302A"/>
                </a:solidFill>
                <a:latin typeface="Malgun Gothic"/>
              </a:rPr>
              <a:t>raw_agent 로그+최종답 출력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37667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60" b="0">
                <a:solidFill>
                  <a:srgbClr val="3A302A"/>
                </a:solidFill>
                <a:latin typeface="Malgun Gothic"/>
              </a:rPr>
              <a:t>/agent가 answer+trace 반환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37667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60" b="0">
                <a:solidFill>
                  <a:srgbClr val="3A302A"/>
                </a:solidFill>
                <a:latin typeface="Malgun Gothic"/>
              </a:rPr>
              <a:t>week08 search를 도구로 연결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5099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60" b="0">
                <a:solidFill>
                  <a:srgbClr val="3A302A"/>
                </a:solidFill>
                <a:latin typeface="Malgun Gothic"/>
              </a:rPr>
              <a:t>API 키 환경변수로만 주입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565099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60" b="0">
                <a:solidFill>
                  <a:srgbClr val="3A302A"/>
                </a:solidFill>
                <a:latin typeface="Malgun Gothic"/>
              </a:rPr>
              <a:t>새 도구 1개 추가·trace 확인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6089904"/>
            <a:ext cx="5532120" cy="475488"/>
          </a:xfrm>
          <a:prstGeom prst="roundRect">
            <a:avLst>
              <a:gd name="adj" fmla="val 15384"/>
            </a:avLst>
          </a:prstGeom>
          <a:solidFill>
            <a:srgbClr val="9FD8CB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6126480"/>
            <a:ext cx="5212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다음 주 → Week 10  도구·데이터 연동과 MCP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6089904"/>
            <a:ext cx="4983480" cy="475488"/>
          </a:xfrm>
          <a:prstGeom prst="roundRect">
            <a:avLst>
              <a:gd name="adj" fmla="val 15384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612648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3A302A"/>
                </a:solidFill>
                <a:latin typeface="Malgun Gothic"/>
              </a:rPr>
              <a:t>도구가 REST·DB·파일에 실제 연결 + 가드레일 + </a:t>
            </a:r>
            <a:r>
              <a:rPr sz="1000" b="1">
                <a:solidFill>
                  <a:srgbClr val="3A302A"/>
                </a:solidFill>
                <a:latin typeface="Malgun Gothic"/>
              </a:rPr>
              <a:t>MCP 서버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